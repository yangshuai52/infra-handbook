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e425838c0f4f6b" /><Relationship Type="http://schemas.openxmlformats.org/officeDocument/2006/relationships/extended-properties" Target="/docProps/app.xml" Id="R47b9fcaeaaeb40c6" /><Relationship Type="http://schemas.openxmlformats.org/officeDocument/2006/relationships/officeDocument" Target="/ppt/presentation.xml" Id="R0c4f2147aa3a49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503041c4e64d1e"/>
  </p:sldMasterIdLst>
  <p:notesMasterIdLst>
    <p:notesMasterId xmlns:r="http://schemas.openxmlformats.org/officeDocument/2006/relationships" r:id="R8bbf47a35c374877"/>
  </p:notesMasterIdLst>
  <p:sldIdLst>
    <p:sldId xmlns:r="http://schemas.openxmlformats.org/officeDocument/2006/relationships" id="256" r:id="Rcb6eb80a6423496b"/>
    <p:sldId xmlns:r="http://schemas.openxmlformats.org/officeDocument/2006/relationships" id="257" r:id="R28e8f3a0f6034e9e"/>
    <p:sldId xmlns:r="http://schemas.openxmlformats.org/officeDocument/2006/relationships" id="258" r:id="R1c01c56344e64db4"/>
    <p:sldId xmlns:r="http://schemas.openxmlformats.org/officeDocument/2006/relationships" id="259" r:id="R5723226d4a9a4c65"/>
    <p:sldId xmlns:r="http://schemas.openxmlformats.org/officeDocument/2006/relationships" id="260" r:id="R38aaa18dbb8f4b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6b508d8bef4001" /><Relationship Type="http://schemas.openxmlformats.org/officeDocument/2006/relationships/slideMaster" Target="/ppt/slideMasters/slideMaster1.xml" Id="Re8503041c4e64d1e" /><Relationship Type="http://schemas.openxmlformats.org/officeDocument/2006/relationships/notesMaster" Target="/ppt/notesMasters/notesMaster1.xml" Id="R8bbf47a35c374877" /><Relationship Type="http://schemas.openxmlformats.org/officeDocument/2006/relationships/presProps" Target="/ppt/presProps.xml" Id="Re5eb5a2f2e464ac3" /><Relationship Type="http://schemas.openxmlformats.org/officeDocument/2006/relationships/tableStyles" Target="/ppt/tableStyles.xml" Id="Rdd009262f5af49bf" /><Relationship Type="http://schemas.openxmlformats.org/officeDocument/2006/relationships/slide" Target="/ppt/slides/slide1.xml" Id="Rcb6eb80a6423496b" /><Relationship Type="http://schemas.openxmlformats.org/officeDocument/2006/relationships/slide" Target="/ppt/slides/slide2.xml" Id="R28e8f3a0f6034e9e" /><Relationship Type="http://schemas.openxmlformats.org/officeDocument/2006/relationships/slide" Target="/ppt/slides/slide3.xml" Id="R1c01c56344e64db4" /><Relationship Type="http://schemas.openxmlformats.org/officeDocument/2006/relationships/slide" Target="/ppt/slides/slide4.xml" Id="R5723226d4a9a4c65" /><Relationship Type="http://schemas.openxmlformats.org/officeDocument/2006/relationships/slide" Target="/ppt/slides/slide5.xml" Id="R38aaa18dbb8f4b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d792f165ea4e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897021b1714109" /><Relationship Type="http://schemas.openxmlformats.org/officeDocument/2006/relationships/notesMaster" Target="/ppt/notesMasters/notesMaster1.xml" Id="Rab0b33942d5449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b382f6da8348c0" /><Relationship Type="http://schemas.openxmlformats.org/officeDocument/2006/relationships/notesMaster" Target="/ppt/notesMasters/notesMaster1.xml" Id="R973fedc0c29547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2f27016d3f484a" /><Relationship Type="http://schemas.openxmlformats.org/officeDocument/2006/relationships/notesMaster" Target="/ppt/notesMasters/notesMaster1.xml" Id="R7ef2aed84e4340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69b1d374cf43cc" /><Relationship Type="http://schemas.openxmlformats.org/officeDocument/2006/relationships/notesMaster" Target="/ppt/notesMasters/notesMaster1.xml" Id="R7c93d5dced9248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ff9f67c19b449b" /><Relationship Type="http://schemas.openxmlformats.org/officeDocument/2006/relationships/notesMaster" Target="/ppt/notesMasters/notesMaster1.xml" Id="Re96f9cadd05e43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部门愿景及建设重点依据用户输入，其中建设重点为本页研讨建议。产品定位依据 NVIDIA 官方产品页。DGX Spark 是桌面 AI 小站，RTX Spark 是个人电脑平台，AGX Orin / Thor 是嵌入设备的平台，容量相近不代表系统职责相同。操作系统、驱动与应用需适配。芯片分组参考用户指定 PPT 第 2 页第一组产品布局，未沿用第二组智能小站曲线。310P-next 已按用户纠正为预计 1P FP4，950-lite 仍为参考输入的预计 1P，不代表公开发布规格。T2000 / T3000 与昇腾数值沿用参考材料，未独立验证。NVIDIA 稀疏计算口径和配置条件需参考具体官方规格，不能据表中数值直接推断业务速度。</a:t>
            </a:r>
          </a:p>
          <a:p xmlns:a="http://schemas.openxmlformats.org/drawingml/2006/main">
            <a:r>
              <a:t>https://www.nvidia.com/en-us/products/workstations/dgx-spark/</a:t>
            </a:r>
          </a:p>
          <a:p xmlns:a="http://schemas.openxmlformats.org/drawingml/2006/main">
            <a:r>
              <a:t>https://www.nvidia.com/en-us/products/rtx-spark/</a:t>
            </a:r>
          </a:p>
          <a:p xmlns:a="http://schemas.openxmlformats.org/drawingml/2006/main">
            <a:r>
              <a:t>https://www.nvidia.com/en-us/autonomous-machines/embedded-systems/jetson-orin/</a:t>
            </a:r>
          </a:p>
          <a:p xmlns:a="http://schemas.openxmlformats.org/drawingml/2006/main">
            <a:r>
              <a:t>https://www.nvidia.com/en-us/autonomous-machines/embedded-systems/jetson-thor/</a:t>
            </a:r>
          </a:p>
          <a:p xmlns:a="http://schemas.openxmlformats.org/drawingml/2006/main">
            <a:r>
              <a:t>参考文件：C:/Users/yangshuai/.codex/visualizations/2026/10/15/01a13e46-d735-7050-871a-da8f78f8b7c9/310p-brief/output/310P端侧规划_嵌入式与智能小站_完整对比.pptx 第2页。</a:t>
            </a:r>
          </a:p>
          <a:p xmlns:a="http://schemas.openxmlformats.org/drawingml/2006/main">
            <a:r>
              <a:t>本次修订：三方向为 AI桌面盒子、AI PC、嵌入式/具身机器人/无人车。重点方向依用户输入。下方以参考页第一组图像呈现，310P-next从9P修正为1P并调整位置。图为产品布局示意，不代表INT8与FP4可直接比较。</a:t>
            </a:r>
          </a:p>
          <a:p xmlns:a="http://schemas.openxmlformats.org/drawingml/2006/main">
            <a:r>
              <a:t>本次修订：三方向为 AI桌面盒子、AI PC、嵌入式/具身机器人/无人车。重点方向依用户输入。下方以参考页第一组图像呈现，310P-next从9P修正为1P并调整位置。图为产品布局示意，不代表INT8与FP4可直接比较。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用户给定的团队规划输入整理。具身智能的小模型拼接、端到端VLA与世界模型是本页用于讨论的演进方向，不代表已形成统一、线性的行业路线。未来从训练探索走向推理应用与落地属于规划判断。Windows适配为拟建设能力，不表示所有组件已具备Windows支持。FP4、FP8、W4A8等为下一代芯片预研项，应结合实际硬件和软件支持验证。llama.cpp、Ollama列为候选方案，实际内存占用和性能需在相同模型、量化、上下文与并发条件下评估，Ollama属于模型运行管理工具，不预设其具有普遍的低内存优势。统一内存关注来自前页所列竞品，不泛化为全部端侧硬件形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愿景及四个建设方向依据用户输入，具体做法为本页补充建议，供团队研讨，不代表已实施的管理机制或已具备的技术能力。需求交付强调里程碑、契约与质量验证。技术竞争力承接前两页的框架、模型加速、具身智能及无人车规划。协作强调职责、开发经验共享，与公共开发部和技术开发部协同。人员成长强调及时认可、发挥优势与逐步独立负责，同时提供必要支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依据用户输入设置三个待讨论议题。第二、第三项补充的追问用于促进研讨，不预设技术选型或资源投入结论。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85373289a44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45810d1fd45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531ff75ca45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899f354ea44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f2a5e14c346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9e1b237bd4d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00C5D1-A500-4074-B311-66D3634A8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CBCE79-19D4-40B5-9E96-02622043BC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EA1021-BA83-485D-AE9F-F061701BC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5E9F20-732D-49F3-A58F-F775734FE8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01E4C6-4007-454A-BD59-B4A66CCFA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7F4AE0-976D-47E8-89D3-23A38B8B8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1656C4-BC18-47C3-88E4-5898600C66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5AA3DF-3A9A-43B4-9F97-A67716D5C8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2E0368-98B6-4508-9595-3A7B9FF04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E3C9DC-F2FF-4CDD-83F1-A6E55656DC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8bddeffa1c4eb8" /><Relationship Type="http://schemas.openxmlformats.org/officeDocument/2006/relationships/slideLayout" Target="/ppt/slideLayouts/slideLayout1.xml" Id="Re2e9cbf639974547" /><Relationship Type="http://schemas.openxmlformats.org/officeDocument/2006/relationships/slideLayout" Target="/ppt/slideLayouts/slideLayout2.xml" Id="Rb17adff6b7d3468f" /><Relationship Type="http://schemas.openxmlformats.org/officeDocument/2006/relationships/slideLayout" Target="/ppt/slideLayouts/slideLayout3.xml" Id="Ref1a92c4878d433c" /><Relationship Type="http://schemas.openxmlformats.org/officeDocument/2006/relationships/slideLayout" Target="/ppt/slideLayouts/slideLayout4.xml" Id="Rce3c4d1ca9cd4301" /><Relationship Type="http://schemas.openxmlformats.org/officeDocument/2006/relationships/slideLayout" Target="/ppt/slideLayouts/slideLayout5.xml" Id="R41083bacefc14ced" /><Relationship Type="http://schemas.openxmlformats.org/officeDocument/2006/relationships/slideLayout" Target="/ppt/slideLayouts/slideLayout6.xml" Id="R6d3d2e12d0c945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e9cbf639974547"/>
    <p:sldLayoutId xmlns:r="http://schemas.openxmlformats.org/officeDocument/2006/relationships" id="2147483650" r:id="Rb17adff6b7d3468f"/>
    <p:sldLayoutId xmlns:r="http://schemas.openxmlformats.org/officeDocument/2006/relationships" id="2147483651" r:id="Ref1a92c4878d433c"/>
    <p:sldLayoutId xmlns:r="http://schemas.openxmlformats.org/officeDocument/2006/relationships" id="2147483652" r:id="Rce3c4d1ca9cd4301"/>
    <p:sldLayoutId xmlns:r="http://schemas.openxmlformats.org/officeDocument/2006/relationships" id="2147483653" r:id="R41083bacefc14ced"/>
    <p:sldLayoutId xmlns:r="http://schemas.openxmlformats.org/officeDocument/2006/relationships" id="2147483654" r:id="R6d3d2e12d0c945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c2b4d11634a0b" /><Relationship Type="http://schemas.openxmlformats.org/officeDocument/2006/relationships/notesSlide" Target="/ppt/notesSlides/notesSlide1.xml" Id="R447a5a0150f043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f2025ec51404d" /><Relationship Type="http://schemas.openxmlformats.org/officeDocument/2006/relationships/image" Target="/ppt/media/image.png" Id="R38646cd851dc45a9" /><Relationship Type="http://schemas.openxmlformats.org/officeDocument/2006/relationships/image" Target="/ppt/media/image2.png" Id="R3288f6300ed44b00" /><Relationship Type="http://schemas.openxmlformats.org/officeDocument/2006/relationships/notesSlide" Target="/ppt/notesSlides/notesSlide2.xml" Id="R0b07254a8d6c41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36d302aa54a61" /><Relationship Type="http://schemas.openxmlformats.org/officeDocument/2006/relationships/notesSlide" Target="/ppt/notesSlides/notesSlide3.xml" Id="Rfe643017930d44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9d331f2034d83" /><Relationship Type="http://schemas.openxmlformats.org/officeDocument/2006/relationships/notesSlide" Target="/ppt/notesSlides/notesSlide4.xml" Id="R4b732052f0ff44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d7fca77234475" /><Relationship Type="http://schemas.openxmlformats.org/officeDocument/2006/relationships/notesSlide" Target="/ppt/notesSlides/notesSlide5.xml" Id="R149f69eb2690499c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">
            <ns1:extLst>
              <ns1:ext uri="{FF2B5EF4-FFF2-40B4-BE49-F238E27FC236}">
                <ns2:creationId id="{9559504A-9335-422D-969B-AA7414487F43}"/>
              </ns1:ext>
            </ns1:extLst>
          </ns0:cNvPr>
          <ns0:cNvSpPr>
            <ns1:spLocks noGrp="1"/>
          </ns0:cNvSpPr>
          <ns0:nvPr/>
        </ns0:nvSpPr>
        <ns0:spPr>
          <ns1:xfrm>
            <ns1:off x="0" y="1809750"/>
            <ns1:ext cx="12192000" cy="2238375"/>
          </ns1:xfrm>
          <ns1:prstGeom prst="rect">
            <ns1:avLst/>
          </ns1:prstGeom>
          <ns1:solidFill>
            <ns1:srgbClr val="BC2026"/>
          </ns1:solidFill>
          <ns1:ln w="0">
            <ns1:noFill/>
          </ns1:ln>
        </ns0:spPr>
      </ns0:sp>
      <ns0:sp>
        <ns0:nvSpPr>
          <ns0:cNvPr id="2" name="">
            <ns1:extLst>
              <ns1:ext uri="{FF2B5EF4-FFF2-40B4-BE49-F238E27FC236}">
                <ns2:creationId id="{851EF229-8186-4D7B-9100-FDE68D34E2BE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047875"/>
            <ns1:ext cx="102870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端侧推理一体机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C4E8CDA5-BD44-41A2-96E2-7CAE32799783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933700"/>
            <ns1:ext cx="102870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团队能力建设研讨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3804153D-5D60-40DD-B509-64AEB47C1C9C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4695825"/>
            <ns1:ext cx="95250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rPr>
              <ns1:t>汇报人  杨帅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9650128-5B9B-4E0C-A34B-C22417D928E3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5143500"/>
            <ns1:ext cx="95250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rPr>
              <ns1:t>汇报时间  2026年10月23日</ns1:t>
            </ns1:r>
          </ns1:p>
        </ns0:txBody>
      </ns0:sp>
    </ns0:spTree>
    <ns0:extLst>
      <ns0:ext uri="{BB962C8B-B14F-4D97-AF65-F5344CB8AC3E}">
        <ns3:creationId val="1924151412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4" name="">
            <ns1:extLst>
              <ns1:ext uri="{FF2B5EF4-FFF2-40B4-BE49-F238E27FC236}">
                <ns2:creationId id="{DB20C888-1870-4074-80FF-DEE23172C447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723900"/>
          </ns1:xfrm>
          <ns1:prstGeom prst="rect">
            <ns1:avLst/>
          </ns1:prstGeom>
          <ns1:solidFill>
            <ns1:srgbClr val="BC2026"/>
          </ns1:solidFill>
          <ns1:ln w="0">
            <ns1:noFill/>
          </ns1:ln>
        </ns0:spPr>
      </ns0:sp>
      <ns0:sp>
        <ns0:nvSpPr>
          <ns0:cNvPr id="2" name="">
            <ns1:extLst>
              <ns1:ext uri="{FF2B5EF4-FFF2-40B4-BE49-F238E27FC236}">
                <ns2:creationId id="{8DF2255F-3C98-47B7-A8DB-1B16073EED33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52400"/>
            <ns1:ext cx="11287125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端侧一体机愿景与竞争力规划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C7DE089B-0776-4509-9658-675987A77A55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885825"/>
            <ns1:ext cx="11382375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部门愿景：构筑鲲鹏昇腾一体机竞争力，让一体机无处不在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F346A73-F278-4767-A1D4-34892D7DB863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304925"/>
            <ns1:ext cx="1138237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875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端侧一体机：让 AI 走进千家万户，赋能各行各业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EB7F99A1-1C81-46DF-AC36-682F70005FE7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828800"/>
            <ns1:ext cx="37719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AI 桌面盒子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0DBB915-D84B-4575-B249-F348281EE9A0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2276475"/>
            <ns1:ext cx="37147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DGX Spark：专用桌面 AI 节点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22B974BB-A138-475E-9B54-49D23440C257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2628900"/>
            <ns1:ext cx="3714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模型开发、Agent 与本地推理服务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7ED9DD28-5638-4BB5-ABB9-B1751A47C860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2971800"/>
            <ns1:ext cx="37338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rPr>
              <ns1:t>重点方向：模型适配、高吞吐、易部署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AF34041D-E8B6-4555-A662-63C6FD149D94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1828800"/>
            <ns1:ext cx="37719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AI PC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856529F-A4BF-462E-829D-A2519E18C4D7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2276475"/>
            <ns1:ext cx="37147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RTX Spark：日常个人电脑平台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C7E1CCB9-863D-4D0A-8736-4689D3715B2F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2628900"/>
            <ns1:ext cx="3714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办公、创作、图形与本地 AI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F017764B-AEBD-46C9-8EE4-7D0E5C87262A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2971800"/>
            <ns1:ext cx="37338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rPr>
              <ns1:t>重点方向：Windows 生态支持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BF7389D3-2933-40DA-BCFC-E981D63E925C}"/>
              </ns1:ext>
            </ns1:extLst>
          </ns0:cNvPr>
          <ns0:cNvSpPr>
            <ns1:spLocks noGrp="1"/>
          </ns0:cNvSpPr>
          <ns0:nvPr/>
        </ns0:nvSpPr>
        <ns0:spPr>
          <ns1:xfrm>
            <ns1:off x="8077200" y="1828800"/>
            <ns1:ext cx="37719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8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嵌入式、具身机器人、无人车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65D1749B-2E5C-4DD4-A03C-D81DE82BFAE6}"/>
              </ns1:ext>
            </ns1:extLst>
          </ns0:cNvPr>
          <ns0:cNvSpPr>
            <ns1:spLocks noGrp="1"/>
          </ns0:cNvSpPr>
          <ns0:nvPr/>
        </ns0:nvSpPr>
        <ns0:spPr>
          <ns1:xfrm>
            <ns1:off x="8077200" y="2276475"/>
            <ns1:ext cx="37147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AGX Orin / Thor：设备内嵌平台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CAB7CAD6-1926-40B7-ADA3-D6F9D45B8E96}"/>
              </ns1:ext>
            </ns1:extLst>
          </ns0:cNvPr>
          <ns0:cNvSpPr>
            <ns1:spLocks noGrp="1"/>
          </ns0:cNvSpPr>
          <ns0:nvPr/>
        </ns0:nvSpPr>
        <ns0:spPr>
          <ns1:xfrm>
            <ns1:off x="8077200" y="2628900"/>
            <ns1:ext cx="3714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Orin 承接现有部署，Thor 面向复杂多模态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B072D1D4-6B10-4CF9-8592-E970AEAE63E5}"/>
              </ns1:ext>
            </ns1:extLst>
          </ns0:cNvPr>
          <ns0:cNvSpPr>
            <ns1:spLocks noGrp="1"/>
          </ns0:cNvSpPr>
          <ns0:nvPr/>
        </ns0:nvSpPr>
        <ns0:spPr>
          <ns1:xfrm>
            <ns1:off x="8077200" y="2971800"/>
            <ns1:ext cx="37338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rPr>
              <ns1:t>重点方向：低功耗、低时延、低资源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9CBA268F-8823-4D7D-A8E4-34B38DF20245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3448050"/>
            <ns1:ext cx="8572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0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0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算力发展趋势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63044B2E-9FFC-4421-B3F8-D39005F80FDB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6505575"/>
            <ns1:ext cx="333375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350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rPr>
              <ns1:t>02</ns1:t>
            </ns1:r>
          </ns1:p>
        </ns0:txBody>
      </ns0:sp>
      <ns0:pic>
        <ns0:nvPicPr>
          <ns0:cNvPr id="25" name="">
            <ns1:extLst>
              <ns1:ext uri="{FF2B5EF4-FFF2-40B4-BE49-F238E27FC236}">
                <ns2:creationId id="{9FE2578B-B52C-4493-BE97-865A7647FC42}"/>
              </ns1:ext>
            </ns1:extLst>
          </ns0:cNvPr>
          <ns0:cNvPicPr>
            <ns1:picLocks noChangeAspect="1"/>
          </ns0:cNvPicPr>
          <ns0:nvPr/>
        </ns0:nvPicPr>
        <ns0:blipFill>
          <ns1:blip ns3:embed="R38646cd851dc45a9"/>
          <ns1:stretch/>
        </ns0:blipFill>
        <ns0:spPr>
          <ns1:xfrm>
            <ns1:off x="968216" y="3762375"/>
            <ns1:ext cx="10255568" cy="2771775"/>
          </ns1:xfrm>
          <ns1:prstGeom prst="rect">
            <ns1:avLst/>
          </ns1:prstGeom>
        </ns0:spPr>
      </ns0:pic>
      <ns0:pic>
        <ns0:nvPicPr>
          <ns0:cNvPr id="26" name="">
            <ns1:extLst>
              <ns1:ext uri="{FF2B5EF4-FFF2-40B4-BE49-F238E27FC236}">
                <ns2:creationId id="{8CE15221-3D6E-4F7B-AEAF-B0C9E2247542}"/>
              </ns1:ext>
            </ns1:extLst>
          </ns0:cNvPr>
          <ns0:cNvPicPr>
            <ns1:picLocks noChangeAspect="1"/>
          </ns0:cNvPicPr>
          <ns0:nvPr/>
        </ns0:nvPicPr>
        <ns0:blipFill>
          <ns1:blip ns3:embed="R3288f6300ed44b00"/>
          <ns1:stretch/>
        </ns0:blipFill>
        <ns0:spPr>
          <ns1:xfrm>
            <ns1:off x="968216" y="3762375"/>
            <ns1:ext cx="10255568" cy="2771775"/>
          </ns1:xfrm>
          <ns1:prstGeom prst="rect">
            <ns1:avLst/>
          </ns1:prstGeom>
        </ns0:spPr>
      </ns0:pic>
    </ns0:spTree>
    <ns0:extLst>
      <ns0:ext uri="{BB962C8B-B14F-4D97-AF65-F5344CB8AC3E}">
        <ns4:creationId val="628817155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6" name="">
            <ns1:extLst>
              <ns1:ext uri="{FF2B5EF4-FFF2-40B4-BE49-F238E27FC236}">
                <ns2:creationId id="{52C0EDB1-5427-4A54-AF7D-E1DD7F4858FB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723900"/>
          </ns1:xfrm>
          <ns1:prstGeom prst="rect">
            <ns1:avLst/>
          </ns1:prstGeom>
          <ns1:solidFill>
            <ns1:srgbClr val="BC2026"/>
          </ns1:solidFill>
          <ns1:ln w="0">
            <ns1:noFill/>
          </ns1:ln>
        </ns0:spPr>
      </ns0:sp>
      <ns0:sp>
        <ns0:nvSpPr>
          <ns0:cNvPr id="2" name="">
            <ns1:extLst>
              <ns1:ext uri="{FF2B5EF4-FFF2-40B4-BE49-F238E27FC236}">
                <ns2:creationId id="{5D278814-E814-4262-ACA4-DF03EA239FA5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52400"/>
            <ns1:ext cx="113538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端侧一体机愿景与竞争力规划</ns1:t>
            </ns1:r>
          </ns1:p>
        </ns0:txBody>
      </ns0:sp>
      <ns0:sp>
        <ns0:nvSpPr>
          <ns0:cNvPr id="37" name="">
            <ns1:extLst>
              <ns1:ext uri="{FF2B5EF4-FFF2-40B4-BE49-F238E27FC236}">
                <ns2:creationId id="{5720612F-0652-4F7B-B093-CAB8A97B60AE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876300"/>
            <ns1:ext cx="113538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重点方向</ns1:t>
            </ns1:r>
          </ns1:p>
        </ns0:txBody>
      </ns0:sp>
      <ns0:graphicFrame>
        <ns0:nvGraphicFramePr>
          <ns0:cNvPr id="38" name="">
            <ns1:extLst>
              <ns1:ext uri="{FF2B5EF4-FFF2-40B4-BE49-F238E27FC236}">
                <ns2:creationId id="{029AE028-7B79-421A-A12D-C869154E4E27}"/>
              </ns1:ext>
            </ns1:extLst>
          </ns0:cNvPr>
          <ns0:cNvGraphicFramePr/>
          <ns0:nvPr/>
        </ns0:nvGraphicFramePr>
        <ns0:xfrm>
          <ns1:off x="419100" y="1276350"/>
          <ns1:ext cx="11353800" cy="2590800"/>
        </ns0:xfrm>
        <ns1:graphic>
          <ns1:graphicData uri="http://schemas.openxmlformats.org/drawingml/2006/table">
            <ns1:tbl>
              <ns1:tblPr/>
              <ns1:tblGrid>
                <ns1:gridCol w="1676400"/>
                <ns1:gridCol w="4686300"/>
                <ns1:gridCol w="4991100"/>
              </ns1:tblGrid>
              <ns1:tr h="342900">
                <ns1:tc>
                  <ns1:txBody>
                    <ns1:bodyPr/>
                    <ns1:lstStyle/>
                    <ns1:p>
                      <ns1:r>
                        <ns1:rPr sz="157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发力方向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1E0E1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7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场景与技术判断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1E0E1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7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能力建设重点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1E0E1"/>
                    </ns1:solidFill>
                  </ns1:tcPr>
                </ns1:tc>
              </ns1:tr>
              <ns1:tr h="542925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资源受限推理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竞品采用统一内存形态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统筹设备内存与主机内存占用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按场景选框架</ns1:t>
                      </ns1:r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，优化内存、显存与数据搬运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提升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资源受限下的推理性能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42925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Windows 生态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打通 Windows 系统下的软硬件栈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适配 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HDK、CANN、PTA 及推理框架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支撑 Windows 生态应用落地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</ns1:tr>
              <ns1:tr h="619125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具身智能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演进探索：小模型拼接、端到端 VLA、世界模型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当前模型多样、重训练，未来面向推理落地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建设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具身智能推理框架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支撑多样模型结构与应用部署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42925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无人车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从模型单点适配、优化走向通用能力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建设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通用推理加速算子库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沉淀模型迁移、性能调优 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Skills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9" name="">
            <ns1:extLst>
              <ns1:ext uri="{FF2B5EF4-FFF2-40B4-BE49-F238E27FC236}">
                <ns2:creationId id="{6A9B0901-22EF-4C59-A3FA-667B1A785044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4019550"/>
            <ns1:ext cx="113538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当前痛点与规划策略</ns1:t>
            </ns1:r>
          </ns1:p>
        </ns0:txBody>
      </ns0:sp>
      <ns0:graphicFrame>
        <ns0:nvGraphicFramePr>
          <ns0:cNvPr id="40" name="">
            <ns1:extLst>
              <ns1:ext uri="{FF2B5EF4-FFF2-40B4-BE49-F238E27FC236}">
                <ns2:creationId id="{AEF74C68-FE40-48A7-9AC4-DBB9E4343F5E}"/>
              </ns1:ext>
            </ns1:extLst>
          </ns0:cNvPr>
          <ns0:cNvGraphicFramePr/>
          <ns0:nvPr/>
        </ns0:nvGraphicFramePr>
        <ns0:xfrm>
          <ns1:off x="419100" y="4419600"/>
          <ns1:ext cx="11353800" cy="2000250"/>
        </ns0:xfrm>
        <ns1:graphic>
          <ns1:graphicData uri="http://schemas.openxmlformats.org/drawingml/2006/table">
            <ns1:tbl>
              <ns1:tblPr/>
              <ns1:tblGrid>
                <ns1:gridCol w="3238500"/>
                <ns1:gridCol w="8115300"/>
              </ns1:tblGrid>
              <ns1:tr h="342900">
                <ns1:tc>
                  <ns1:txBody>
                    <ns1:bodyPr/>
                    <ns1:lstStyle/>
                    <ns1:p>
                      <ns1:r>
                        <ns1:rPr sz="157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当前痛点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1E0E1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7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规划策略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1E0E1"/>
                    </ns1:solidFill>
                  </ns1:tcPr>
                </ns1:tc>
              </ns1:tr>
              <ns1:tr h="552450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310P 能力受限</ns1:t>
                      </ns1:r>
                    </ns1:p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中心推理技术难以直接复用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下一代芯片发布前提前预研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FP4、FP8、W4A8，权重卸载、KV Cache 量化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52450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框架选择受限</ns1:t>
                      </ns1:r>
                    </ns1:p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目前主要关注 MindIE、vLLM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建立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面向场景的框架调研与选型能力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纳入 llama.cpp、Ollama 等方案，评估内存占用与性能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</ns1:tr>
              <ns1:tr h="552450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具身智能与无人车</ns1:t>
                      </ns1:r>
                    </ns1:p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以模型单点适配和优化为主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从单点优化走向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可复用的软件能力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建设具身智能推理框架、无人车通用推理加速库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41" name="">
            <ns1:extLst>
              <ns1:ext uri="{FF2B5EF4-FFF2-40B4-BE49-F238E27FC236}">
                <ns2:creationId id="{1BA1D3AE-00FE-4767-8EDE-FBB706365C24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6553200"/>
            <ns1:ext cx="333375" cy="209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rPr>
              <ns1:t>03</ns1:t>
            </ns1:r>
          </ns1:p>
        </ns0:txBody>
      </ns0:sp>
    </ns0:spTree>
    <ns0:extLst>
      <ns0:ext uri="{BB962C8B-B14F-4D97-AF65-F5344CB8AC3E}">
        <ns3:creationId val="200186141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">
            <ns1:extLst>
              <ns1:ext uri="{FF2B5EF4-FFF2-40B4-BE49-F238E27FC236}">
                <ns2:creationId id="{1AB4E95B-711F-47F4-A4CD-0A864B03FE8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723900"/>
          </ns1:xfrm>
          <ns1:prstGeom prst="rect">
            <ns1:avLst/>
          </ns1:prstGeom>
          <ns1:solidFill>
            <ns1:srgbClr val="BC2026"/>
          </ns1:solidFill>
          <ns1:ln w="0">
            <ns1:noFill/>
          </ns1:ln>
        </ns0:spPr>
      </ns0:sp>
      <ns0:sp>
        <ns0:nvSpPr>
          <ns0:cNvPr id="2" name="">
            <ns1:extLst>
              <ns1:ext uri="{FF2B5EF4-FFF2-40B4-BE49-F238E27FC236}">
                <ns2:creationId id="{2B1790C4-B000-410A-9270-D00A2593E2CB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52400"/>
            <ns1:ext cx="113538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团队能力建设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38DFE42-0124-45C5-8C43-BC419FB667F0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933450"/>
            <ns1:ext cx="113538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3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与大家携手并进，提升端侧推理竞争力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9158835E-06CD-4523-8347-FEC8A2F5B38E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390650"/>
            <ns1:ext cx="113538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025" b="1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025" b="1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rPr>
              <ns1:t>让团队的每一位成员都持续成长</ns1:t>
            </ns1:r>
          </ns1:p>
        </ns0:txBody>
      </ns0:sp>
      <ns0:graphicFrame>
        <ns0:nvGraphicFramePr>
          <ns0:cNvPr id="5" name="">
            <ns1:extLst>
              <ns1:ext uri="{FF2B5EF4-FFF2-40B4-BE49-F238E27FC236}">
                <ns2:creationId id="{7F7A4ABA-B8CF-473B-8989-56F119F910B8}"/>
              </ns1:ext>
            </ns1:extLst>
          </ns0:cNvPr>
          <ns0:cNvGraphicFramePr/>
          <ns0:nvPr/>
        </ns0:nvGraphicFramePr>
        <ns0:xfrm>
          <ns1:off x="419100" y="1981200"/>
          <ns1:ext cx="9029700" cy="3924300"/>
        </ns0:xfrm>
        <ns1:graphic>
          <ns1:graphicData uri="http://schemas.openxmlformats.org/drawingml/2006/table">
            <ns1:tbl>
              <ns1:tblPr firstRow="0" bandRow="0"/>
              <ns1:tblGrid>
                <ns1:gridCol w="1714500"/>
                <ns1:gridCol w="9639300"/>
              </ns1:tblGrid>
              <ns1:tr h="1009650">
                <ns1:tc>
                  <ns1:txBody>
                    <ns1:bodyPr/>
                    <ns1:lstStyle/>
                    <ns1:p>
                      <ns1:r>
                        <ns1:rPr sz="17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需求交付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有节奏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：按优先级与里程碑推进，定期同步进展与风险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契约化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：明确范围、责任人、交付时间及验收标准，变更及时对齐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高质量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：落实评审、精度与性能验证、回归检查，交付后复盘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1009650">
                <ns1:tc>
                  <ns1:txBody>
                    <ns1:bodyPr/>
                    <ns1:lstStyle/>
                    <ns1:p>
                      <ns1:r>
                        <ns1:rPr sz="17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技术竞争力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推理框架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：开展场景选型、关键特性适配和 Windows 生态建设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模型与加速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：沉淀模型适配、量化、内存优化及算子加速能力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具身智能和无人车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：建设推理框架、通用加速库与调优 Skills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</ns1:tr>
              <ns1:tr h="1009650">
                <ns1:tc>
                  <ns1:txBody>
                    <ns1:bodyPr/>
                    <ns1:lstStyle/>
                    <ns1:p>
                      <ns1:r>
                        <ns1:rPr sz="17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团队协作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职责分工明确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：模块有人负责，接口与协作边界清晰，关键岗位有备份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开发与技术经验共享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：通过代码评审、专题分享、文档与案例库沉淀经验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周边团队协同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：与公共开发部、技术开发部对齐接口、版本和问题闭环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1009650">
                <ns1:tc>
                  <ns1:txBody>
                    <ns1:bodyPr/>
                    <ns1:lstStyle/>
                    <ns1:p>
                      <ns1:r>
                        <ns1:rPr sz="17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人员成长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正反馈与及时认可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：让贡献可见，及时肯定结果、进步与协作行为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发挥个人长处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：结合兴趣与优势分配任务，明确个人能力提升目标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独立承担工作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：逐步负责完整模块或课题，配套导师支持与复盘反馈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6" name="">
            <ns1:extLst>
              <ns1:ext uri="{FF2B5EF4-FFF2-40B4-BE49-F238E27FC236}">
                <ns2:creationId id="{EB884460-F851-4A14-9FAA-F8BF3D504BD3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6553200"/>
            <ns1:ext cx="333375" cy="209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rPr>
              <ns1:t>04</ns1:t>
            </ns1:r>
          </ns1:p>
        </ns0:txBody>
      </ns0:sp>
    </ns0:spTree>
    <ns0:extLst>
      <ns0:ext uri="{BB962C8B-B14F-4D97-AF65-F5344CB8AC3E}">
        <ns3:creationId val="913934780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">
            <ns1:extLst>
              <ns1:ext uri="{FF2B5EF4-FFF2-40B4-BE49-F238E27FC236}">
                <ns2:creationId id="{B94DD75F-7D04-4E92-8528-F74B3A8F086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723900"/>
          </ns1:xfrm>
          <ns1:prstGeom prst="rect">
            <ns1:avLst/>
          </ns1:prstGeom>
          <ns1:solidFill>
            <ns1:srgbClr val="BC2026"/>
          </ns1:solidFill>
          <ns1:ln w="0">
            <ns1:noFill/>
          </ns1:ln>
        </ns0:spPr>
      </ns0:sp>
      <ns0:sp>
        <ns0:nvSpPr>
          <ns0:cNvPr id="2" name="">
            <ns1:extLst>
              <ns1:ext uri="{FF2B5EF4-FFF2-40B4-BE49-F238E27FC236}">
                <ns2:creationId id="{366DC9A8-C4F5-4040-89F1-6E4250C26B15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52400"/>
            <ns1:ext cx="113538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待讨论的问题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BA1A315F-B920-4F6E-B004-B19DBD9E0607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1476375"/>
            <ns1:ext cx="66675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01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A9997C1C-538B-451A-BA63-8DCF24960C8A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1457325"/>
            <ns1:ext cx="102870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Windows 生态是否作为重点发力方向？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BECC6AE6-AEEA-4474-88F2-C622689DB857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2047875"/>
            <ns1:ext cx="10191750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rPr>
              <ns1:t>从底层 HDK 到上层推理应用，需要全流程适配，工作量较大。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AB27499-62F3-4689-AA86-5B2363B1326C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3133725"/>
            <ns1:ext cx="66675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02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EED081B5-35F4-4440-8209-CBC46DCBA416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3114675"/>
            <ns1:ext cx="102870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端侧推理框架该如何选择？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377AB3C6-73E3-4FA4-A32E-2C827F2C74EE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3705225"/>
            <ns1:ext cx="10191750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rPr>
              <ns1:t>如何结合场景需求、资源约束与生态成熟度确定选型？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93F16901-E462-4873-ADCC-9B6B4B0FBCF3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4791075"/>
            <ns1:ext cx="66675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03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10DBA52-82BA-4169-8F33-AF6FBA8A3249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4772025"/>
            <ns1:ext cx="102870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具身智能推理框架是否会成为未来发展重点？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DA537EA7-E75F-4DE7-B281-94C4EC23565B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5362575"/>
            <ns1:ext cx="10191750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rPr>
              <ns1:t>团队应在什么阶段投入，优先建设哪些能力？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0DF40CB5-F001-4D30-8628-15F0698701DE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6553200"/>
            <ns1:ext cx="333375" cy="209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rPr>
              <ns1:t>05</ns1:t>
            </ns1:r>
          </ns1:p>
        </ns0:txBody>
      </ns0:sp>
    </ns0:spTree>
    <ns0:extLst>
      <ns0:ext uri="{BB962C8B-B14F-4D97-AF65-F5344CB8AC3E}">
        <ns3:creationId val="21446109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2026-10-17T08:51:45.7140000Z</dcterms:created>
  <dcterms:modified xsi:type="dcterms:W3CDTF">2026-10-17T08:51:45.7140000Z</dcterms:modified>
</coreProperties>
</file>