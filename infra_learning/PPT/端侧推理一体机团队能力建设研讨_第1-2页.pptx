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653a3bf9f34b4e" /><Relationship Type="http://schemas.openxmlformats.org/officeDocument/2006/relationships/extended-properties" Target="/docProps/app.xml" Id="R210c9ba71064480e" /><Relationship Type="http://schemas.openxmlformats.org/officeDocument/2006/relationships/officeDocument" Target="/ppt/presentation.xml" Id="Rd926fe2a046443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6cc17db37c473b"/>
  </p:sldMasterIdLst>
  <p:notesMasterIdLst>
    <p:notesMasterId xmlns:r="http://schemas.openxmlformats.org/officeDocument/2006/relationships" r:id="R7ee3f269dc2a44b3"/>
  </p:notesMasterIdLst>
  <p:sldIdLst>
    <p:sldId xmlns:r="http://schemas.openxmlformats.org/officeDocument/2006/relationships" id="256" r:id="R296d93644f70452a"/>
    <p:sldId xmlns:r="http://schemas.openxmlformats.org/officeDocument/2006/relationships" id="257" r:id="R7920c50c1e654396"/>
    <p:sldId xmlns:r="http://schemas.openxmlformats.org/officeDocument/2006/relationships" id="258" r:id="Rfe6b48e61ad34937"/>
    <p:sldId xmlns:r="http://schemas.openxmlformats.org/officeDocument/2006/relationships" id="259" r:id="R15b7db8b67154b63"/>
    <p:sldId xmlns:r="http://schemas.openxmlformats.org/officeDocument/2006/relationships" id="260" r:id="R821b981734da4b8b"/>
    <p:sldId xmlns:r="http://schemas.openxmlformats.org/officeDocument/2006/relationships" id="261" r:id="R92b01621187f4b80"/>
    <p:sldId xmlns:r="http://schemas.openxmlformats.org/officeDocument/2006/relationships" id="262" r:id="Rd0552a4616994c37"/>
    <p:sldId xmlns:r="http://schemas.openxmlformats.org/officeDocument/2006/relationships" id="263" r:id="Rfb6adf48e20c48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0efd92ec6847e6" /><Relationship Type="http://schemas.openxmlformats.org/officeDocument/2006/relationships/slideMaster" Target="/ppt/slideMasters/slideMaster1.xml" Id="R3c6cc17db37c473b" /><Relationship Type="http://schemas.openxmlformats.org/officeDocument/2006/relationships/notesMaster" Target="/ppt/notesMasters/notesMaster1.xml" Id="R7ee3f269dc2a44b3" /><Relationship Type="http://schemas.openxmlformats.org/officeDocument/2006/relationships/presProps" Target="/ppt/presProps.xml" Id="Re0bc9bd2a08e4111" /><Relationship Type="http://schemas.openxmlformats.org/officeDocument/2006/relationships/tableStyles" Target="/ppt/tableStyles.xml" Id="Ra2214c78539d4cb3" /><Relationship Type="http://schemas.openxmlformats.org/officeDocument/2006/relationships/slide" Target="/ppt/slides/slide1.xml" Id="R296d93644f70452a" /><Relationship Type="http://schemas.openxmlformats.org/officeDocument/2006/relationships/slide" Target="/ppt/slides/slide2.xml" Id="R7920c50c1e654396" /><Relationship Type="http://schemas.openxmlformats.org/officeDocument/2006/relationships/slide" Target="/ppt/slides/slide3.xml" Id="Rfe6b48e61ad34937" /><Relationship Type="http://schemas.openxmlformats.org/officeDocument/2006/relationships/slide" Target="/ppt/slides/slide4.xml" Id="R15b7db8b67154b63" /><Relationship Type="http://schemas.openxmlformats.org/officeDocument/2006/relationships/slide" Target="/ppt/slides/slide5.xml" Id="R821b981734da4b8b" /><Relationship Type="http://schemas.openxmlformats.org/officeDocument/2006/relationships/slide" Target="/ppt/slides/slide6.xml" Id="R92b01621187f4b80" /><Relationship Type="http://schemas.openxmlformats.org/officeDocument/2006/relationships/slide" Target="/ppt/slides/slide7.xml" Id="Rd0552a4616994c37" /><Relationship Type="http://schemas.openxmlformats.org/officeDocument/2006/relationships/slide" Target="/ppt/slides/slide8.xml" Id="Rfb6adf48e20c48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96d049b7e642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4f6ef1414b4534" /><Relationship Type="http://schemas.openxmlformats.org/officeDocument/2006/relationships/notesMaster" Target="/ppt/notesMasters/notesMaster1.xml" Id="Rc2e9639a849941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6cf6ffc5b743b8" /><Relationship Type="http://schemas.openxmlformats.org/officeDocument/2006/relationships/notesMaster" Target="/ppt/notesMasters/notesMaster1.xml" Id="Rb0716579fae04d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3f699c29954341" /><Relationship Type="http://schemas.openxmlformats.org/officeDocument/2006/relationships/notesMaster" Target="/ppt/notesMasters/notesMaster1.xml" Id="R4b767bec25cb4f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c66d7b4a8b4a12" /><Relationship Type="http://schemas.openxmlformats.org/officeDocument/2006/relationships/notesMaster" Target="/ppt/notesMasters/notesMaster1.xml" Id="Ra5092f368af74c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82c42bb6ec4eb3" /><Relationship Type="http://schemas.openxmlformats.org/officeDocument/2006/relationships/notesMaster" Target="/ppt/notesMasters/notesMaster1.xml" Id="R106af97310254c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2b525a58a24a69" /><Relationship Type="http://schemas.openxmlformats.org/officeDocument/2006/relationships/notesMaster" Target="/ppt/notesMasters/notesMaster1.xml" Id="Rebbb38a3afaa43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f21672ba1140f2" /><Relationship Type="http://schemas.openxmlformats.org/officeDocument/2006/relationships/notesMaster" Target="/ppt/notesMasters/notesMaster1.xml" Id="Rcbe2758904c842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8aa2d8077b4d28" /><Relationship Type="http://schemas.openxmlformats.org/officeDocument/2006/relationships/notesMaster" Target="/ppt/notesMasters/notesMaster1.xml" Id="Rba588af4d5b349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部门愿景及建设重点依据用户输入，其中建设重点为本页研讨建议。产品定位依据 NVIDIA 官方产品页。DGX Spark 是桌面 AI 小站，RTX Spark 是个人电脑平台，AGX Orin / Thor 是嵌入设备的平台，容量相近不代表系统职责相同。操作系统、驱动与应用需适配。芯片分组参考用户指定 PPT 第 2 页第一组产品布局，未沿用第二组智能小站曲线。310P-next 已按用户纠正为预计 1P FP4，950-lite 仍为参考输入的预计 1P，不代表公开发布规格。T2000 / T3000 与昇腾数值沿用参考材料，未独立验证。NVIDIA 稀疏计算口径和配置条件需参考具体官方规格，不能据表中数值直接推断业务速度。</a:t>
            </a:r>
          </a:p>
          <a:p xmlns:a="http://schemas.openxmlformats.org/drawingml/2006/main">
            <a:r>
              <a:t>https://www.nvidia.com/en-us/products/workstations/dgx-spark/</a:t>
            </a:r>
          </a:p>
          <a:p xmlns:a="http://schemas.openxmlformats.org/drawingml/2006/main">
            <a:r>
              <a:t>https://www.nvidia.com/en-us/products/rtx-spark/</a:t>
            </a:r>
          </a:p>
          <a:p xmlns:a="http://schemas.openxmlformats.org/drawingml/2006/main">
            <a:r>
              <a:t>https://www.nvidia.com/en-us/autonomous-machines/embedded-systems/jetson-orin/</a:t>
            </a:r>
          </a:p>
          <a:p xmlns:a="http://schemas.openxmlformats.org/drawingml/2006/main">
            <a:r>
              <a:t>https://www.nvidia.com/en-us/autonomous-machines/embedded-systems/jetson-thor/</a:t>
            </a:r>
          </a:p>
          <a:p xmlns:a="http://schemas.openxmlformats.org/drawingml/2006/main">
            <a:r>
              <a:t>参考文件：C:/Users/yangshuai/.codex/visualizations/2026/10/15/01a13e46-d735-7050-871a-da8f78f8b7c9/310p-brief/output/310P端侧规划_嵌入式与智能小站_完整对比.pptx 第2页。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用户给定的团队规划输入整理。具身智能的小模型拼接、端到端VLA与世界模型是本页用于讨论的演进方向，不代表已形成统一、线性的行业路线。未来从训练探索走向推理应用与落地属于规划判断。Windows适配为拟建设能力，不表示所有组件已具备Windows支持。FP4、FP8、W4A8等为下一代芯片预研项，应结合实际硬件和软件支持验证。llama.cpp、Ollama列为候选方案，实际内存占用和性能需在相同模型、量化、上下文与并发条件下评估，Ollama属于模型运行管理工具，不预设其具有普遍的低内存优势。统一内存关注来自前页所列竞品，不泛化为全部端侧硬件形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愿景及四个建设方向依据用户输入，具体做法为本页补充建议，供团队研讨，不代表已实施的管理机制或已具备的技术能力。需求交付强调里程碑、契约与质量验证。技术竞争力承接前两页的框架、模型加速、具身智能及无人车规划。协作强调职责、开发经验共享，与公共开发部和技术开发部协同。人员成长强调及时认可、发挥优势与逐步独立负责，同时提供必要支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为结合用户三类场景提出的团队建设建议，不代表现有能力声明。工作主线从框架名重构为模型与引擎适配、资源与性能优化、场景部署与工程化，三条主线共同支撑全部场景。vLLM/llama.cpp作为候选选型，应按具体硬件与版本验证。评测建议：桌面盒子关注满足TTFT/逐token时延约束后的并发吞吐，AI PC关注总内存、响应与日常应用资源争用，具身和无人车关注传感输入到模型输出的端到端尾时延、功耗和长期运行；模型级改进仍需整机与任务验证，不等同于控制系统安全保证。公共能力指统一接口、测试与可复用组件，不要求所有引擎合并为一个实现。Windows适配按客户需求及投入评估。首批可选Agent/RAG服务、个人助手、视觉语言/动作模型代表任务，不预设单一框架覆盖所有模型。芯片名称沿用用户参考输入，规划规格待验证。资料：https://github.com/ggml-org/llama.cpp ，https://docs.vllm.ai/en/latest/ ，https://www.nvidia.com/en-us/autonomous-machines/embedded-systems/jetson-thor/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用户提供的无人车开发套件图，保留业务闭环、模型库、算子库和开发使能的层次，新增具身智能模型与推理框架。右侧能力及策略为规划目标，“开箱即最优”指在指定场景、精度和资源约束下追求的性能目标，不代表已实现全模型全硬件最优。ModelZoo资产分散为用户提供的内部现状。关键竞争力描述伙伴收益，策略分别落到仓库与接口、共性技术组件、AI Coding工具链与自动验证。建设状态按用户输入：黄色已完成、绿色未完成、黄绿对角分色完成一半。具身推理框架尚未开展，其余模型适配、无人车执行、算子接口与工程使能完成一半。两条业务链为简化示意，动作和车辆状态均需反馈到后续感知与推理；VLA输出仍需设备控制接口适配，不等同于直接取代底层控制器。具身推理框架为拟建设的应用执行层，关注动作分块、多模态接入、时序与异构调度；不是单一算子运行库。低时延与稳定执行需按整机资源、传感时序与控制需求实测，不代表安全认证。实际模型适配与算子支持需验证。资料：https://github.com/Physical-Intelligence/openpi/blob/main/packages/openpi-client/src/openpi_client/action_chunk_broker.py ，https://github.com/NVIDIA-ISAAC-ROS/isaac_ros_dnn_inference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右侧按高吞吐、大参数量模型、长序列三个场景目标组织。A+K沿用用户表述，指昇腾与鲲鹏协同的规划方向，不预设CPU执行专家算子或特定统一内存硬件已落地。卸载主要增加可承载容量，不保证提高速度；需验证搬运开销。长上下文扩容不能超越模型自身位置编码或质量边界，需要单独评估。低成本和性价比属于待实测目标。基于官方文档调研，为端侧建设规划，不声称全部功能已在310P或全部芯片落地。星号标记重点适配/预研，不是团队完成状态；未标星功能也需核对模型、芯片、版本及组合兼容性。</a:t>
            </a:r>
          </a:p>
          <a:p xmlns:a="http://schemas.openxmlformats.org/drawingml/2006/main">
            <a:r>
              <a:t>1. 调度、图模式、融合算子、投机解码和并行见vLLM-Ascend特性与发布说明；ACL Graph主要降低Host调度开销，捕获与工作区可能增加内存，应按需调优。TTFT为首token时延，TPOT为输出每token时延，吞吐应在指定时延和精度约束下比较。</a:t>
            </a:r>
          </a:p>
          <a:p xmlns:a="http://schemas.openxmlformats.org/drawingml/2006/main">
            <a:r>
              <a:t>https://docs.vllm.ai/projects/ascend/en/main/user_guide/support_matrix/supported_features.html</a:t>
            </a:r>
          </a:p>
          <a:p xmlns:a="http://schemas.openxmlformats.org/drawingml/2006/main">
            <a:r>
              <a:t>https://docs.vllm.ai/projects/ascend/en/main/user_guide/release_notes.html</a:t>
            </a:r>
          </a:p>
          <a:p xmlns:a="http://schemas.openxmlformats.org/drawingml/2006/main">
            <a:r>
              <a:t>2. W4A8/W4A4在部分模型与设备有支持，310系列不能默认复用全部格式。Qwen3教程指出Atlas inference products使用W8A8SC-310。FP4/FP8标星是面向支持硬件的适配或下一代预研，W4A4是位宽描述，不能等同于FP4格式。KV量化按版本/模型可有INT8或其他实现，不泛化到全部模型。极低位宽压缩可能损害精度，必须校准与评测。</a:t>
            </a:r>
          </a:p>
          <a:p xmlns:a="http://schemas.openxmlformats.org/drawingml/2006/main">
            <a:r>
              <a:t>https://docs.vllm.ai/projects/ascend/en/v0.23.0rc1/tutorials/models/Qwen3-Dense.html</a:t>
            </a:r>
          </a:p>
          <a:p xmlns:a="http://schemas.openxmlformats.org/drawingml/2006/main">
            <a:r>
              <a:t>https://docs.vllm.ai/projects/ascend/en/main/user_guide/feature_guide/quantization.html</a:t>
            </a:r>
          </a:p>
          <a:p xmlns:a="http://schemas.openxmlformats.org/drawingml/2006/main">
            <a:r>
              <a:t>https://docs.vllm.ai/projects/ascend/en/v0.11.0/user_guide/configuration/additional_config.html</a:t>
            </a:r>
          </a:p>
          <a:p xmlns:a="http://schemas.openxmlformats.org/drawingml/2006/main">
            <a:r>
              <a:t>3. KV Cache CPU Offload官方文档介绍非活跃KV块向Host卸载、异步传输与复用，不能理解为统一内存平台必然节省总物理内存。CPU池可能增加Host内存，需测实际互连带宽。</a:t>
            </a:r>
          </a:p>
          <a:p xmlns:a="http://schemas.openxmlformats.org/drawingml/2006/main">
            <a:r>
              <a:t>https://docs.vllm.ai/projects/ascend/en/main/user_guide/feature_guide/kv_cache_cpu_offload.html</a:t>
            </a:r>
          </a:p>
          <a:p xmlns:a="http://schemas.openxmlformats.org/drawingml/2006/main">
            <a:r>
              <a:t>4. Layer Offload指模型权重按层/分组卸载到Host与异步预取，不是KV按层卸载。上游OffloadConfig给出UVA和PrefetchOffloadConfig，支持参数名筛选；需验证Ascend端对应实现。Ascend平台代码对权重卸载与EPLB组合存在限制，不能宣称可任意叠加。</a:t>
            </a:r>
          </a:p>
          <a:p xmlns:a="http://schemas.openxmlformats.org/drawingml/2006/main">
            <a:r>
              <a:t>https://docs.vllm.ai/en/latest/api/vllm/config/offload/</a:t>
            </a:r>
          </a:p>
          <a:p xmlns:a="http://schemas.openxmlformats.org/drawingml/2006/main">
            <a:r>
              <a:t>https://github.com/vllm-project/vllm-ascend/blob/main/vllm_ascend/platform.py</a:t>
            </a:r>
          </a:p>
          <a:p xmlns:a="http://schemas.openxmlformats.org/drawingml/2006/main">
            <a:r>
              <a:t>5. MoE Offload / 专家预取为重点预研项：优先验证选择性专家权重驻留/卸载与按需搬运，不宣称主线已具备成熟动态专家缓存，也不等同于让CPU执行专家计算。专家并行EP、专家负载均衡EPLB、专家卸载是不同技术。</a:t>
            </a:r>
          </a:p>
          <a:p xmlns:a="http://schemas.openxmlformats.org/drawingml/2006/main">
            <a:r>
              <a:t>6. 图参考用户图片的应用、引擎、运行时、系统、驱动与芯片层次；未照搬Windows支持或以生态色块表示已完成状态。低并发、低内存场景需与轻量引擎对照，不预设vLLM适合全部嵌入式/机器人闭环。源文档main会演进，实施时锁定版本。</a:t>
            </a:r>
          </a:p>
          <a:p xmlns:a="http://schemas.openxmlformats.org/drawingml/2006/main">
            <a:r>
              <a:t>本次按用户明确的团队建设状态调整：DSpark、DFlash、EAGLE3、EP、W4A4、FP4、FP8、KV Cache量化、Layer Offload、MoE Offload、调度策略、CANN融合算子均为待完善。黄色已有基础、绿色待完善代表用户指定的团队状态，不是对上游是否支持或全部芯片可用的判断。ACL Graph、Prefix Cache、MTP、TP、PP、W4A8暂按已有基础呈现，具体支持仍以目标芯片与版本验证。融合算子移至CANN层，移除算子编译和工作区复用。TP为张量并行，EP为专家并行，PP为流水线并行；投机解码展开DSpark、DFlash、EAGLE3、MTP，Prefix Cache放入推理加速。原有研究资料保留作为可追溯参考，旧星号标记不再用于本页。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依据用户输入设置三个待讨论议题。第二、第三项补充的追问用于促进研讨，不预设技术选型或资源投入结论。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8da5e716647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1b4391f05438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285f32a9494e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b50aa24dbb46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2d0676a6845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3e84c1b4846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00C5D1-A500-4074-B311-66D3634A80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CBCE79-19D4-40B5-9E96-02622043BC2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1EA1021-BA83-485D-AE9F-F061701BC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5E9F20-732D-49F3-A58F-F775734FE8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01E4C6-4007-454A-BD59-B4A66CCFAF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7F4AE0-976D-47E8-89D3-23A38B8B8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1656C4-BC18-47C3-88E4-5898600C66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5AA3DF-3A9A-43B4-9F97-A67716D5C8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E0368-98B6-4508-9595-3A7B9FF04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E3C9DC-F2FF-4CDD-83F1-A6E55656DC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4b4492f4ee43a7" /><Relationship Type="http://schemas.openxmlformats.org/officeDocument/2006/relationships/slideLayout" Target="/ppt/slideLayouts/slideLayout1.xml" Id="Rf725b2ca0d814287" /><Relationship Type="http://schemas.openxmlformats.org/officeDocument/2006/relationships/slideLayout" Target="/ppt/slideLayouts/slideLayout2.xml" Id="R5d121b7c93604714" /><Relationship Type="http://schemas.openxmlformats.org/officeDocument/2006/relationships/slideLayout" Target="/ppt/slideLayouts/slideLayout3.xml" Id="R3693c0ff46814116" /><Relationship Type="http://schemas.openxmlformats.org/officeDocument/2006/relationships/slideLayout" Target="/ppt/slideLayouts/slideLayout4.xml" Id="Rc409fc3880324a2c" /><Relationship Type="http://schemas.openxmlformats.org/officeDocument/2006/relationships/slideLayout" Target="/ppt/slideLayouts/slideLayout5.xml" Id="R0c8c9d382f5d4aaa" /><Relationship Type="http://schemas.openxmlformats.org/officeDocument/2006/relationships/slideLayout" Target="/ppt/slideLayouts/slideLayout6.xml" Id="R37ae2f65de6c4c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25b2ca0d814287"/>
    <p:sldLayoutId xmlns:r="http://schemas.openxmlformats.org/officeDocument/2006/relationships" id="2147483650" r:id="R5d121b7c93604714"/>
    <p:sldLayoutId xmlns:r="http://schemas.openxmlformats.org/officeDocument/2006/relationships" id="2147483651" r:id="R3693c0ff46814116"/>
    <p:sldLayoutId xmlns:r="http://schemas.openxmlformats.org/officeDocument/2006/relationships" id="2147483652" r:id="Rc409fc3880324a2c"/>
    <p:sldLayoutId xmlns:r="http://schemas.openxmlformats.org/officeDocument/2006/relationships" id="2147483653" r:id="R0c8c9d382f5d4aaa"/>
    <p:sldLayoutId xmlns:r="http://schemas.openxmlformats.org/officeDocument/2006/relationships" id="2147483654" r:id="R37ae2f65de6c4c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c2293396c4090" /><Relationship Type="http://schemas.openxmlformats.org/officeDocument/2006/relationships/notesSlide" Target="/ppt/notesSlides/notesSlide1.xml" Id="R8f1440d6b04946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bdd9de01c4db9" /><Relationship Type="http://schemas.openxmlformats.org/officeDocument/2006/relationships/image" Target="/ppt/media/image.png" Id="R03e49a6f76c44558" /><Relationship Type="http://schemas.openxmlformats.org/officeDocument/2006/relationships/image" Target="/ppt/media/image2.png" Id="R29aae8be5c504518" /><Relationship Type="http://schemas.openxmlformats.org/officeDocument/2006/relationships/notesSlide" Target="/ppt/notesSlides/notesSlide2.xml" Id="R8709c0f4080a4f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0cffaead9644f9" /><Relationship Type="http://schemas.openxmlformats.org/officeDocument/2006/relationships/notesSlide" Target="/ppt/notesSlides/notesSlide3.xml" Id="R004369b9f2b547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cab1cd82ff48cf" /><Relationship Type="http://schemas.openxmlformats.org/officeDocument/2006/relationships/notesSlide" Target="/ppt/notesSlides/notesSlide4.xml" Id="R93398f552b334d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620760ce044305" /><Relationship Type="http://schemas.openxmlformats.org/officeDocument/2006/relationships/notesSlide" Target="/ppt/notesSlides/notesSlide5.xml" Id="R9e43ff2f3c4f4e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c250789a314669" /><Relationship Type="http://schemas.openxmlformats.org/officeDocument/2006/relationships/notesSlide" Target="/ppt/notesSlides/notesSlide6.xml" Id="R3b9fa409a51a41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5662ebc424673" /><Relationship Type="http://schemas.openxmlformats.org/officeDocument/2006/relationships/notesSlide" Target="/ppt/notesSlides/notesSlide7.xml" Id="Rb1e01a507eb947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f7d9196c04436" /><Relationship Type="http://schemas.openxmlformats.org/officeDocument/2006/relationships/notesSlide" Target="/ppt/notesSlides/notesSlide8.xml" Id="Rd15833e693314e87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">
            <ns1:extLst>
              <ns1:ext uri="{FF2B5EF4-FFF2-40B4-BE49-F238E27FC236}">
                <ns2:creationId id="{9559504A-9335-422D-969B-AA7414487F43}"/>
              </ns1:ext>
            </ns1:extLst>
          </ns0:cNvPr>
          <ns0:cNvSpPr>
            <ns1:spLocks noGrp="1"/>
          </ns0:cNvSpPr>
          <ns0:nvPr/>
        </ns0:nvSpPr>
        <ns0:spPr>
          <ns1:xfrm>
            <ns1:off x="0" y="1809750"/>
            <ns1:ext cx="12192000" cy="2238375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51EF229-8186-4D7B-9100-FDE68D34E2BE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047875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端侧推理一体机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4E8CDA5-BD44-41A2-96E2-7CAE32799783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933700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团队能力建设研讨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3804153D-5D60-40DD-B509-64AEB47C1C9C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4695825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汇报人  杨帅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69650128-5B9B-4E0C-A34B-C22417D928E3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5143500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汇报时间  2026年10月23日</ns1:t>
            </ns1:r>
          </ns1:p>
        </ns0:txBody>
      </ns0:sp>
    </ns0:spTree>
    <ns0:extLst>
      <ns0:ext uri="{BB962C8B-B14F-4D97-AF65-F5344CB8AC3E}">
        <ns3:creationId val="1924151412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4" name="">
            <ns1:extLst>
              <ns1:ext uri="{FF2B5EF4-FFF2-40B4-BE49-F238E27FC236}">
                <ns2:creationId id="{DB20C888-1870-4074-80FF-DEE23172C447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DF2255F-3C98-47B7-A8DB-1B16073EED3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287125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7DE089B-0776-4509-9658-675987A77A5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85825"/>
            <ns1:ext cx="11382375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部门愿景：构筑鲲鹏昇腾一体机竞争力，让一体机无处不在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5F346A73-F278-4767-A1D4-34892D7DB86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04925"/>
            <ns1:ext cx="11382375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端侧一体机：让 AI 走进千家万户，赋能各行各业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EB7F99A1-1C81-46DF-AC36-682F70005FE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0DBB915-D84B-4575-B249-F348281EE9A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DGX Spark：专用桌面 AI 节点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22B974BB-A138-475E-9B54-49D23440C25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模型开发、Agent 与本地推理服务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7ED9DD28-5638-4BB5-ABB9-B1751A47C86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重点方向：模型适配、高吞吐、易部署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F34041D-E8B6-4555-A662-63C6FD149D9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856529F-A4BF-462E-829D-A2519E18C4D7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RTX Spark：日常个人电脑平台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C7E1CCB9-863D-4D0A-8736-4689D3715B2F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办公、创作、图形与本地 AI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F017764B-AEBD-46C9-8EE4-7D0E5C87262A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重点方向：Windows 生态支持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BF7389D3-2933-40DA-BCFC-E981D63E925C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65D1749B-2E5C-4DD4-A03C-D81DE82BFAE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AGX Orin / Thor：设备内嵌平台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CAB7CAD6-1926-40B7-ADA3-D6F9D45B8E9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Orin 承接现有部署，Thor 面向复杂多模态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B072D1D4-6B10-4CF9-8592-E970AEAE63E5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重点方向：低功耗、低时延、低资源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9CBA268F-8823-4D7D-A8E4-34B38DF2024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3448050"/>
            <ns1:ext cx="857250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算力发展趋势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63044B2E-9FFC-4421-B3F8-D39005F80FDB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05575"/>
            <ns1:ext cx="333375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pic>
        <ns0:nvPicPr>
          <ns0:cNvPr id="25" name="">
            <ns1:extLst>
              <ns1:ext uri="{FF2B5EF4-FFF2-40B4-BE49-F238E27FC236}">
                <ns2:creationId id="{A29EDAC6-CEEE-4E5A-B8FB-B4F575262721}"/>
              </ns1:ext>
            </ns1:extLst>
          </ns0:cNvPr>
          <ns0:cNvPicPr>
            <ns1:picLocks noChangeAspect="1"/>
          </ns0:cNvPicPr>
          <ns0:nvPr/>
        </ns0:nvPicPr>
        <ns0:blipFill>
          <ns1:blip ns3:embed="R03e49a6f76c44558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  <ns0:pic>
        <ns0:nvPicPr>
          <ns0:cNvPr id="26" name="">
            <ns1:extLst>
              <ns1:ext uri="{FF2B5EF4-FFF2-40B4-BE49-F238E27FC236}">
                <ns2:creationId id="{AC4B99C1-224A-4ED9-979F-3E76DC95CF31}"/>
              </ns1:ext>
            </ns1:extLst>
          </ns0:cNvPr>
          <ns0:cNvPicPr>
            <ns1:picLocks noChangeAspect="1"/>
          </ns0:cNvPicPr>
          <ns0:nvPr/>
        </ns0:nvPicPr>
        <ns0:blipFill>
          <ns1:blip ns3:embed="R29aae8be5c504518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</ns0:spTree>
    <ns0:extLst>
      <ns0:ext uri="{BB962C8B-B14F-4D97-AF65-F5344CB8AC3E}">
        <ns4:creationId val="628817155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36" name="">
            <ns1:extLst>
              <ns1:ext uri="{FF2B5EF4-FFF2-40B4-BE49-F238E27FC236}">
                <ns2:creationId id="{52C0EDB1-5427-4A54-AF7D-E1DD7F4858FB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5D278814-E814-4262-ACA4-DF03EA239FA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5720612F-0652-4F7B-B093-CAB8A97B60A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7630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重点方向</ns1:t>
            </ns1:r>
          </ns1:p>
        </ns0:txBody>
      </ns0:sp>
      <ns0:graphicFrame>
        <ns0:nvGraphicFramePr>
          <ns0:cNvPr id="38" name="">
            <ns1:extLst>
              <ns1:ext uri="{FF2B5EF4-FFF2-40B4-BE49-F238E27FC236}">
                <ns2:creationId id="{C565F22B-3D6F-4531-A0FC-CEA22F173CA0}"/>
              </ns1:ext>
            </ns1:extLst>
          </ns0:cNvPr>
          <ns0:cNvGraphicFramePr/>
          <ns0:nvPr/>
        </ns0:nvGraphicFramePr>
        <ns0:xfrm>
          <ns1:off x="419100" y="1276350"/>
          <ns1:ext cx="11353800" cy="2590800"/>
        </ns0:xfrm>
        <ns1:graphic>
          <ns1:graphicData uri="http://schemas.openxmlformats.org/drawingml/2006/table">
            <ns1:tbl>
              <ns1:tblPr/>
              <ns1:tblGrid>
                <ns1:gridCol w="1676400"/>
                <ns1:gridCol w="4686300"/>
                <ns1:gridCol w="49911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发力方向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场景与技术判断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能力建设重点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资源受限推理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竞品采用统一内存形态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统筹设备内存与主机内存占用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按场景选框架</ns1:t>
                      </ns1:r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，优化内存、显存与数据搬运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提升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资源受限下的推理性能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Windows 生态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打通 Windows 系统下的软硬件栈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适配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HDK、CANN、PTA 及推理框架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 Windows 生态应用落地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6191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演进探索：小模型拼接、端到端 VLA、世界模型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当前模型多样、重训练，未来面向推理落地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支撑多样模型结构与应用部署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无人车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从模型单点适配、优化走向通用能力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通用推理加速算子库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沉淀模型迁移、性能调优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39" name="">
            <ns1:extLst>
              <ns1:ext uri="{FF2B5EF4-FFF2-40B4-BE49-F238E27FC236}">
                <ns2:creationId id="{6A9B0901-22EF-4C59-A3FA-667B1A78504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40195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当前痛点与规划策略</ns1:t>
            </ns1:r>
          </ns1:p>
        </ns0:txBody>
      </ns0:sp>
      <ns0:graphicFrame>
        <ns0:nvGraphicFramePr>
          <ns0:cNvPr id="40" name="">
            <ns1:extLst>
              <ns1:ext uri="{FF2B5EF4-FFF2-40B4-BE49-F238E27FC236}">
                <ns2:creationId id="{5488EABC-6832-446F-8FAD-F3D6ABDF7BB6}"/>
              </ns1:ext>
            </ns1:extLst>
          </ns0:cNvPr>
          <ns0:cNvGraphicFramePr/>
          <ns0:nvPr/>
        </ns0:nvGraphicFramePr>
        <ns0:xfrm>
          <ns1:off x="419100" y="4419600"/>
          <ns1:ext cx="11353800" cy="2000250"/>
        </ns0:xfrm>
        <ns1:graphic>
          <ns1:graphicData uri="http://schemas.openxmlformats.org/drawingml/2006/table">
            <ns1:tbl>
              <ns1:tblPr/>
              <ns1:tblGrid>
                <ns1:gridCol w="3238500"/>
                <ns1:gridCol w="81153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当前痛点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规划策略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310P 能力受限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中心推理技术难以直接复用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下一代芯片发布前提前预研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FP4、FP8、W4A8，权重卸载、KV Cache 量化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框架选择受限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目前主要关注 MindIE、vLLM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建立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面向场景的框架调研与选型能力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纳入 llama.cpp、Ollama 等方案，评估内存占用与性能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以模型单点适配和优化为主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从单点优化走向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可复用的软件能力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建设具身智能推理框架、无人车通用推理加速库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41" name="">
            <ns1:extLst>
              <ns1:ext uri="{FF2B5EF4-FFF2-40B4-BE49-F238E27FC236}">
                <ns2:creationId id="{1BA1D3AE-00FE-4767-8EDE-FBB706365C24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</ns0:spTree>
    <ns0:extLst>
      <ns0:ext uri="{BB962C8B-B14F-4D97-AF65-F5344CB8AC3E}">
        <ns3:creationId val="2001861411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">
            <ns1:extLst>
              <ns1:ext uri="{FF2B5EF4-FFF2-40B4-BE49-F238E27FC236}">
                <ns2:creationId id="{1AB4E95B-711F-47F4-A4CD-0A864B03FE8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2B1790C4-B000-410A-9270-D00A2593E2CB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38DFE42-0124-45C5-8C43-BC419FB667F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933450"/>
            <ns1:ext cx="113538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与大家携手并进，提升端侧推理竞争力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9158835E-06CD-4523-8347-FEC8A2F5B38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906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让团队的每一位成员都持续成长</ns1:t>
            </ns1:r>
          </ns1:p>
        </ns0:txBody>
      </ns0:sp>
      <ns0:graphicFrame>
        <ns0:nvGraphicFramePr>
          <ns0:cNvPr id="5" name="">
            <ns1:extLst>
              <ns1:ext uri="{FF2B5EF4-FFF2-40B4-BE49-F238E27FC236}">
                <ns2:creationId id="{9DB08E02-86F5-4717-8054-733E718D6467}"/>
              </ns1:ext>
            </ns1:extLst>
          </ns0:cNvPr>
          <ns0:cNvGraphicFramePr/>
          <ns0:nvPr/>
        </ns0:nvGraphicFramePr>
        <ns0:xfrm>
          <ns1:off x="419100" y="1981200"/>
          <ns1:ext cx="9029700" cy="3924300"/>
        </ns0:xfrm>
        <ns1:graphic>
          <ns1:graphicData uri="http://schemas.openxmlformats.org/drawingml/2006/table">
            <ns1:tbl>
              <ns1:tblPr firstRow="0" bandRow="0"/>
              <ns1:tblGrid>
                <ns1:gridCol w="1714500"/>
                <ns1:gridCol w="9639300"/>
              </ns1:tblGrid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需求交付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有节奏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：按优先级与里程碑推进，定期同步进展与风险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契约化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：明确范围、责任人、交付时间及验收标准，变更及时对齐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高质量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：落实评审、精度与性能验证、回归检查，交付后复盘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技术竞争力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推理框架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：开展场景选型、关键特性适配和 Windows 生态建设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模型与加速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：沉淀模型适配、量化、内存优化及算子加速能力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具身智能和无人车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：建设推理框架、通用加速库与调优 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团队协作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职责分工明确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：模块有人负责，接口与协作边界清晰，关键岗位有备份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开发与技术经验共享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：通过代码评审、专题分享、文档与案例库沉淀经验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周边团队协同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：与公共开发部、技术开发部对齐接口、版本和问题闭环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人员成长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正反馈与及时认可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：让贡献可见，及时肯定结果、进步与协作行为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发挥个人长处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：结合兴趣与优势分配任务，明确个人能力提升目标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独立承担工作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：逐步负责完整模块或课题，配套导师支持与复盘反馈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6" name="">
            <ns1:extLst>
              <ns1:ext uri="{FF2B5EF4-FFF2-40B4-BE49-F238E27FC236}">
                <ns2:creationId id="{EB884460-F851-4A14-9FAA-F8BF3D504BD3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04</ns1:t>
            </ns1:r>
          </ns1:p>
        </ns0:txBody>
      </ns0:sp>
    </ns0:spTree>
    <ns0:extLst>
      <ns0:ext uri="{BB962C8B-B14F-4D97-AF65-F5344CB8AC3E}">
        <ns3:creationId val="913934780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6" name="">
            <ns1:extLst>
              <ns1:ext uri="{FF2B5EF4-FFF2-40B4-BE49-F238E27FC236}">
                <ns2:creationId id="{A79B3DB9-2EAB-4EDE-AF27-B3DC2692024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70ED87BD-79F1-40EA-AF82-6E1AFD0735DA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端侧推理：应用场景与能力建设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F7C87DB2-2022-40A9-9402-E317864DAAC8}"/>
              </ns1:ext>
            </ns1:extLst>
          </ns0:cNvPr>
          <ns0:cNvSpPr>
            <ns1:spLocks noGrp="1"/>
          </ns0:cNvSpPr>
          <ns0:nvPr/>
        </ns0:nvSpPr>
        <ns0:spPr>
          <ns1:xfrm>
            <ns1:off x="312958" y="990600"/>
            <ns1:ext cx="1718146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38EDCC32-F758-40AA-8DF6-A35589773A16}"/>
              </ns1:ext>
            </ns1:extLst>
          </ns0:cNvPr>
          <ns0:cNvSpPr>
            <ns1:spLocks noGrp="1"/>
          </ns0:cNvSpPr>
          <ns0:nvPr/>
        </ns0:nvSpPr>
        <ns0:spPr>
          <ns1:xfrm>
            <ns1:off x="365824" y="1066800"/>
            <ns1:ext cx="1612414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08580A70-22D1-4F1D-82AA-D1F440524650}"/>
              </ns1:ext>
            </ns1:extLst>
          </ns0:cNvPr>
          <ns0:cNvSpPr>
            <ns1:spLocks noGrp="1"/>
          </ns0:cNvSpPr>
          <ns0:nvPr/>
        </ns0:nvSpPr>
        <ns0:spPr>
          <ns1:xfrm>
            <ns1:off x="365824" y="1476375"/>
            <ns1:ext cx="1612414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DGX Spark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69906815-DE14-4E55-AF8C-CDF1A699F90A}"/>
              </ns1:ext>
            </ns1:extLst>
          </ns0:cNvPr>
          <ns0:cNvSpPr>
            <ns1:spLocks noGrp="1"/>
          </ns0:cNvSpPr>
          <ns0:nvPr/>
        </ns0:nvSpPr>
        <ns0:spPr>
          <ns1:xfrm>
            <ns1:off x="365824" y="1809750"/>
            <ns1:ext cx="1612414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多用户 Agent 服务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23FA8ECD-A371-49C5-8D4D-FCA492C99B3E}"/>
              </ns1:ext>
            </ns1:extLst>
          </ns0:cNvPr>
          <ns0:cNvSpPr>
            <ns1:spLocks noGrp="1"/>
          </ns0:cNvSpPr>
          <ns0:nvPr/>
        </ns0:nvSpPr>
        <ns0:spPr>
          <ns1:xfrm>
            <ns1:off x="2169877" y="990600"/>
            <ns1:ext cx="1718146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52" name="">
            <ns1:extLst>
              <ns1:ext uri="{FF2B5EF4-FFF2-40B4-BE49-F238E27FC236}">
                <ns2:creationId id="{83129DF4-7CF8-4C71-98BB-C5381D06DDA9}"/>
              </ns1:ext>
            </ns1:extLst>
          </ns0:cNvPr>
          <ns0:cNvSpPr>
            <ns1:spLocks noGrp="1"/>
          </ns0:cNvSpPr>
          <ns0:nvPr/>
        </ns0:nvSpPr>
        <ns0:spPr>
          <ns1:xfrm>
            <ns1:off x="2222743" y="1066800"/>
            <ns1:ext cx="1612414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8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D8784A12-F9C2-4644-BC4B-9BCCF95F91CD}"/>
              </ns1:ext>
            </ns1:extLst>
          </ns0:cNvPr>
          <ns0:cNvSpPr>
            <ns1:spLocks noGrp="1"/>
          </ns0:cNvSpPr>
          <ns0:nvPr/>
        </ns0:nvSpPr>
        <ns0:spPr>
          <ns1:xfrm>
            <ns1:off x="2222743" y="1476375"/>
            <ns1:ext cx="1612414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RTX Spark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0AB5AFF9-5070-4DB2-9A51-51B02E165687}"/>
              </ns1:ext>
            </ns1:extLst>
          </ns0:cNvPr>
          <ns0:cNvSpPr>
            <ns1:spLocks noGrp="1"/>
          </ns0:cNvSpPr>
          <ns0:nvPr/>
        </ns0:nvSpPr>
        <ns0:spPr>
          <ns1:xfrm>
            <ns1:off x="2222743" y="1809750"/>
            <ns1:ext cx="1612414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个人助手与本地 AI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F5A0AB5A-1BE9-4589-ABE1-E3AD5F781B1E}"/>
              </ns1:ext>
            </ns1:extLst>
          </ns0:cNvPr>
          <ns0:cNvSpPr>
            <ns1:spLocks noGrp="1"/>
          </ns0:cNvSpPr>
          <ns0:nvPr/>
        </ns0:nvSpPr>
        <ns0:spPr>
          <ns1:xfrm>
            <ns1:off x="4026796" y="990600"/>
            <ns1:ext cx="1718146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56" name="">
            <ns1:extLst>
              <ns1:ext uri="{FF2B5EF4-FFF2-40B4-BE49-F238E27FC236}">
                <ns2:creationId id="{1D9E017B-47D8-4DC3-9189-E107FBC3CFE3}"/>
              </ns1:ext>
            </ns1:extLst>
          </ns0:cNvPr>
          <ns0:cNvSpPr>
            <ns1:spLocks noGrp="1"/>
          </ns0:cNvSpPr>
          <ns0:nvPr/>
        </ns0:nvSpPr>
        <ns0:spPr>
          <ns1:xfrm>
            <ns1:off x="4079662" y="1066800"/>
            <ns1:ext cx="1612414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 / 具身 / 无人车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00D99603-1E20-4323-BE8B-703C147C7429}"/>
              </ns1:ext>
            </ns1:extLst>
          </ns0:cNvPr>
          <ns0:cNvSpPr>
            <ns1:spLocks noGrp="1"/>
          </ns0:cNvSpPr>
          <ns0:nvPr/>
        </ns0:nvSpPr>
        <ns0:spPr>
          <ns1:xfrm>
            <ns1:off x="4079662" y="1476375"/>
            <ns1:ext cx="1612414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AGX Orin / Thor</ns1:t>
            </ns1:r>
          </ns1:p>
        </ns0:txBody>
      </ns0:sp>
      <ns0:sp>
        <ns0:nvSpPr>
          <ns0:cNvPr id="58" name="">
            <ns1:extLst>
              <ns1:ext uri="{FF2B5EF4-FFF2-40B4-BE49-F238E27FC236}">
                <ns2:creationId id="{141ED11F-C465-4338-8B15-4C3D2F1DE20A}"/>
              </ns1:ext>
            </ns1:extLst>
          </ns0:cNvPr>
          <ns0:cNvSpPr>
            <ns1:spLocks noGrp="1"/>
          </ns0:cNvSpPr>
          <ns0:nvPr/>
        </ns0:nvSpPr>
        <ns0:spPr>
          <ns1:xfrm>
            <ns1:off x="4079662" y="1809750"/>
            <ns1:ext cx="1612414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多模态与实时推理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5E956310-BF0D-468B-99E0-5C8CDC5D9B0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2333625"/>
            <ns1:ext cx="5524500" cy="2324100"/>
          </ns1:xfrm>
          <ns1:prstGeom prst="roundRect">
            <ns1:avLst>
              <ns1:gd name="adj" fmla="val 7377"/>
            </ns1:avLst>
          </ns1:prstGeom>
          <ns1:solidFill>
            <ns1:srgbClr val="FFFFFF"/>
          </ns1:solidFill>
          <ns1:ln w="12383">
            <ns1:solidFill>
              <ns1:srgbClr val="333333"/>
            </ns1:solidFill>
          </ns1:ln>
        </ns0:spPr>
      </ns0:sp>
      <ns0:sp>
        <ns0:nvSpPr>
          <ns0:cNvPr id="60" name="">
            <ns1:extLst>
              <ns1:ext uri="{FF2B5EF4-FFF2-40B4-BE49-F238E27FC236}">
                <ns2:creationId id="{ADEC3A80-FEA0-41C4-9B14-C9CAA0BF4861}"/>
              </ns1:ext>
            </ns1:extLst>
          </ns0:cNvPr>
          <ns0:cNvSpPr>
            <ns1:spLocks noGrp="1"/>
          </ns0:cNvSpPr>
          <ns0:nvPr/>
        </ns0:nvSpPr>
        <ns0:spPr>
          <ns1:xfrm>
            <ns1:off x="379040" y="2371725"/>
            <ns1:ext cx="5286603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端侧推理工作主线</ns1:t>
            </ns1:r>
          </ns1:p>
        </ns0:txBody>
      </ns0:sp>
      <ns0:sp>
        <ns0:nvSpPr>
          <ns0:cNvPr id="61" name="">
            <ns1:extLst>
              <ns1:ext uri="{FF2B5EF4-FFF2-40B4-BE49-F238E27FC236}">
                <ns2:creationId id="{15306518-0213-4EB5-B1D7-6AE4F8965C5D}"/>
              </ns1:ext>
            </ns1:extLst>
          </ns0:cNvPr>
          <ns0:cNvSpPr>
            <ns1:spLocks noGrp="1"/>
          </ns0:cNvSpPr>
          <ns0:nvPr/>
        </ns0:nvSpPr>
        <ns0:spPr>
          <ns1:xfrm>
            <ns1:off x="379040" y="2724150"/>
            <ns1:ext cx="1585981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197ADFF1-019E-48B5-96D2-D6F468F5D5FD}"/>
              </ns1:ext>
            </ns1:extLst>
          </ns0:cNvPr>
          <ns0:cNvSpPr>
            <ns1:spLocks noGrp="1"/>
          </ns0:cNvSpPr>
          <ns0:nvPr/>
        </ns0:nvSpPr>
        <ns0:spPr>
          <ns1:xfrm>
            <ns1:off x="418690" y="2809875"/>
            <ns1:ext cx="1506682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模型与引擎适配</ns1:t>
            </ns1:r>
          </ns1:p>
        </ns0:txBody>
      </ns0:sp>
      <ns0:sp>
        <ns0:nvSpPr>
          <ns0:cNvPr id="63" name="">
            <ns1:extLst>
              <ns1:ext uri="{FF2B5EF4-FFF2-40B4-BE49-F238E27FC236}">
                <ns2:creationId id="{79629D1C-EE12-4892-9AE9-9D1C148B4521}"/>
              </ns1:ext>
            </ns1:extLst>
          </ns0:cNvPr>
          <ns0:cNvSpPr>
            <ns1:spLocks noGrp="1"/>
          </ns0:cNvSpPr>
          <ns0:nvPr/>
        </ns0:nvSpPr>
        <ns0:spPr>
          <ns1:xfrm>
            <ns1:off x="497989" y="31908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18066E9C-489D-4604-9539-4A277A7CF926}"/>
              </ns1:ext>
            </ns1:extLst>
          </ns0:cNvPr>
          <ns0:cNvSpPr>
            <ns1:spLocks noGrp="1"/>
          </ns0:cNvSpPr>
          <ns0:nvPr/>
        </ns0:nvSpPr>
        <ns0:spPr>
          <ns1:xfrm>
            <ns1:off x="531030" y="31908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引擎选型与接入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CD0D8E38-EF71-490C-993C-91F28B4D2712}"/>
              </ns1:ext>
            </ns1:extLst>
          </ns0:cNvPr>
          <ns0:cNvSpPr>
            <ns1:spLocks noGrp="1"/>
          </ns0:cNvSpPr>
          <ns0:nvPr/>
        </ns0:nvSpPr>
        <ns0:spPr>
          <ns1:xfrm>
            <ns1:off x="497989" y="359092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A499F4A2-ADA0-46D3-B9FD-0CDBAE5730E1}"/>
              </ns1:ext>
            </ns1:extLst>
          </ns0:cNvPr>
          <ns0:cNvSpPr>
            <ns1:spLocks noGrp="1"/>
          </ns0:cNvSpPr>
          <ns0:nvPr/>
        </ns0:nvSpPr>
        <ns0:spPr>
          <ns1:xfrm>
            <ns1:off x="531030" y="359092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LLM / VLM / VLA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38D9FDE9-23D9-4E79-9745-11C37C793D10}"/>
              </ns1:ext>
            </ns1:extLst>
          </ns0:cNvPr>
          <ns0:cNvSpPr>
            <ns1:spLocks noGrp="1"/>
          </ns0:cNvSpPr>
          <ns0:nvPr/>
        </ns0:nvSpPr>
        <ns0:spPr>
          <ns1:xfrm>
            <ns1:off x="497989" y="39909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7606CE98-FA3F-4F43-AE22-2FC238BD5FCC}"/>
              </ns1:ext>
            </ns1:extLst>
          </ns0:cNvPr>
          <ns0:cNvSpPr>
            <ns1:spLocks noGrp="1"/>
          </ns0:cNvSpPr>
          <ns0:nvPr/>
        </ns0:nvSpPr>
        <ns0:spPr>
          <ns1:xfrm>
            <ns1:off x="531030" y="39909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精度与兼容验证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6F6AB058-710D-4040-87A6-C565A589C33C}"/>
              </ns1:ext>
            </ns1:extLst>
          </ns0:cNvPr>
          <ns0:cNvSpPr>
            <ns1:spLocks noGrp="1"/>
          </ns0:cNvSpPr>
          <ns0:nvPr/>
        </ns0:nvSpPr>
        <ns0:spPr>
          <ns1:xfrm>
            <ns1:off x="2235960" y="2724150"/>
            <ns1:ext cx="1585981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BC7B3F6C-271D-4CBB-8991-55BBF1B6EDDC}"/>
              </ns1:ext>
            </ns1:extLst>
          </ns0:cNvPr>
          <ns0:cNvSpPr>
            <ns1:spLocks noGrp="1"/>
          </ns0:cNvSpPr>
          <ns0:nvPr/>
        </ns0:nvSpPr>
        <ns0:spPr>
          <ns1:xfrm>
            <ns1:off x="2275609" y="2809875"/>
            <ns1:ext cx="1506682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资源与性能优化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6AE38BB6-9114-40CD-A0CC-C485981E0782}"/>
              </ns1:ext>
            </ns1:extLst>
          </ns0:cNvPr>
          <ns0:cNvSpPr>
            <ns1:spLocks noGrp="1"/>
          </ns0:cNvSpPr>
          <ns0:nvPr/>
        </ns0:nvSpPr>
        <ns0:spPr>
          <ns1:xfrm>
            <ns1:off x="2354908" y="31908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EC729BB1-236D-48AA-B89E-ADB458175D4E}"/>
              </ns1:ext>
            </ns1:extLst>
          </ns0:cNvPr>
          <ns0:cNvSpPr>
            <ns1:spLocks noGrp="1"/>
          </ns0:cNvSpPr>
          <ns0:nvPr/>
        </ns0:nvSpPr>
        <ns0:spPr>
          <ns1:xfrm>
            <ns1:off x="2387949" y="31908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权重与 KV 压缩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F2348BF0-0437-445E-AC49-F9464F1664C7}"/>
              </ns1:ext>
            </ns1:extLst>
          </ns0:cNvPr>
          <ns0:cNvSpPr>
            <ns1:spLocks noGrp="1"/>
          </ns0:cNvSpPr>
          <ns0:nvPr/>
        </ns0:nvSpPr>
        <ns0:spPr>
          <ns1:xfrm>
            <ns1:off x="2354908" y="359092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4" name="">
            <ns1:extLst>
              <ns1:ext uri="{FF2B5EF4-FFF2-40B4-BE49-F238E27FC236}">
                <ns2:creationId id="{DEF48D5F-F7E7-4F89-98B2-790E70F5CFF6}"/>
              </ns1:ext>
            </ns1:extLst>
          </ns0:cNvPr>
          <ns0:cNvSpPr>
            <ns1:spLocks noGrp="1"/>
          </ns0:cNvSpPr>
          <ns0:nvPr/>
        </ns0:nvSpPr>
        <ns0:spPr>
          <ns1:xfrm>
            <ns1:off x="2387949" y="359092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量化与图算子优化</ns1:t>
            </ns1:r>
          </ns1:p>
        </ns0:txBody>
      </ns0:sp>
      <ns0:sp>
        <ns0:nvSpPr>
          <ns0:cNvPr id="75" name="">
            <ns1:extLst>
              <ns1:ext uri="{FF2B5EF4-FFF2-40B4-BE49-F238E27FC236}">
                <ns2:creationId id="{C118394B-EF05-4A51-9395-DA42216DEF7A}"/>
              </ns1:ext>
            </ns1:extLst>
          </ns0:cNvPr>
          <ns0:cNvSpPr>
            <ns1:spLocks noGrp="1"/>
          </ns0:cNvSpPr>
          <ns0:nvPr/>
        </ns0:nvSpPr>
        <ns0:spPr>
          <ns1:xfrm>
            <ns1:off x="2354908" y="39909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6" name="">
            <ns1:extLst>
              <ns1:ext uri="{FF2B5EF4-FFF2-40B4-BE49-F238E27FC236}">
                <ns2:creationId id="{4E76EA98-ABE3-43C6-BFA1-4D101758EF75}"/>
              </ns1:ext>
            </ns1:extLst>
          </ns0:cNvPr>
          <ns0:cNvSpPr>
            <ns1:spLocks noGrp="1"/>
          </ns0:cNvSpPr>
          <ns0:nvPr/>
        </ns0:nvSpPr>
        <ns0:spPr>
          <ns1:xfrm>
            <ns1:off x="2387949" y="39909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内存与异构协同</ns1:t>
            </ns1:r>
          </ns1:p>
        </ns0:txBody>
      </ns0:sp>
      <ns0:sp>
        <ns0:nvSpPr>
          <ns0:cNvPr id="77" name="">
            <ns1:extLst>
              <ns1:ext uri="{FF2B5EF4-FFF2-40B4-BE49-F238E27FC236}">
                <ns2:creationId id="{7ED2D44B-337B-4F5F-A94C-72FED9D37AA3}"/>
              </ns1:ext>
            </ns1:extLst>
          </ns0:cNvPr>
          <ns0:cNvSpPr>
            <ns1:spLocks noGrp="1"/>
          </ns0:cNvSpPr>
          <ns0:nvPr/>
        </ns0:nvSpPr>
        <ns0:spPr>
          <ns1:xfrm>
            <ns1:off x="4092879" y="2724150"/>
            <ns1:ext cx="1585981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78" name="">
            <ns1:extLst>
              <ns1:ext uri="{FF2B5EF4-FFF2-40B4-BE49-F238E27FC236}">
                <ns2:creationId id="{1A2E2E46-A5D6-42CA-905F-FBA12FEF4CBC}"/>
              </ns1:ext>
            </ns1:extLst>
          </ns0:cNvPr>
          <ns0:cNvSpPr>
            <ns1:spLocks noGrp="1"/>
          </ns0:cNvSpPr>
          <ns0:nvPr/>
        </ns0:nvSpPr>
        <ns0:spPr>
          <ns1:xfrm>
            <ns1:off x="4132528" y="2809875"/>
            <ns1:ext cx="1506682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AI 工程能力沉淀</ns1:t>
            </ns1:r>
          </ns1:p>
        </ns0:txBody>
      </ns0:sp>
      <ns0:sp>
        <ns0:nvSpPr>
          <ns0:cNvPr id="79" name="">
            <ns1:extLst>
              <ns1:ext uri="{FF2B5EF4-FFF2-40B4-BE49-F238E27FC236}">
                <ns2:creationId id="{0356D03B-BDD0-4BCC-B433-5085F6CDA016}"/>
              </ns1:ext>
            </ns1:extLst>
          </ns0:cNvPr>
          <ns0:cNvSpPr>
            <ns1:spLocks noGrp="1"/>
          </ns0:cNvSpPr>
          <ns0:nvPr/>
        </ns0:nvSpPr>
        <ns0:spPr>
          <ns1:xfrm>
            <ns1:off x="4211827" y="31908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0" name="">
            <ns1:extLst>
              <ns1:ext uri="{FF2B5EF4-FFF2-40B4-BE49-F238E27FC236}">
                <ns2:creationId id="{43E1C3B3-0A20-4F2A-974C-25FAFAE18759}"/>
              </ns1:ext>
            </ns1:extLst>
          </ns0:cNvPr>
          <ns0:cNvSpPr>
            <ns1:spLocks noGrp="1"/>
          </ns0:cNvSpPr>
          <ns0:nvPr/>
        </ns0:nvSpPr>
        <ns0:spPr>
          <ns1:xfrm>
            <ns1:off x="4244869" y="31908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模型适配与调优</ns1:t>
            </ns1:r>
          </ns1:p>
        </ns0:txBody>
      </ns0:sp>
      <ns0:sp>
        <ns0:nvSpPr>
          <ns0:cNvPr id="81" name="">
            <ns1:extLst>
              <ns1:ext uri="{FF2B5EF4-FFF2-40B4-BE49-F238E27FC236}">
                <ns2:creationId id="{0897D84A-A4B6-4E8F-B7CE-111C87C1B9DE}"/>
              </ns1:ext>
            </ns1:extLst>
          </ns0:cNvPr>
          <ns0:cNvSpPr>
            <ns1:spLocks noGrp="1"/>
          </ns0:cNvSpPr>
          <ns0:nvPr/>
        </ns0:nvSpPr>
        <ns0:spPr>
          <ns1:xfrm>
            <ns1:off x="4211827" y="359092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2" name="">
            <ns1:extLst>
              <ns1:ext uri="{FF2B5EF4-FFF2-40B4-BE49-F238E27FC236}">
                <ns2:creationId id="{5136A05F-1D42-446A-91A7-AFC452E96FF0}"/>
              </ns1:ext>
            </ns1:extLst>
          </ns0:cNvPr>
          <ns0:cNvSpPr>
            <ns1:spLocks noGrp="1"/>
          </ns0:cNvSpPr>
          <ns0:nvPr/>
        </ns0:nvSpPr>
        <ns0:spPr>
          <ns1:xfrm>
            <ns1:off x="4244869" y="359092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精度与算子开发</ns1:t>
            </ns1:r>
          </ns1:p>
        </ns0:txBody>
      </ns0:sp>
      <ns0:sp>
        <ns0:nvSpPr>
          <ns0:cNvPr id="83" name="">
            <ns1:extLst>
              <ns1:ext uri="{FF2B5EF4-FFF2-40B4-BE49-F238E27FC236}">
                <ns2:creationId id="{BD28429C-9CD3-479D-82BE-F019126810EF}"/>
              </ns1:ext>
            </ns1:extLst>
          </ns0:cNvPr>
          <ns0:cNvSpPr>
            <ns1:spLocks noGrp="1"/>
          </ns0:cNvSpPr>
          <ns0:nvPr/>
        </ns0:nvSpPr>
        <ns0:spPr>
          <ns1:xfrm>
            <ns1:off x="4211827" y="3990975"/>
            <ns1:ext cx="1348084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4" name="">
            <ns1:extLst>
              <ns1:ext uri="{FF2B5EF4-FFF2-40B4-BE49-F238E27FC236}">
                <ns2:creationId id="{C7CED88B-8E6A-43AA-8F35-21FBC3F949DD}"/>
              </ns1:ext>
            </ns1:extLst>
          </ns0:cNvPr>
          <ns0:cNvSpPr>
            <ns1:spLocks noGrp="1"/>
          </ns0:cNvSpPr>
          <ns0:nvPr/>
        </ns0:nvSpPr>
        <ns0:spPr>
          <ns1:xfrm>
            <ns1:off x="4244869" y="3990975"/>
            <ns1:ext cx="1282001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Skills 沉淀复用</ns1:t>
            </ns1:r>
          </ns1:p>
        </ns0:txBody>
      </ns0:sp>
      <ns0:sp>
        <ns0:nvSpPr>
          <ns0:cNvPr id="85" name="">
            <ns1:extLst>
              <ns1:ext uri="{FF2B5EF4-FFF2-40B4-BE49-F238E27FC236}">
                <ns2:creationId id="{398CF8BC-5A83-45C5-835D-F16A7327296C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10125"/>
            <ns1:ext cx="5524500" cy="390525"/>
          </ns1:xfrm>
          <ns1:prstGeom prst="roundRect">
            <ns1:avLst>
              <ns1:gd name="adj" fmla="val 43902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86" name="">
            <ns1:extLst>
              <ns1:ext uri="{FF2B5EF4-FFF2-40B4-BE49-F238E27FC236}">
                <ns2:creationId id="{B3297EB6-89A1-4F2A-8198-2118909D514B}"/>
              </ns1:ext>
            </ns1:extLst>
          </ns0:cNvPr>
          <ns0:cNvSpPr>
            <ns1:spLocks noGrp="1"/>
          </ns0:cNvSpPr>
          <ns0:nvPr/>
        </ns0:nvSpPr>
        <ns0:spPr>
          <ns1:xfrm>
            <ns1:off x="312958" y="4810125"/>
            <ns1:ext cx="5431984" cy="3905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CANN</ns1:t>
            </ns1:r>
          </ns1:p>
        </ns0:txBody>
      </ns0:sp>
      <ns0:sp>
        <ns0:nvSpPr>
          <ns0:cNvPr id="87" name="">
            <ns1:extLst>
              <ns1:ext uri="{FF2B5EF4-FFF2-40B4-BE49-F238E27FC236}">
                <ns2:creationId id="{2F2441F5-168C-4895-8C8C-7698AD4BB043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305425"/>
            <ns1:ext cx="5524500" cy="390525"/>
          </ns1:xfrm>
          <ns1:prstGeom prst="roundRect">
            <ns1:avLst>
              <ns1:gd name="adj" fmla="val 43902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88" name="">
            <ns1:extLst>
              <ns1:ext uri="{FF2B5EF4-FFF2-40B4-BE49-F238E27FC236}">
                <ns2:creationId id="{2A09D939-1E77-447D-9F05-B87CB02209AB}"/>
              </ns1:ext>
            </ns1:extLst>
          </ns0:cNvPr>
          <ns0:cNvSpPr>
            <ns1:spLocks noGrp="1"/>
          </ns0:cNvSpPr>
          <ns0:nvPr/>
        </ns0:nvSpPr>
        <ns0:spPr>
          <ns1:xfrm>
            <ns1:off x="312958" y="5305425"/>
            <ns1:ext cx="5431984" cy="3905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11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Ubuntu / openEuler / Windows</ns1:t>
            </ns1:r>
          </ns1:p>
        </ns0:txBody>
      </ns0:sp>
      <ns0:sp>
        <ns0:nvSpPr>
          <ns0:cNvPr id="89" name="">
            <ns1:extLst>
              <ns1:ext uri="{FF2B5EF4-FFF2-40B4-BE49-F238E27FC236}">
                <ns2:creationId id="{CC8C8A44-7C46-4F19-BD24-BBC9B7C69BF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800725"/>
            <ns1:ext cx="5524500" cy="342900"/>
          </ns1:xfrm>
          <ns1:prstGeom prst="roundRect">
            <ns1:avLst>
              <ns1:gd name="adj" fmla="val 50000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90" name="">
            <ns1:extLst>
              <ns1:ext uri="{FF2B5EF4-FFF2-40B4-BE49-F238E27FC236}">
                <ns2:creationId id="{987439B1-418D-49F4-ACEC-BA2ECC3435F1}"/>
              </ns1:ext>
            </ns1:extLst>
          </ns0:cNvPr>
          <ns0:cNvSpPr>
            <ns1:spLocks noGrp="1"/>
          </ns0:cNvSpPr>
          <ns0:nvPr/>
        </ns0:nvSpPr>
        <ns0:spPr>
          <ns1:xfrm>
            <ns1:off x="312958" y="5800725"/>
            <ns1:ext cx="5431984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68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68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68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固件 / 驱动</ns1:t>
            </ns1:r>
          </ns1:p>
        </ns0:txBody>
      </ns0:sp>
      <ns0:sp>
        <ns0:nvSpPr>
          <ns0:cNvPr id="91" name="">
            <ns1:extLst>
              <ns1:ext uri="{FF2B5EF4-FFF2-40B4-BE49-F238E27FC236}">
                <ns2:creationId id="{58C9C0D3-89A4-4FD5-8112-9D9BF592432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6248400"/>
            <ns1:ext cx="5524500" cy="333375"/>
          </ns1:xfrm>
          <ns1:prstGeom prst="roundRect">
            <ns1:avLst>
              <ns1:gd name="adj" fmla="val 50000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92" name="">
            <ns1:extLst>
              <ns1:ext uri="{FF2B5EF4-FFF2-40B4-BE49-F238E27FC236}">
                <ns2:creationId id="{741357FF-445F-4180-9D8E-0128A9E7811E}"/>
              </ns1:ext>
            </ns1:extLst>
          </ns0:cNvPr>
          <ns0:cNvSpPr>
            <ns1:spLocks noGrp="1"/>
          </ns0:cNvSpPr>
          <ns0:nvPr/>
        </ns0:nvSpPr>
        <ns0:spPr>
          <ns1:xfrm>
            <ns1:off x="312958" y="6248400"/>
            <ns1:ext cx="5431984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97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197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310B / 310P / 310B-Next / 950PR-Lite / 310P-Next</ns1:t>
            </ns1:r>
          </ns1:p>
        </ns0:txBody>
      </ns0:sp>
      <ns0:sp>
        <ns0:nvSpPr>
          <ns0:cNvPr id="93" name="">
            <ns1:extLst>
              <ns1:ext uri="{FF2B5EF4-FFF2-40B4-BE49-F238E27FC236}">
                <ns2:creationId id="{3BD66A19-F46A-47C1-827D-4A4469D109A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94" name="">
            <ns1:extLst>
              <ns1:ext uri="{FF2B5EF4-FFF2-40B4-BE49-F238E27FC236}">
                <ns2:creationId id="{7E9E0822-02B5-4935-985F-585A624B494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高性能：受限资源高效推理</ns1:t>
            </ns1:r>
          </ns1:p>
        </ns0:txBody>
      </ns0:sp>
      <ns0:sp>
        <ns0:nvSpPr>
          <ns0:cNvPr id="95" name="">
            <ns1:extLst>
              <ns1:ext uri="{FF2B5EF4-FFF2-40B4-BE49-F238E27FC236}">
                <ns2:creationId id="{C375C6AE-35DA-4266-98FD-57B0B9642F7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在内存、功耗与时延约束下，</ns1:t>
            </ns1:r>
          </ns1:p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提升推理速度与并发吞吐。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FFED2320-A9FC-43E5-B6F9-37D01C83214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易用性：跨平台便捷迁移</ns1:t>
            </ns1:r>
          </ns1:p>
        </ns0:txBody>
      </ns0:sp>
      <ns0:sp>
        <ns0:nvSpPr>
          <ns0:cNvPr id="97" name="">
            <ns1:extLst>
              <ns1:ext uri="{FF2B5EF4-FFF2-40B4-BE49-F238E27FC236}">
                <ns2:creationId id="{B9B6D1A0-39B5-47FC-A9D1-4DABE6AE18F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支持跨框架、模型与硬件形态，</ns1:t>
            </ns1:r>
          </ns1:p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降低适配和迁移成本。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AD43DA08-2383-49F1-B357-3E5F08CB259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32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工程能力：Skills 沉淀复用</ns1:t>
            </ns1:r>
          </ns1:p>
        </ns0:txBody>
      </ns0:sp>
      <ns0:sp>
        <ns0:nvSpPr>
          <ns0:cNvPr id="99" name="">
            <ns1:extLst>
              <ns1:ext uri="{FF2B5EF4-FFF2-40B4-BE49-F238E27FC236}">
                <ns2:creationId id="{69A89F86-2341-4E5B-99B5-6AB11404775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沉淀适配、调优与精度定位 Skills，</ns1:t>
            </ns1:r>
          </ns1:p>
          <ns1:p>
            <ns1:pPr algn="l">
              <ns1:buNone/>
              <ns1:def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8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实现快速迁移与工程能力复用。</ns1:t>
            </ns1:r>
          </ns1:p>
        </ns0:txBody>
      </ns0:sp>
      <ns0:sp>
        <ns0:nvSpPr>
          <ns0:cNvPr id="100" name="">
            <ns1:extLst>
              <ns1:ext uri="{FF2B5EF4-FFF2-40B4-BE49-F238E27FC236}">
                <ns2:creationId id="{1C1CD289-5D9E-4D4F-8157-B0D976F445B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36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101" name="">
            <ns1:extLst>
              <ns1:ext uri="{FF2B5EF4-FFF2-40B4-BE49-F238E27FC236}">
                <ns2:creationId id="{AC1CCC30-392C-4D0F-9057-383305072066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场景差异化选型</ns1:t>
            </ns1:r>
          </ns1:p>
        </ns0:txBody>
      </ns0:sp>
      <ns0:sp>
        <ns0:nvSpPr>
          <ns0:cNvPr id="102" name="">
            <ns1:extLst>
              <ns1:ext uri="{FF2B5EF4-FFF2-40B4-BE49-F238E27FC236}">
                <ns2:creationId id="{8A18B7E1-49D1-4300-B0A8-C3C13EDD57F6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结合业务负载与资源约束，</ns1:t>
            </ns1:r>
          </ns1:p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按场景选择合适的推理框架。</ns1:t>
            </ns1:r>
          </ns1:p>
        </ns0:txBody>
      </ns0:sp>
      <ns0:sp>
        <ns0:nvSpPr>
          <ns0:cNvPr id="103" name="">
            <ns1:extLst>
              <ns1:ext uri="{FF2B5EF4-FFF2-40B4-BE49-F238E27FC236}">
                <ns2:creationId id="{75D89D5E-CDD0-4725-8786-2FB49BA84D40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设备归一化适配</ns1:t>
            </ns1:r>
          </ns1:p>
        </ns0:txBody>
      </ns0:sp>
      <ns0:sp>
        <ns0:nvSpPr>
          <ns0:cNvPr id="104" name="">
            <ns1:extLst>
              <ns1:ext uri="{FF2B5EF4-FFF2-40B4-BE49-F238E27FC236}">
                <ns2:creationId id="{AA34B4CB-88D5-4163-9A4D-B1D618854044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屏蔽 EP/RC 形态与芯片差异，</ns1:t>
            </ns1:r>
          </ns1:p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提供统一接口，上层应用无感。</ns1:t>
            </ns1:r>
          </ns1:p>
        </ns0:txBody>
      </ns0:sp>
      <ns0:sp>
        <ns0:nvSpPr>
          <ns0:cNvPr id="105" name="">
            <ns1:extLst>
              <ns1:ext uri="{FF2B5EF4-FFF2-40B4-BE49-F238E27FC236}">
                <ns2:creationId id="{C54C79BA-B690-4B21-85B1-E72211E4E12A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48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Skills 常态化应用</ns1:t>
            </ns1:r>
          </ns1:p>
        </ns0:txBody>
      </ns0:sp>
      <ns0:sp>
        <ns0:nvSpPr>
          <ns0:cNvPr id="106" name="">
            <ns1:extLst>
              <ns1:ext uri="{FF2B5EF4-FFF2-40B4-BE49-F238E27FC236}">
                <ns2:creationId id="{B445A701-9DFA-48B3-98E1-C4C00C646B6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将耗时排查流程沉淀为 Skills，</ns1:t>
            </ns1:r>
          </ns1:p>
          <ns1:p>
            <ns1:pPr algn="l">
              <ns1:buNone/>
              <ns1:def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96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由 Agent 自动执行，释放人力。</ns1:t>
            </ns1:r>
          </ns1:p>
        </ns0:txBody>
      </ns0:sp>
      <ns0:sp>
        <ns0:nvSpPr>
          <ns0:cNvPr id="107" name="">
            <ns1:extLst>
              <ns1:ext uri="{FF2B5EF4-FFF2-40B4-BE49-F238E27FC236}">
                <ns2:creationId id="{0BCD6CCF-3ECE-4709-B960-6D82020B1FF8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05</ns1:t>
            </ns1:r>
          </ns1:p>
        </ns0:txBody>
      </ns0:sp>
    </ns0:spTree>
    <ns0:extLst>
      <ns0:ext uri="{BB962C8B-B14F-4D97-AF65-F5344CB8AC3E}">
        <ns3:creationId val="514720497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0" name="">
            <ns1:extLst>
              <ns1:ext uri="{FF2B5EF4-FFF2-40B4-BE49-F238E27FC236}">
                <ns2:creationId id="{C923DAE3-38D9-40B3-91F0-361E388F995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" name="">
            <ns1:extLst>
              <ns1:ext uri="{FF2B5EF4-FFF2-40B4-BE49-F238E27FC236}">
                <ns2:creationId id="{A11FB5E2-D221-4EF9-814F-DA39FDFF2A88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具身智能与无人车：推理框架与加速能力建设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5EE8C5B7-829A-4B2B-93AB-7494BE2843F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81075"/>
            <ns1:ext cx="5524500" cy="1228725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4" name="">
            <ns1:extLst>
              <ns1:ext uri="{FF2B5EF4-FFF2-40B4-BE49-F238E27FC236}">
                <ns2:creationId id="{630711C8-A13A-4FA6-9BED-C2C3816F703A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0191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业务闭环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93803A09-2957-42EF-810E-70FFD40C1092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34302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CF70E6AA-C565-482F-9E54-BA2B7C6C0389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7" name="">
            <ns1:extLst>
              <ns1:ext uri="{FF2B5EF4-FFF2-40B4-BE49-F238E27FC236}">
                <ns2:creationId id="{E7F97365-CB39-4FA6-B27E-40B92082B7E2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视觉 / 状态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40EE1F81-C89B-4723-AD32-5DC78573450E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9DBD398-C67A-45FD-AC6D-CF86C3322A9A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0" name="">
            <ns1:extLst>
              <ns1:ext uri="{FF2B5EF4-FFF2-40B4-BE49-F238E27FC236}">
                <ns2:creationId id="{2B44D2F5-7C34-4312-8C06-53CE992094D9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VLA / 策略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ABEFCD2F-810E-48AF-A48E-3FBBB5B500B0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EAA35553-60E6-4A83-9907-F100EF6BE4B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3" name="">
            <ns1:extLst>
              <ns1:ext uri="{FF2B5EF4-FFF2-40B4-BE49-F238E27FC236}">
                <ns2:creationId id="{66AE3816-38CA-4755-9C60-0F8BDF7AF4C1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动作 / 反馈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3FA86042-65EF-4EA9-BC72-A4DCA60D1600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78117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42996EE1-B13C-48A6-AB08-2F410D18551D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6" name="">
            <ns1:extLst>
              <ns1:ext uri="{FF2B5EF4-FFF2-40B4-BE49-F238E27FC236}">
                <ns2:creationId id="{A8CBDCB0-FEF8-4C1C-9519-D825DB9564E7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多传感输入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C848D9A6-93C4-43BD-958F-9B210DE69686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8" name="">
            <ns1:extLst>
              <ns1:ext uri="{FF2B5EF4-FFF2-40B4-BE49-F238E27FC236}">
                <ns2:creationId id="{5F60B350-C137-4B9A-8043-B3A8E91DDACC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9" name="">
            <ns1:extLst>
              <ns1:ext uri="{FF2B5EF4-FFF2-40B4-BE49-F238E27FC236}">
                <ns2:creationId id="{71066721-9229-4A20-BA0A-1CA1013E18E2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感知 / 预测</ns1:t>
            </ns1:r>
          </ns1:p>
        </ns0:txBody>
      </ns0:sp>
      <ns0:sp>
        <ns0:nvSpPr>
          <ns0:cNvPr id="20" name="">
            <ns1:extLst>
              <ns1:ext uri="{FF2B5EF4-FFF2-40B4-BE49-F238E27FC236}">
                <ns2:creationId id="{DD9E67FD-CDF7-424A-89B4-41DF671C8846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21" name="">
            <ns1:extLst>
              <ns1:ext uri="{FF2B5EF4-FFF2-40B4-BE49-F238E27FC236}">
                <ns2:creationId id="{6D2A1250-4A2B-4A98-A077-C96747349CE6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2" name="">
            <ns1:extLst>
              <ns1:ext uri="{FF2B5EF4-FFF2-40B4-BE49-F238E27FC236}">
                <ns2:creationId id="{E5063AFB-569B-46D8-B0E6-AAB8799E59A2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规划 / 控制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992CF687-1C3F-45B3-86FF-320ED6281769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2352675"/>
            <ns1:ext cx="5524500" cy="10477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24" name="">
            <ns1:extLst>
              <ns1:ext uri="{FF2B5EF4-FFF2-40B4-BE49-F238E27FC236}">
                <ns2:creationId id="{B420BDC8-CFB9-479F-8443-41EA1AFB5E50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3907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模型适配与验证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6D5CA051-5D35-42DB-A6C7-465CDE28C993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7" name="半完成状态：对角黄色区域">
            <ns1:extLst>
              <ns1:ext uri="{FF2B5EF4-FFF2-40B4-BE49-F238E27FC236}">
                <ns2:creationId id="{F0E8F2F5-A6B6-4A64-94EB-DFC7BD5F0ADF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6" name="">
            <ns1:extLst>
              <ns1:ext uri="{FF2B5EF4-FFF2-40B4-BE49-F238E27FC236}">
                <ns2:creationId id="{43BFCE5A-A293-4448-93C6-E6C4B661CC68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8" name="半完成状态：对角黄色区域">
            <ns1:extLst>
              <ns1:ext uri="{FF2B5EF4-FFF2-40B4-BE49-F238E27FC236}">
                <ns2:creationId id="{B65EC466-9827-4586-8EED-16B19A27A94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7" name="">
            <ns1:extLst>
              <ns1:ext uri="{FF2B5EF4-FFF2-40B4-BE49-F238E27FC236}">
                <ns2:creationId id="{E160F245-CC58-4F4A-9307-94D06123E89A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具身：VLM / VLA / 策略模型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94E3D4FB-5ABC-45B1-90B1-E1A805463B33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多模态理解、动作生成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805E28B3-9116-4112-8A2D-2B8C19D1A297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无人车：感知 / 占据 / 规控</ns1:t>
            </ns1:r>
          </ns1:p>
        </ns0:txBody>
      </ns0:sp>
      <ns0:sp>
        <ns0:nvSpPr>
          <ns0:cNvPr id="30" name="">
            <ns1:extLst>
              <ns1:ext uri="{FF2B5EF4-FFF2-40B4-BE49-F238E27FC236}">
                <ns2:creationId id="{052B535B-E8B4-4B62-A3A9-5A11668A3BFB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检测、BEV、点云与规划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3F901204-712E-447A-B907-83D1F2690103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543300"/>
            <ns1:ext cx="5524500" cy="12001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32" name="">
            <ns1:extLst>
              <ns1:ext uri="{FF2B5EF4-FFF2-40B4-BE49-F238E27FC236}">
                <ns2:creationId id="{42AFE61D-358E-438A-9B61-3C9713917A7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33" name="">
            <ns1:extLst>
              <ns1:ext uri="{FF2B5EF4-FFF2-40B4-BE49-F238E27FC236}">
                <ns2:creationId id="{BBE8FAAF-28E9-4889-BC11-F1DCC4C97CC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9" name="半完成状态：对角黄色区域">
            <ns1:extLst>
              <ns1:ext uri="{FF2B5EF4-FFF2-40B4-BE49-F238E27FC236}">
                <ns2:creationId id="{8973C8CB-3362-4616-9C34-A4280C2B9735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4" name="">
            <ns1:extLst>
              <ns1:ext uri="{FF2B5EF4-FFF2-40B4-BE49-F238E27FC236}">
                <ns2:creationId id="{40642992-C145-437A-A343-F7FD3A31B38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EC2DE2BD-C01C-4D74-97CF-4DE07D5E1975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多模态接入 · 动作分块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异构调度 · 低时延执行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5742A96B-0893-4175-A37E-01A2363C8E11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无人车推理执行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6C681E34-F0EF-45D6-A30E-9662ACFF6B94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前后处理 · 多模型流水线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端到端执行与调优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C5FA305E-C738-46FC-AF72-BFD3A087CFC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0" name="半完成状态：对角黄色区域">
            <ns1:extLst>
              <ns1:ext uri="{FF2B5EF4-FFF2-40B4-BE49-F238E27FC236}">
                <ns2:creationId id="{7705653B-4B32-4E41-BA2F-0DEB8B3E42F8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66A6591B-9DAF-4C3D-ABB0-627A75772CF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4914900"/>
            <ns1:ext cx="52959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统一算子与加速接口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92FA8C8F-BCDA-41C1-A927-7647DB9736F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238750"/>
            <ns1:ext cx="52959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注意力 / 扩散计算 · 目标检测 / 点云 / 稀疏计算</ns1:t>
            </ns1:r>
          </ns1:p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Ascend C 算子库 · torch 自定义算子 / aclnn 接口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D6B1F73A-DA96-401F-9532-876215202F0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1" name="半完成状态：对角黄色区域">
            <ns1:extLst>
              <ns1:ext uri="{FF2B5EF4-FFF2-40B4-BE49-F238E27FC236}">
                <ns2:creationId id="{E259FB00-A3E6-4F9B-8388-434DD3582C8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42" name="">
            <ns1:extLst>
              <ns1:ext uri="{FF2B5EF4-FFF2-40B4-BE49-F238E27FC236}">
                <ns2:creationId id="{2C3F7CFD-3CB9-45C7-8958-1A68F55528C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8197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算子开发与工程使能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9F56A4E7-F473-4C83-88CC-23DC73D062B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61245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参考实现 · 性能剖析 · 精度定位 · 调优 Skills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0BE14E79-B7EE-4168-B68C-F4CD68F81C71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DFFB74D3-CF56-45AC-BB07-C55F4397CD5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模型适配与性能优化</ns1:t>
            </ns1:r>
          </ns1:p>
        </ns0:txBody>
      </ns0:sp>
      <ns0:sp>
        <ns0:nvSpPr>
          <ns0:cNvPr id="46" name="">
            <ns1:extLst>
              <ns1:ext uri="{FF2B5EF4-FFF2-40B4-BE49-F238E27FC236}">
                <ns2:creationId id="{BCD4CC9D-7847-4F79-B676-B5F40E2252B5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覆盖主流具身与无人车模型，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适配与调优 Agent 化，面向开箱即最优。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37B0A34D-D2D5-438A-8B6E-D64FF908603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低时延感知决策闭环</ns1:t>
            </ns1:r>
          </ns1:p>
        </ns0:txBody>
      </ns0:sp>
      <ns0:sp>
        <ns0:nvSpPr>
          <ns0:cNvPr id="48" name="">
            <ns1:extLst>
              <ns1:ext uri="{FF2B5EF4-FFF2-40B4-BE49-F238E27FC236}">
                <ns2:creationId id="{74A723F8-B510-4BBF-9C2A-9E60694D8AA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统一具身与自动驾驶推理算子库，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加速端侧感知、决策与动作生成。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93B4D1AD-51EC-448C-8D18-F93D3A6A48C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易用性与伙伴自主迁移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8198AC9C-0540-4EDF-A353-D0301D25D2E4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提供标准流程、Skills 与最佳实践，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支持伙伴自主高效迁移新模型。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7073F4B2-5885-453D-8BD8-CA09D5D8070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13CD2614-F58F-4DF5-9DF0-08F43B40F1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构建统一推理加速库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00D86CD9-750C-4239-9E17-A6AF96648BBA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归集 ModelZoo 中分散的模型与推理算子，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建立统一代码仓、接口及版本管理。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8A97254F-3113-49FF-8363-DEDBB866ED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构建可复用加速技术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0BF94A94-928C-448F-8BEE-B654798C088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调研具身推理框架，实测筛选加速技术，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沉淀可复用的调度、缓存与融合组件。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5D7FBE55-411C-4598-85BA-AC4724E0171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Coding 工程化与自动验证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AFCDAFD4-646C-40FB-BB94-D219E89E724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将代码模板、测试与性能评测接入 Agent，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贯通代码修改、验证及经验回写。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507BEA1E-BA6B-45C5-8CCB-AE9012273FFC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06</ns1:t>
            </ns1:r>
          </ns1:p>
        </ns0:txBody>
      </ns0:sp>
      <ns0:sp>
        <ns0:nvSpPr>
          <ns0:cNvPr id="61" name="状态色块">
            <ns1:extLst>
              <ns1:ext uri="{FF2B5EF4-FFF2-40B4-BE49-F238E27FC236}">
                <ns2:creationId id="{764AFF75-E61F-4C6F-8F3C-4418731D7C1C}"/>
              </ns1:ext>
            </ns1:extLst>
          </ns0:cNvPr>
          <ns0:cNvSpPr>
            <ns1:spLocks noGrp="1"/>
          </ns0:cNvSpPr>
          <ns0:nvPr/>
        </ns0:nvSpPr>
        <ns0:spPr>
          <ns1:xfrm>
            <ns1:off x="2381250" y="6581775"/>
            <ns1:ext cx="238125" cy="152400"/>
          </ns1:xfrm>
          <ns1:prstGeom prst="rect">
            <ns1:avLst/>
          </ns1:prstGeom>
          <ns1:solidFill>
            <ns1:srgbClr val="FFF1CD"/>
          </ns1:solidFill>
          <ns1:ln w="6350">
            <ns1:solidFill>
              <ns1:srgbClr val="999999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265747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已完成</ns1:t>
            </ns1:r>
          </ns1:p>
        </ns0:txBody>
      </ns0:sp>
      <ns0:sp>
        <ns0:nvSpPr>
          <ns0:cNvPr id="63" name="状态色块">
            <ns1:extLst>
              <ns1:ext uri="{FF2B5EF4-FFF2-40B4-BE49-F238E27FC236}">
                <ns2:creationId id="{0FB8D652-4667-4710-8587-92C618FCA885}"/>
              </ns1:ext>
            </ns1:extLst>
          </ns0:cNvPr>
          <ns0:cNvSpPr>
            <ns1:spLocks noGrp="1"/>
          </ns0:cNvSpPr>
          <ns0:nvPr/>
        </ns0:nvSpPr>
        <ns0:spPr>
          <ns1:xfrm>
            <ns1:off x="3400425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3676650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未完成</ns1:t>
            </ns1:r>
          </ns1:p>
        </ns0:txBody>
      </ns0:sp>
      <ns0:sp>
        <ns0:nvSpPr>
          <ns0:cNvPr id="65" name="状态色块">
            <ns1:extLst>
              <ns1:ext uri="{FF2B5EF4-FFF2-40B4-BE49-F238E27FC236}">
                <ns2:creationId id="{E0B7CF13-FD42-4496-B21C-CC1FCFA4010E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72" name="半完成状态：对角黄色区域">
            <ns1:extLst>
              <ns1:ext uri="{FF2B5EF4-FFF2-40B4-BE49-F238E27FC236}">
                <ns2:creationId id="{104F507E-F118-4F13-BD4D-534AEDBEA0EA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66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469582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完成一半</ns1:t>
            </ns1:r>
          </ns1:p>
        </ns0:txBody>
      </ns0:sp>
    </ns0:spTree>
    <ns0:extLst>
      <ns0:ext uri="{BB962C8B-B14F-4D97-AF65-F5344CB8AC3E}">
        <ns3:creationId val="392523969"/>
      </ns0:ext>
    </ns0:extLst>
  </ns0:cSld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6" name="">
            <ns1:extLst>
              <ns1:ext uri="{FF2B5EF4-FFF2-40B4-BE49-F238E27FC236}">
                <ns2:creationId id="{B5524E25-CD1B-409F-9804-9FDD56544676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555555"/>
            </ns1:solidFill>
          </ns1:ln>
        </ns0:spPr>
      </ns0:sp>
      <ns0:sp>
        <ns0:nvSpPr>
          <ns0:cNvPr id="2" name="">
            <ns1:extLst>
              <ns1:ext uri="{FF2B5EF4-FFF2-40B4-BE49-F238E27FC236}">
                <ns2:creationId id="{1E418448-9122-48EC-ABBE-FACD5E29D806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高性能推理：vLLM-Ascend 端侧加速与内存优化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454DBEEE-0639-46BD-8F78-DC6A7008B5C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32" name="">
            <ns1:extLst>
              <ns1:ext uri="{FF2B5EF4-FFF2-40B4-BE49-F238E27FC236}">
                <ns2:creationId id="{491963DE-8339-4CDA-BE98-8B58F693E7F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高并发推理服务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CB337422-3CC3-4F1F-B12E-81EFE506339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面向多用户与端侧 Agent 负载，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兼顾响应时延与持续并发吞吐。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E89E3938-F5E0-47A5-A799-3F14C33D9E9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大模型高性价比部署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2AF951B8-6300-4F58-9791-2094B57EECD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发挥 A+K 软硬协同优势，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以量化与分层卸载降低大模型推理成本。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0B38F9EF-0B00-4827-AD21-01A189F4060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长上下文推理能力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FA1440E0-A49A-48ED-AEB5-ACD44702463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支撑 Agent 多轮交互与长文档任务，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在有限内存下提升上下文承载与复用能力。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85568DCE-7067-4879-B82D-C69855C9A67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39" name="">
            <ns1:extLst>
              <ns1:ext uri="{FF2B5EF4-FFF2-40B4-BE49-F238E27FC236}">
                <ns2:creationId id="{D09C41A1-23B7-4B8A-A34B-0EB8E6EF73E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面向负载的调度优化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E067C3AB-02A8-4105-9AA2-A28C933F54D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基于真实请求优化批处理与执行调度，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结合图模式、投机解码和并行策略提升吞吐。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404894A5-4514-4EDD-BE09-80DDF62DF9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A+K 协同与分层存储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ED9AEB7D-264B-49B9-B711-8DB7E0F951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协同优化低比特量化、层与专家卸载，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按带宽与容量配置驻留和预取，平衡成本与时延。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4D487538-4701-45A2-99E4-A192122601F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KV Cache 分级管理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7A99F3FF-C23B-4EF2-92CF-9FC5DC96F0F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结合量化压缩、前缀复用与 Host 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按精度、时延与峰值内存验证长序列收益。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B3CD8C23-9B9A-4141-B6B5-08ACBB4D13B8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07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7E94A9B1-085D-4A44-974E-9CB2AF32593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90600"/>
            <ns1:ext cx="5524500" cy="590550"/>
          </ns1:xfrm>
          <ns1:prstGeom prst="roundRect">
            <ns1:avLst>
              <ns1:gd name="adj" fmla="val 16129"/>
            </ns1:avLst>
          </ns1:prstGeom>
          <ns1:solidFill>
            <ns1:srgbClr val="F6CED6"/>
          </ns1:solidFill>
          <ns1:ln w="9525">
            <ns1:solidFill>
              <ns1:srgbClr val="777777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89B69E42-0346-42F2-853F-86C6337B6421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1047750"/>
            <ns1:ext cx="5314950" cy="4762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AI 桌面盒子 / AI PC / 边缘推理节点</ns1:t>
            </ns1:r>
          </ns1:p>
          <ns1:p>
            <ns1: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多用户服务 · Agent / RAG · 本地多模态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F3BC5CE9-FAFD-4960-8301-DFA4C1312858}"/>
              </ns1:ext>
            </ns1:extLst>
          </ns0:cNvPr>
          <ns0:cNvSpPr>
            <ns1:spLocks noGrp="1"/>
          </ns0:cNvSpPr>
          <ns0:nvPr/>
        </ns0:nvSpPr>
        <ns0:spPr>
          <ns1:xfrm>
            <ns1:off x="2809875" y="1600200"/>
            <ns1:ext cx="428625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↑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A8B8A6A3-B220-4A25-AD6F-FCC4041D0F92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838325"/>
            <ns1:ext cx="5524500" cy="3143250"/>
          </ns1:xfrm>
          <ns1:prstGeom prst="roundRect">
            <ns1:avLst>
              <ns1:gd name="adj" fmla="val 3030"/>
            </ns1:avLst>
          </ns1:prstGeom>
          <ns1:solidFill>
            <ns1:srgbClr val="FFFFFF"/>
          </ns1:solidFill>
          <ns1:ln w="9525">
            <ns1:solidFill>
              <ns1:srgbClr val="777777"/>
            </ns1:solidFill>
          </ns1:ln>
        </ns0:spPr>
      </ns0:sp>
      <ns0:sp>
        <ns0:nvSpPr>
          <ns0:cNvPr id="51" name="">
            <ns1:extLst>
              <ns1:ext uri="{FF2B5EF4-FFF2-40B4-BE49-F238E27FC236}">
                <ns2:creationId id="{B8CC1723-09E8-4C8C-BC82-2C6428285E8E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895475"/>
            <ns1:ext cx="52959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vLLM / vLLM-Ascend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722589D6-9044-4E21-8ADB-B332807F34C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276475"/>
            <ns1:ext cx="5295900" cy="314325"/>
          </ns1:xfrm>
          <ns1:prstGeom prst="roundRect">
            <ns1:avLst>
              <ns1:gd name="adj" fmla="val 30303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3" name="">
            <ns1:extLst>
              <ns1:ext uri="{FF2B5EF4-FFF2-40B4-BE49-F238E27FC236}">
                <ns2:creationId id="{65A2467A-51CF-47FD-A594-B8B85890272F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276475"/>
            <ns1:ext cx="5162550" cy="3143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应用接口：API Server / Python API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B0FE73BA-6A84-46C8-957D-A79265E189E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686050"/>
            <ns1:ext cx="5295900" cy="333375"/>
          </ns1:xfrm>
          <ns1:prstGeom prst="roundRect">
            <ns1:avLst>
              <ns1:gd name="adj" fmla="val 28571"/>
            </ns1:avLst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55" name="">
            <ns1:extLst>
              <ns1:ext uri="{FF2B5EF4-FFF2-40B4-BE49-F238E27FC236}">
                <ns2:creationId id="{56629DD1-D0F8-46A3-BDB2-A928AE6B1C9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686050"/>
            <ns1:ext cx="51625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调度策略：持续批处理 / 分块 Prefill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155253C7-C01F-4DF0-90FA-10694DCE882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7" name="">
            <ns1:extLst>
              <ns1:ext uri="{FF2B5EF4-FFF2-40B4-BE49-F238E27FC236}">
                <ns2:creationId id="{7679DF1D-482F-4374-B29A-FE6B523069F6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8" name="">
            <ns1:extLst>
              <ns1:ext uri="{FF2B5EF4-FFF2-40B4-BE49-F238E27FC236}">
                <ns2:creationId id="{2E2C5836-E208-44C8-9EC0-3ABEF190BE96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推理加速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D3D2724E-B136-4F71-9031-6F3C5BDE3EC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内存 / 显存优化</ns1:t>
            </ns1:r>
          </ns1:p>
        </ns0:txBody>
      </ns0:sp>
      <ns0:sp>
        <ns0:nvSpPr>
          <ns0:cNvPr id="60" name="">
            <ns1:extLst>
              <ns1:ext uri="{FF2B5EF4-FFF2-40B4-BE49-F238E27FC236}">
                <ns2:creationId id="{D77D02F2-E193-4668-AAD0-4D57EB8CE4D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1" name="">
            <ns1:extLst>
              <ns1:ext uri="{FF2B5EF4-FFF2-40B4-BE49-F238E27FC236}">
                <ns2:creationId id="{52695565-BBB0-4508-81BA-A152731FC40A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ACL Graph</ns1:t>
            </ns1:r>
          </ns1:p>
        </ns0:txBody>
      </ns0:sp>
      <ns0:sp>
        <ns0:nvSpPr>
          <ns0:cNvPr id="62" name="">
            <ns1:extLst>
              <ns1:ext uri="{FF2B5EF4-FFF2-40B4-BE49-F238E27FC236}">
                <ns2:creationId id="{CC08E3A4-79CF-46AD-A79E-20058A425077}"/>
              </ns1:ext>
            </ns1:extLst>
          </ns0:cNvPr>
          <ns0:cNvSpPr>
            <ns1:spLocks noGrp="1"/>
          </ns0:cNvSpPr>
          <ns0:nvPr/>
        </ns0:nvSpPr>
        <ns0:spPr>
          <ns1:xfrm>
            <ns1:off x="17145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3" name="">
            <ns1:extLst>
              <ns1:ext uri="{FF2B5EF4-FFF2-40B4-BE49-F238E27FC236}">
                <ns2:creationId id="{EBA8E7CE-A7D9-4B6D-BFF3-096A27D5DF35}"/>
              </ns1:ext>
            </ns1:extLst>
          </ns0:cNvPr>
          <ns0:cNvSpPr>
            <ns1:spLocks noGrp="1"/>
          </ns0:cNvSpPr>
          <ns0:nvPr/>
        </ns0:nvSpPr>
        <ns0:spPr>
          <ns1:xfrm>
            <ns1:off x="17430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Prefix Cache</ns1:t>
            </ns1:r>
          </ns1:p>
        </ns0:txBody>
      </ns0:sp>
      <ns0:sp>
        <ns0:nvSpPr>
          <ns0:cNvPr id="64" name="">
            <ns1:extLst>
              <ns1:ext uri="{FF2B5EF4-FFF2-40B4-BE49-F238E27FC236}">
                <ns2:creationId id="{526BC283-29E2-425C-9992-F0B80382CB5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79095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投机解码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A2EDF555-E37A-4F62-8E77-A96117F6BC65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6B08A785-1908-462D-9018-AF459F045A20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DSpark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CE14B6A2-329A-4FE7-80DB-26513D652E66}"/>
              </ns1:ext>
            </ns1:extLst>
          </ns0:cNvPr>
          <ns0:cNvSpPr>
            <ns1:spLocks noGrp="1"/>
          </ns0:cNvSpPr>
          <ns0:nvPr/>
        </ns0:nvSpPr>
        <ns0:spPr>
          <ns1:xfrm>
            <ns1:off x="1076325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470329C6-CDC8-4AE0-B5FB-2E51CDAAB979}"/>
              </ns1:ext>
            </ns1:extLst>
          </ns0:cNvPr>
          <ns0:cNvSpPr>
            <ns1:spLocks noGrp="1"/>
          </ns0:cNvSpPr>
          <ns0:nvPr/>
        </ns0:nvSpPr>
        <ns0:spPr>
          <ns1:xfrm>
            <ns1:off x="110490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DFlash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61E433D0-6DA0-4DAA-A449-860D4D15D4A5}"/>
              </ns1:ext>
            </ns1:extLst>
          </ns0:cNvPr>
          <ns0:cNvSpPr>
            <ns1:spLocks noGrp="1"/>
          </ns0:cNvSpPr>
          <ns0:nvPr/>
        </ns0:nvSpPr>
        <ns0:spPr>
          <ns1:xfrm>
            <ns1:off x="169545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B8538869-6FF3-4B85-9B77-A24D0744AC91}"/>
              </ns1:ext>
            </ns1:extLst>
          </ns0:cNvPr>
          <ns0:cNvSpPr>
            <ns1:spLocks noGrp="1"/>
          </ns0:cNvSpPr>
          <ns0:nvPr/>
        </ns0:nvSpPr>
        <ns0:spPr>
          <ns1:xfrm>
            <ns1:off x="172402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EAGLE3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6CFB8563-D2FB-4427-A32F-333C0CB306BF}"/>
              </ns1:ext>
            </ns1:extLst>
          </ns0:cNvPr>
          <ns0:cNvSpPr>
            <ns1:spLocks noGrp="1"/>
          </ns0:cNvSpPr>
          <ns0:nvPr/>
        </ns0:nvSpPr>
        <ns0:spPr>
          <ns1:xfrm>
            <ns1:off x="2314575" y="4019550"/>
            <ns1:ext cx="581025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1886070C-CB2D-4CF4-A26F-8D828D37AAED}"/>
              </ns1:ext>
            </ns1:extLst>
          </ns0:cNvPr>
          <ns0:cNvSpPr>
            <ns1:spLocks noGrp="1"/>
          </ns0:cNvSpPr>
          <ns0:nvPr/>
        </ns0:nvSpPr>
        <ns0:spPr>
          <ns1:xfrm>
            <ns1:off x="234315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MTP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79094363-23D5-4CB9-808D-9C4783BD310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30530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并行策略</ns1:t>
            </ns1:r>
          </ns1:p>
        </ns0:txBody>
      </ns0:sp>
      <ns0:sp>
        <ns0:nvSpPr>
          <ns0:cNvPr id="74" name="">
            <ns1:extLst>
              <ns1:ext uri="{FF2B5EF4-FFF2-40B4-BE49-F238E27FC236}">
                <ns2:creationId id="{7F8D755A-04B2-49E7-B8B0-1785C33A713D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5" name="">
            <ns1:extLst>
              <ns1:ext uri="{FF2B5EF4-FFF2-40B4-BE49-F238E27FC236}">
                <ns2:creationId id="{E2383EDA-4810-44A1-82B0-6CBA6AEFCADF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TP</ns1:t>
            </ns1:r>
          </ns1:p>
        </ns0:txBody>
      </ns0:sp>
      <ns0:sp>
        <ns0:nvSpPr>
          <ns0:cNvPr id="76" name="">
            <ns1:extLst>
              <ns1:ext uri="{FF2B5EF4-FFF2-40B4-BE49-F238E27FC236}">
                <ns2:creationId id="{400CF098-E408-4A22-866A-043F668F9877}"/>
              </ns1:ext>
            </ns1:extLst>
          </ns0:cNvPr>
          <ns0:cNvSpPr>
            <ns1:spLocks noGrp="1"/>
          </ns0:cNvSpPr>
          <ns0:nvPr/>
        </ns0:nvSpPr>
        <ns0:spPr>
          <ns1:xfrm>
            <ns1:off x="1295400" y="4552950"/>
            <ns1:ext cx="7620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7" name="">
            <ns1:extLst>
              <ns1:ext uri="{FF2B5EF4-FFF2-40B4-BE49-F238E27FC236}">
                <ns2:creationId id="{564A8724-2398-4003-AD47-B525E04DAE91}"/>
              </ns1:ext>
            </ns1:extLst>
          </ns0:cNvPr>
          <ns0:cNvSpPr>
            <ns1:spLocks noGrp="1"/>
          </ns0:cNvSpPr>
          <ns0:nvPr/>
        </ns0:nvSpPr>
        <ns0:spPr>
          <ns1:xfrm>
            <ns1:off x="13239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EP</ns1:t>
            </ns1:r>
          </ns1:p>
        </ns0:txBody>
      </ns0:sp>
      <ns0:sp>
        <ns0:nvSpPr>
          <ns0:cNvPr id="78" name="">
            <ns1:extLst>
              <ns1:ext uri="{FF2B5EF4-FFF2-40B4-BE49-F238E27FC236}">
                <ns2:creationId id="{48AE7AA2-2CC5-40EA-8E0E-C9C6BDAD0366}"/>
              </ns1:ext>
            </ns1:extLst>
          </ns0:cNvPr>
          <ns0:cNvSpPr>
            <ns1:spLocks noGrp="1"/>
          </ns0:cNvSpPr>
          <ns0:nvPr/>
        </ns0:nvSpPr>
        <ns0:spPr>
          <ns1:xfrm>
            <ns1:off x="21336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9" name="">
            <ns1:extLst>
              <ns1:ext uri="{FF2B5EF4-FFF2-40B4-BE49-F238E27FC236}">
                <ns2:creationId id="{3A3207FB-6FFB-4B12-9E1A-EB0F601F960B}"/>
              </ns1:ext>
            </ns1:extLst>
          </ns0:cNvPr>
          <ns0:cNvSpPr>
            <ns1:spLocks noGrp="1"/>
          </ns0:cNvSpPr>
          <ns0:nvPr/>
        </ns0:nvSpPr>
        <ns0:spPr>
          <ns1:xfrm>
            <ns1:off x="21621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PP</ns1:t>
            </ns1:r>
          </ns1:p>
        </ns0:txBody>
      </ns0:sp>
      <ns0:sp>
        <ns0:nvSpPr>
          <ns0:cNvPr id="80" name="">
            <ns1:extLst>
              <ns1:ext uri="{FF2B5EF4-FFF2-40B4-BE49-F238E27FC236}">
                <ns2:creationId id="{46FA47F8-4337-44B5-8D5D-F19215C9293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81" name="">
            <ns1:extLst>
              <ns1:ext uri="{FF2B5EF4-FFF2-40B4-BE49-F238E27FC236}">
                <ns2:creationId id="{D5F62778-F5C6-44AD-9B0F-7883EC9603A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W4A8</ns1:t>
            </ns1:r>
          </ns1:p>
        </ns0:txBody>
      </ns0:sp>
      <ns0:sp>
        <ns0:nvSpPr>
          <ns0:cNvPr id="82" name="">
            <ns1:extLst>
              <ns1:ext uri="{FF2B5EF4-FFF2-40B4-BE49-F238E27FC236}">
                <ns2:creationId id="{E4C79EA6-4144-45F5-BE7E-77D53EB3C57B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3495675"/>
            <ns1:ext cx="11811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3" name="">
            <ns1:extLst>
              <ns1:ext uri="{FF2B5EF4-FFF2-40B4-BE49-F238E27FC236}">
                <ns2:creationId id="{06A2B3DC-40D5-4459-9222-F1C3F6768AC9}"/>
              </ns1:ext>
            </ns1:extLst>
          </ns0:cNvPr>
          <ns0:cNvSpPr>
            <ns1:spLocks noGrp="1"/>
          </ns0:cNvSpPr>
          <ns0:nvPr/>
        </ns0:nvSpPr>
        <ns0:spPr>
          <ns1:xfrm>
            <ns1:off x="44481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W4A4</ns1:t>
            </ns1:r>
          </ns1:p>
        </ns0:txBody>
      </ns0:sp>
      <ns0:sp>
        <ns0:nvSpPr>
          <ns0:cNvPr id="84" name="">
            <ns1:extLst>
              <ns1:ext uri="{FF2B5EF4-FFF2-40B4-BE49-F238E27FC236}">
                <ns2:creationId id="{2AFDD7CD-4F82-4E16-8018-38EE3476F093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78142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5" name="">
            <ns1:extLst>
              <ns1:ext uri="{FF2B5EF4-FFF2-40B4-BE49-F238E27FC236}">
                <ns2:creationId id="{8959EE2B-AEF9-4AFF-91BD-28657EF4E37A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78142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FP4 / FP8</ns1:t>
            </ns1:r>
          </ns1:p>
        </ns0:txBody>
      </ns0:sp>
      <ns0:sp>
        <ns0:nvSpPr>
          <ns0:cNvPr id="86" name="">
            <ns1:extLst>
              <ns1:ext uri="{FF2B5EF4-FFF2-40B4-BE49-F238E27FC236}">
                <ns2:creationId id="{B1E713F8-1B42-4A73-A793-8243BDAE3475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05765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7" name="">
            <ns1:extLst>
              <ns1:ext uri="{FF2B5EF4-FFF2-40B4-BE49-F238E27FC236}">
                <ns2:creationId id="{5AD55729-C825-4B32-9DA8-FBC59FBAFAE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05765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KV Cache 量化</ns1:t>
            </ns1:r>
          </ns1:p>
        </ns0:txBody>
      </ns0:sp>
      <ns0:sp>
        <ns0:nvSpPr>
          <ns0:cNvPr id="88" name="">
            <ns1:extLst>
              <ns1:ext uri="{FF2B5EF4-FFF2-40B4-BE49-F238E27FC236}">
                <ns2:creationId id="{AB8972F9-2EA6-45F4-8FE9-AACF43F0BFB1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33387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9" name="">
            <ns1:extLst>
              <ns1:ext uri="{FF2B5EF4-FFF2-40B4-BE49-F238E27FC236}">
                <ns2:creationId id="{520D2B95-FD8F-4D37-94F3-1416410000D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33387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Layer Offload</ns1:t>
            </ns1:r>
          </ns1:p>
        </ns0:txBody>
      </ns0:sp>
      <ns0:sp>
        <ns0:nvSpPr>
          <ns0:cNvPr id="90" name="">
            <ns1:extLst>
              <ns1:ext uri="{FF2B5EF4-FFF2-40B4-BE49-F238E27FC236}">
                <ns2:creationId id="{1885D6B5-D53D-4E5D-BAD0-C3A99DBCA009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61010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1" name="">
            <ns1:extLst>
              <ns1:ext uri="{FF2B5EF4-FFF2-40B4-BE49-F238E27FC236}">
                <ns2:creationId id="{5B2397FC-A934-4D67-8213-1AA7ADD55B0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61010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MoE Offload</ns1:t>
            </ns1:r>
          </ns1:p>
        </ns0:txBody>
      </ns0:sp>
      <ns0:sp>
        <ns0:nvSpPr>
          <ns0:cNvPr id="92" name="">
            <ns1:extLst>
              <ns1:ext uri="{FF2B5EF4-FFF2-40B4-BE49-F238E27FC236}">
                <ns2:creationId id="{F255BED6-EC61-4F4A-A228-22ED1387AA4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095875"/>
            <ns1:ext cx="5524500" cy="295275"/>
          </ns1:xfrm>
          <ns1:prstGeom prst="roundRect">
            <ns1:avLst>
              <ns1:gd name="adj" fmla="val 32258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3" name="">
            <ns1:extLst>
              <ns1:ext uri="{FF2B5EF4-FFF2-40B4-BE49-F238E27FC236}">
                <ns2:creationId id="{EDA92E1A-DBF6-4604-8B3D-27DFA34AEC5A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095875"/>
            <ns1:ext cx="53149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运行时：PyTorch / torch_npu</ns1:t>
            </ns1:r>
          </ns1:p>
        </ns0:txBody>
      </ns0:sp>
      <ns0:sp>
        <ns0:nvSpPr>
          <ns0:cNvPr id="94" name="">
            <ns1:extLst>
              <ns1:ext uri="{FF2B5EF4-FFF2-40B4-BE49-F238E27FC236}">
                <ns2:creationId id="{DA3EDFE2-3B08-4EBE-890A-6A9705C9BD9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495925"/>
            <ns1:ext cx="5524500" cy="323850"/>
          </ns1:xfrm>
          <ns1:prstGeom prst="roundRect">
            <ns1:avLst>
              <ns1:gd name="adj" fmla="val 29412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5" name="">
            <ns1:extLst>
              <ns1:ext uri="{FF2B5EF4-FFF2-40B4-BE49-F238E27FC236}">
                <ns2:creationId id="{F49EE736-EF45-4B2A-A9EC-F31310DE147E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495925"/>
            <ns1:ext cx="104775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CANN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DF8E2BE6-7E2C-4EF7-A0E0-F1E9DC98A35C}"/>
              </ns1:ext>
            </ns1:extLst>
          </ns0:cNvPr>
          <ns0:cNvSpPr>
            <ns1:spLocks noGrp="1"/>
          </ns0:cNvSpPr>
          <ns0:nvPr/>
        </ns0:nvSpPr>
        <ns0:spPr>
          <ns1:xfrm>
            <ns1:off x="1552575" y="5543550"/>
            <ns1:ext cx="409575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7" name="">
            <ns1:extLst>
              <ns1:ext uri="{FF2B5EF4-FFF2-40B4-BE49-F238E27FC236}">
                <ns2:creationId id="{4A4F066E-8643-4CF9-8BAC-28EFDF9D3761}"/>
              </ns1:ext>
            </ns1:extLst>
          </ns0:cNvPr>
          <ns0:cNvSpPr>
            <ns1:spLocks noGrp="1"/>
          </ns0:cNvSpPr>
          <ns0:nvPr/>
        </ns0:nvSpPr>
        <ns0:spPr>
          <ns1:xfrm>
            <ns1:off x="1581150" y="5543550"/>
            <ns1:ext cx="40386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融合算子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C01E57FD-ECED-4309-9866-9D0D4A03F4E7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924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9" name="">
            <ns1:extLst>
              <ns1:ext uri="{FF2B5EF4-FFF2-40B4-BE49-F238E27FC236}">
                <ns2:creationId id="{E6D364E6-F15C-44E0-81C1-EED09BACFB77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924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Linux：Ubuntu / openEuler</ns1:t>
            </ns1:r>
          </ns1:p>
        </ns0:txBody>
      </ns0:sp>
      <ns0:sp>
        <ns0:nvSpPr>
          <ns0:cNvPr id="100" name="">
            <ns1:extLst>
              <ns1:ext uri="{FF2B5EF4-FFF2-40B4-BE49-F238E27FC236}">
                <ns2:creationId id="{A62A2497-D006-4CBF-8638-D63F5B3C115D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6305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101" name="">
            <ns1:extLst>
              <ns1:ext uri="{FF2B5EF4-FFF2-40B4-BE49-F238E27FC236}">
                <ns2:creationId id="{C28601A4-33BC-4626-BACF-EDD0E5DEA02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6305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固件 / 驱动 · 昇腾 NPU（按芯片适配）</ns1:t>
            </ns1:r>
          </ns1:p>
        </ns0:txBody>
      </ns0:sp>
      <ns0:sp>
        <ns0:nvSpPr>
          <ns0:cNvPr id="102" name="">
            <ns1:extLst>
              <ns1:ext uri="{FF2B5EF4-FFF2-40B4-BE49-F238E27FC236}">
                <ns2:creationId id="{DE1B2B44-44AD-4766-AEBB-841F853CA62B}"/>
              </ns1:ext>
            </ns1:extLst>
          </ns0:cNvPr>
          <ns0:cNvSpPr>
            <ns1:spLocks noGrp="1"/>
          </ns0:cNvSpPr>
          <ns0:nvPr/>
        </ns0:nvSpPr>
        <ns0:spPr>
          <ns1:xfrm>
            <ns1:off x="3209925" y="6677025"/>
            <ns1:ext cx="209550" cy="11430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103" name="">
            <ns1:extLst>
              <ns1:ext uri="{FF2B5EF4-FFF2-40B4-BE49-F238E27FC236}">
                <ns2:creationId id="{4DAE2752-539C-4790-AD52-4F01348F7EB4}"/>
              </ns1:ext>
            </ns1:extLst>
          </ns0:cNvPr>
          <ns0:cNvSpPr>
            <ns1:spLocks noGrp="1"/>
          </ns0:cNvSpPr>
          <ns0:nvPr/>
        </ns0:nvSpPr>
        <ns0:spPr>
          <ns1:xfrm>
            <ns1:off x="346710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已有基础</ns1:t>
            </ns1:r>
          </ns1:p>
        </ns0:txBody>
      </ns0:sp>
      <ns0:sp>
        <ns0:nvSpPr>
          <ns0:cNvPr id="104" name="">
            <ns1:extLst>
              <ns1:ext uri="{FF2B5EF4-FFF2-40B4-BE49-F238E27FC236}">
                <ns2:creationId id="{88D4858F-3CDC-4493-A3A2-C8D8CB85CF50}"/>
              </ns1:ext>
            </ns1:extLst>
          </ns0:cNvPr>
          <ns0:cNvSpPr>
            <ns1:spLocks noGrp="1"/>
          </ns0:cNvSpPr>
          <ns0:nvPr/>
        </ns0:nvSpPr>
        <ns0:spPr>
          <ns1:xfrm>
            <ns1:off x="4410075" y="6677025"/>
            <ns1:ext cx="209550" cy="1143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105" name="">
            <ns1:extLst>
              <ns1:ext uri="{FF2B5EF4-FFF2-40B4-BE49-F238E27FC236}">
                <ns2:creationId id="{1B16329C-08DC-48FE-8E46-1033504268A5}"/>
              </ns1:ext>
            </ns1:extLst>
          </ns0:cNvPr>
          <ns0:cNvSpPr>
            <ns1:spLocks noGrp="1"/>
          </ns0:cNvSpPr>
          <ns0:nvPr/>
        </ns0:nvSpPr>
        <ns0:spPr>
          <ns1:xfrm>
            <ns1:off x="466725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待完善</ns1:t>
            </ns1:r>
          </ns1:p>
        </ns0:txBody>
      </ns0:sp>
    </ns0:spTree>
    <ns0:extLst>
      <ns0:ext uri="{BB962C8B-B14F-4D97-AF65-F5344CB8AC3E}">
        <ns3:creationId val="1885384665"/>
      </ns0:ext>
    </ns0:extLst>
  </ns0:cSld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">
            <ns1:extLst>
              <ns1:ext uri="{FF2B5EF4-FFF2-40B4-BE49-F238E27FC236}">
                <ns2:creationId id="{B94DD75F-7D04-4E92-8528-F74B3A8F086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366DC9A8-C4F5-4040-89F1-6E4250C26B1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待讨论的问题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BA1A315F-B920-4F6E-B004-B19DBD9E0607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14763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01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9997C1C-538B-451A-BA63-8DCF24960C8A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14573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Windows 生态是否作为重点发力方向？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BECC6AE6-AEEA-4474-88F2-C622689DB857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20478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从底层 HDK 到上层推理应用，需要全流程适配，工作量较大。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AB27499-62F3-4689-AA86-5B2363B1326C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3372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EED081B5-35F4-4440-8209-CBC46DCBA416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11467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端侧推理框架该如何选择？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377AB3C6-73E3-4FA4-A32E-2C827F2C74EE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70522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如何结合场景需求、资源约束与生态成熟度确定选型？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93F16901-E462-4873-ADCC-9B6B4B0FBCF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7910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10DBA52-82BA-4169-8F33-AF6FBA8A3249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47720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具身智能推理框架是否会成为未来发展重点？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DA537EA7-E75F-4DE7-B281-94C4EC23565B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53625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团队应在什么阶段投入，优先建设哪些能力？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0DF40CB5-F001-4D30-8628-15F0698701DE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08</ns1:t>
            </ns1:r>
          </ns1:p>
        </ns0:txBody>
      </ns0:sp>
    </ns0:spTree>
    <ns0:extLst>
      <ns0:ext uri="{BB962C8B-B14F-4D97-AF65-F5344CB8AC3E}">
        <ns3:creationId val="214461096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2026-10-20T13:27:48.2320000Z</dcterms:created>
  <dcterms:modified xsi:type="dcterms:W3CDTF">2026-10-20T13:27:48.2320000Z</dcterms:modified>
</coreProperties>
</file>