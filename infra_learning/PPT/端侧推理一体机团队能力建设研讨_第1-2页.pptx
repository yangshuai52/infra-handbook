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89e77746954455" /><Relationship Type="http://schemas.openxmlformats.org/officeDocument/2006/relationships/extended-properties" Target="/docProps/app.xml" Id="Rfa0623097ff74042" /><Relationship Type="http://schemas.openxmlformats.org/officeDocument/2006/relationships/officeDocument" Target="/ppt/presentation.xml" Id="R03eb932ef8d7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ba6e14b854f1c"/>
  </p:sldMasterIdLst>
  <p:notesMasterIdLst>
    <p:notesMasterId xmlns:r="http://schemas.openxmlformats.org/officeDocument/2006/relationships" r:id="R1cf39188fe3b4520"/>
  </p:notesMasterIdLst>
  <p:sldIdLst>
    <p:sldId xmlns:r="http://schemas.openxmlformats.org/officeDocument/2006/relationships" id="256" r:id="Rcb8884221fc1422c"/>
    <p:sldId xmlns:r="http://schemas.openxmlformats.org/officeDocument/2006/relationships" id="257" r:id="R6cff237dcc494f1f"/>
    <p:sldId xmlns:r="http://schemas.openxmlformats.org/officeDocument/2006/relationships" id="258" r:id="Ra8ec1487c5254770"/>
    <p:sldId xmlns:r="http://schemas.openxmlformats.org/officeDocument/2006/relationships" id="259" r:id="R54476d7832524a1e"/>
    <p:sldId xmlns:r="http://schemas.openxmlformats.org/officeDocument/2006/relationships" id="260" r:id="R66901c40e30c473c"/>
    <p:sldId xmlns:r="http://schemas.openxmlformats.org/officeDocument/2006/relationships" id="261" r:id="R7510d43e4a4d4f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f8097fbed4ba1" /><Relationship Type="http://schemas.openxmlformats.org/officeDocument/2006/relationships/slideMaster" Target="/ppt/slideMasters/slideMaster1.xml" Id="R12aba6e14b854f1c" /><Relationship Type="http://schemas.openxmlformats.org/officeDocument/2006/relationships/notesMaster" Target="/ppt/notesMasters/notesMaster1.xml" Id="R1cf39188fe3b4520" /><Relationship Type="http://schemas.openxmlformats.org/officeDocument/2006/relationships/presProps" Target="/ppt/presProps.xml" Id="R026ad990fe9f4648" /><Relationship Type="http://schemas.openxmlformats.org/officeDocument/2006/relationships/tableStyles" Target="/ppt/tableStyles.xml" Id="Re09531514e78465d" /><Relationship Type="http://schemas.openxmlformats.org/officeDocument/2006/relationships/slide" Target="/ppt/slides/slide1.xml" Id="Rcb8884221fc1422c" /><Relationship Type="http://schemas.openxmlformats.org/officeDocument/2006/relationships/slide" Target="/ppt/slides/slide2.xml" Id="R6cff237dcc494f1f" /><Relationship Type="http://schemas.openxmlformats.org/officeDocument/2006/relationships/slide" Target="/ppt/slides/slide3.xml" Id="Ra8ec1487c5254770" /><Relationship Type="http://schemas.openxmlformats.org/officeDocument/2006/relationships/slide" Target="/ppt/slides/slide4.xml" Id="R54476d7832524a1e" /><Relationship Type="http://schemas.openxmlformats.org/officeDocument/2006/relationships/slide" Target="/ppt/slides/slide5.xml" Id="R66901c40e30c473c" /><Relationship Type="http://schemas.openxmlformats.org/officeDocument/2006/relationships/slide" Target="/ppt/slides/slide6.xml" Id="R7510d43e4a4d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b482e57b87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08ae0fa7534663" /><Relationship Type="http://schemas.openxmlformats.org/officeDocument/2006/relationships/notesMaster" Target="/ppt/notesMasters/notesMaster1.xml" Id="R54bf9f7c25e9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626317d0454f86" /><Relationship Type="http://schemas.openxmlformats.org/officeDocument/2006/relationships/notesMaster" Target="/ppt/notesMasters/notesMaster1.xml" Id="R5e9de65ab6124c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246e8785449e7" /><Relationship Type="http://schemas.openxmlformats.org/officeDocument/2006/relationships/notesMaster" Target="/ppt/notesMasters/notesMaster1.xml" Id="Rdf71e85d3100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65b1d91334f6c" /><Relationship Type="http://schemas.openxmlformats.org/officeDocument/2006/relationships/notesMaster" Target="/ppt/notesMasters/notesMaster1.xml" Id="Rfe59dcde84ee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28dce4f884e82" /><Relationship Type="http://schemas.openxmlformats.org/officeDocument/2006/relationships/notesMaster" Target="/ppt/notesMasters/notesMaster1.xml" Id="R894152183fda47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c26939ffd8482b" /><Relationship Type="http://schemas.openxmlformats.org/officeDocument/2006/relationships/notesMaster" Target="/ppt/notesMasters/notesMaster1.xml" Id="Rd2e995a767b24a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部门愿景及建设重点依据用户输入，其中建设重点为本页研讨建议。产品定位依据 NVIDIA 官方产品页。DGX Spark 是桌面 AI 小站，RTX Spark 是个人电脑平台，AGX Orin / Thor 是嵌入设备的平台，容量相近不代表系统职责相同。操作系统、驱动与应用需适配。芯片分组参考用户指定 PPT 第 2 页第一组产品布局，未沿用第二组智能小站曲线。310P-next 已按用户纠正为预计 1P FP4，950-lite 仍为参考输入的预计 1P，不代表公开发布规格。T2000 / T3000 与昇腾数值沿用参考材料，未独立验证。NVIDIA 稀疏计算口径和配置条件需参考具体官方规格，不能据表中数值直接推断业务速度。</a:t>
            </a:r>
          </a:p>
          <a:p xmlns:a="http://schemas.openxmlformats.org/drawingml/2006/main">
            <a:r>
              <a:t>https://www.nvidia.com/en-us/products/workstations/dgx-spark/</a:t>
            </a:r>
          </a:p>
          <a:p xmlns:a="http://schemas.openxmlformats.org/drawingml/2006/main">
            <a:r>
              <a:t>https://www.nvidia.com/en-us/products/rtx-spark/</a:t>
            </a:r>
          </a:p>
          <a:p xmlns:a="http://schemas.openxmlformats.org/drawingml/2006/main">
            <a:r>
              <a:t>https://www.nvidia.com/en-us/autonomous-machines/embedded-systems/jetson-orin/</a:t>
            </a:r>
          </a:p>
          <a:p xmlns:a="http://schemas.openxmlformats.org/drawingml/2006/main">
            <a:r>
              <a:t>https://www.nvidia.com/en-us/autonomous-machines/embedded-systems/jetson-thor/</a:t>
            </a:r>
          </a:p>
          <a:p xmlns:a="http://schemas.openxmlformats.org/drawingml/2006/main">
            <a:r>
              <a:t>参考文件：C:/Users/yangshuai/.codex/visualizations/2026/10/15/01a13e46-d735-7050-871a-da8f78f8b7c9/310p-brief/output/310P端侧规划_嵌入式与智能小站_完整对比.pptx 第2页。</a:t>
            </a:r>
          </a:p>
          <a:p xmlns:a="http://schemas.openxmlformats.org/drawingml/2006/main">
            <a:r>
              <a:t>本次修订：三方向为 AI桌面盒子、AI PC、嵌入式/具身机器人/无人车。重点方向依用户输入。下方以参考页第一组图像呈现，310P-next从9P修正为1P并调整位置。图为产品布局示意，不代表INT8与FP4可直接比较。</a:t>
            </a:r>
          </a:p>
          <a:p xmlns:a="http://schemas.openxmlformats.org/drawingml/2006/main">
            <a:r>
              <a:t>本次修订：三方向为 AI桌面盒子、AI PC、嵌入式/具身机器人/无人车。重点方向依用户输入。下方以参考页第一组图像呈现，310P-next从9P修正为1P并调整位置。图为产品布局示意，不代表INT8与FP4可直接比较。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用户给定的团队规划输入整理。具身智能的小模型拼接、端到端VLA与世界模型是本页用于讨论的演进方向，不代表已形成统一、线性的行业路线。未来从训练探索走向推理应用与落地属于规划判断。Windows适配为拟建设能力，不表示所有组件已具备Windows支持。FP4、FP8、W4A8等为下一代芯片预研项，应结合实际硬件和软件支持验证。llama.cpp、Ollama列为候选方案，实际内存占用和性能需在相同模型、量化、上下文与并发条件下评估，Ollama属于模型运行管理工具，不预设其具有普遍的低内存优势。统一内存关注来自前页所列竞品，不泛化为全部端侧硬件形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愿景及四个建设方向依据用户输入，具体做法为本页补充建议，供团队研讨，不代表已实施的管理机制或已具备的技术能力。需求交付强调里程碑、契约与质量验证。技术竞争力承接前两页的框架、模型加速、具身智能及无人车规划。协作强调职责、开发经验共享，与公共开发部和技术开发部协同。人员成长强调及时认可、发挥优势与逐步独立负责，同时提供必要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结合用户三类场景提出的团队建设建议，不代表现有能力声明。工作主线从框架名重构为模型与引擎适配、资源与性能优化、场景部署与工程化，三条主线共同支撑全部场景。vLLM/llama.cpp作为候选选型，应按具体硬件与版本验证。评测建议：桌面盒子关注满足TTFT/逐token时延约束后的并发吞吐，AI PC关注总内存、响应与日常应用资源争用，具身和无人车关注传感输入到模型输出的端到端尾时延、功耗和长期运行；模型级改进仍需整机与任务验证，不等同于控制系统安全保证。公共能力指统一接口、测试与可复用组件，不要求所有引擎合并为一个实现。Windows适配按客户需求及投入评估。首批可选Agent/RAG服务、个人助手、视觉语言/动作模型代表任务，不预设单一框架覆盖所有模型。芯片名称沿用用户参考输入，规划规格待验证。资料：https://github.com/ggml-org/llama.cpp ，https://docs.vllm.ai/en/latest/ ，https://www.nvidia.com/en-us/autonomous-machines/embedded-systems/jetson-thor/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依据用户输入设置三个待讨论议题。第二、第三项补充的追问用于促进研讨，不预设技术选型或资源投入结论。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ba9e07af94b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b12b3799d41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95c5548bb47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250b0d3ed41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a246f165246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6696009d64f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00C5D1-A500-4074-B311-66D3634A8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CBCE79-19D4-40B5-9E96-02622043BC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EA1021-BA83-485D-AE9F-F061701BC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E9F20-732D-49F3-A58F-F775734FE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01E4C6-4007-454A-BD59-B4A66CCFA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7F4AE0-976D-47E8-89D3-23A38B8B8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656C4-BC18-47C3-88E4-5898600C66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5AA3DF-3A9A-43B4-9F97-A67716D5C8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E0368-98B6-4508-9595-3A7B9FF04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E3C9DC-F2FF-4CDD-83F1-A6E55656DC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db4948227b480a" /><Relationship Type="http://schemas.openxmlformats.org/officeDocument/2006/relationships/slideLayout" Target="/ppt/slideLayouts/slideLayout1.xml" Id="R122ef7fa940e4f47" /><Relationship Type="http://schemas.openxmlformats.org/officeDocument/2006/relationships/slideLayout" Target="/ppt/slideLayouts/slideLayout2.xml" Id="R42850f7172384b4e" /><Relationship Type="http://schemas.openxmlformats.org/officeDocument/2006/relationships/slideLayout" Target="/ppt/slideLayouts/slideLayout3.xml" Id="R3a998e57854847ba" /><Relationship Type="http://schemas.openxmlformats.org/officeDocument/2006/relationships/slideLayout" Target="/ppt/slideLayouts/slideLayout4.xml" Id="R722f734428a641dc" /><Relationship Type="http://schemas.openxmlformats.org/officeDocument/2006/relationships/slideLayout" Target="/ppt/slideLayouts/slideLayout5.xml" Id="R7c7a007c969b462c" /><Relationship Type="http://schemas.openxmlformats.org/officeDocument/2006/relationships/slideLayout" Target="/ppt/slideLayouts/slideLayout6.xml" Id="R6745698043dc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ef7fa940e4f47"/>
    <p:sldLayoutId xmlns:r="http://schemas.openxmlformats.org/officeDocument/2006/relationships" id="2147483650" r:id="R42850f7172384b4e"/>
    <p:sldLayoutId xmlns:r="http://schemas.openxmlformats.org/officeDocument/2006/relationships" id="2147483651" r:id="R3a998e57854847ba"/>
    <p:sldLayoutId xmlns:r="http://schemas.openxmlformats.org/officeDocument/2006/relationships" id="2147483652" r:id="R722f734428a641dc"/>
    <p:sldLayoutId xmlns:r="http://schemas.openxmlformats.org/officeDocument/2006/relationships" id="2147483653" r:id="R7c7a007c969b462c"/>
    <p:sldLayoutId xmlns:r="http://schemas.openxmlformats.org/officeDocument/2006/relationships" id="2147483654" r:id="R6745698043dc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0414a80384686" /><Relationship Type="http://schemas.openxmlformats.org/officeDocument/2006/relationships/notesSlide" Target="/ppt/notesSlides/notesSlide1.xml" Id="R74816fa848ed47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579cdff99401a" /><Relationship Type="http://schemas.openxmlformats.org/officeDocument/2006/relationships/image" Target="/ppt/media/image.png" Id="Rb8d7e167d33f4438" /><Relationship Type="http://schemas.openxmlformats.org/officeDocument/2006/relationships/image" Target="/ppt/media/image2.png" Id="R6d81cf95ef2b46b7" /><Relationship Type="http://schemas.openxmlformats.org/officeDocument/2006/relationships/notesSlide" Target="/ppt/notesSlides/notesSlide2.xml" Id="R6499ce57d58746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cb7b3a8ec43e2" /><Relationship Type="http://schemas.openxmlformats.org/officeDocument/2006/relationships/notesSlide" Target="/ppt/notesSlides/notesSlide3.xml" Id="R1c1eca4b4b974a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a5748b1e644ca" /><Relationship Type="http://schemas.openxmlformats.org/officeDocument/2006/relationships/notesSlide" Target="/ppt/notesSlides/notesSlide4.xml" Id="Rf9cf183b80ca44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931a608d94b64" /><Relationship Type="http://schemas.openxmlformats.org/officeDocument/2006/relationships/notesSlide" Target="/ppt/notesSlides/notesSlide5.xml" Id="Re64625f5ac7d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418ced5b7400e" /><Relationship Type="http://schemas.openxmlformats.org/officeDocument/2006/relationships/notesSlide" Target="/ppt/notesSlides/notesSlide6.xml" Id="R037fd7492f1545ea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">
            <ns1:extLst>
              <ns1:ext uri="{FF2B5EF4-FFF2-40B4-BE49-F238E27FC236}">
                <ns2:creationId id="{9559504A-9335-422D-969B-AA7414487F4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809750"/>
            <ns1:ext cx="12192000" cy="2238375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851EF229-8186-4D7B-9100-FDE68D34E2B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047875"/>
            <ns1:ext cx="102870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端侧推理一体机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4E8CDA5-BD44-41A2-96E2-7CAE32799783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933700"/>
            <ns1:ext cx="102870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0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团队能力建设研讨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804153D-5D60-40DD-B509-64AEB47C1C9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4695825"/>
            <ns1:ext cx="9525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rPr>
              <ns1:t>汇报人  杨帅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9650128-5B9B-4E0C-A34B-C22417D928E3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5143500"/>
            <ns1:ext cx="9525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424242"/>
                </ns1:solidFill>
                <ns1:latin typeface="Microsoft YaHei"/>
                <ns1:ea typeface="Microsoft YaHei"/>
                <ns1:cs typeface="Microsoft YaHei"/>
              </ns1:rPr>
              <ns1:t>汇报时间  2026年10月23日</ns1:t>
            </ns1:r>
          </ns1:p>
        </ns0:txBody>
      </ns0:sp>
    </ns0:spTree>
    <ns0:extLst>
      <ns0:ext uri="{BB962C8B-B14F-4D97-AF65-F5344CB8AC3E}">
        <ns3:creationId val="192415141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4" name="">
            <ns1:extLst>
              <ns1:ext uri="{FF2B5EF4-FFF2-40B4-BE49-F238E27FC236}">
                <ns2:creationId id="{DB20C888-1870-4074-80FF-DEE23172C44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8DF2255F-3C98-47B7-A8DB-1B16073EED33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287125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端侧一体机愿景与竞争力规划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7DE089B-0776-4509-9658-675987A77A5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885825"/>
            <ns1:ext cx="1138237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部门愿景：构筑鲲鹏昇腾一体机竞争力，让一体机无处不在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F346A73-F278-4767-A1D4-34892D7DB863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304925"/>
            <ns1:ext cx="1138237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端侧一体机：让 AI 走进千家万户，赋能各行各业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B7F99A1-1C81-46DF-AC36-682F70005FE7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桌面盒子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0DBB915-D84B-4575-B249-F348281EE9A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DGX Spark：专用桌面 AI 节点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22B974BB-A138-475E-9B54-49D23440C257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模型开发、Agent 与本地推理服务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ED9DD28-5638-4BB5-ABB9-B1751A47C86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重点方向：模型适配、高吞吐、易部署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F34041D-E8B6-4555-A662-63C6FD149D94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PC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856529F-A4BF-462E-829D-A2519E18C4D7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RTX Spark：日常个人电脑平台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7E1CCB9-863D-4D0A-8736-4689D3715B2F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办公、创作、图形与本地 AI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F017764B-AEBD-46C9-8EE4-7D0E5C87262A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重点方向：Windows 生态支持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BF7389D3-2933-40DA-BCFC-E981D63E925C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1828800"/>
            <ns1:ext cx="37719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嵌入式、具身机器人、无人车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65D1749B-2E5C-4DD4-A03C-D81DE82BFAE6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276475"/>
            <ns1:ext cx="3714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AGX Orin / Thor：设备内嵌平台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AB7CAD6-1926-40B7-ADA3-D6F9D45B8E96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628900"/>
            <ns1:ext cx="3714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52525"/>
                </ns1:solidFill>
                <ns1:latin typeface="Microsoft YaHei"/>
                <ns1:ea typeface="Microsoft YaHei"/>
                <ns1:cs typeface="Microsoft YaHei"/>
              </ns1:rPr>
              <ns1:t>Orin 承接现有部署，Thor 面向复杂多模态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B072D1D4-6B10-4CF9-8592-E970AEAE63E5}"/>
              </ns1:ext>
            </ns1:extLst>
          </ns0:cNvPr>
          <ns0:cNvSpPr>
            <ns1:spLocks noGrp="1"/>
          </ns0:cNvSpPr>
          <ns0:nvPr/>
        </ns0:nvSpPr>
        <ns0:spPr>
          <ns1:xfrm>
            <ns1:off x="8077200" y="2971800"/>
            <ns1:ext cx="37338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555555"/>
                </ns1:solidFill>
                <ns1:latin typeface="Microsoft YaHei"/>
                <ns1:ea typeface="Microsoft YaHei"/>
                <ns1:cs typeface="Microsoft YaHei"/>
              </ns1:rPr>
              <ns1:t>重点方向：低功耗、低时延、低资源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9CBA268F-8823-4D7D-A8E4-34B38DF2024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3448050"/>
            <ns1:ext cx="85725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算力发展趋势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3044B2E-9FFC-4421-B3F8-D39005F80FDB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05575"/>
            <ns1:ext cx="33337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pic>
        <ns0:nvPicPr>
          <ns0:cNvPr id="25" name="">
            <ns1:extLst>
              <ns1:ext uri="{FF2B5EF4-FFF2-40B4-BE49-F238E27FC236}">
                <ns2:creationId id="{999B48DF-CF87-4282-83A3-E755A90E95B2}"/>
              </ns1:ext>
            </ns1:extLst>
          </ns0:cNvPr>
          <ns0:cNvPicPr>
            <ns1:picLocks noChangeAspect="1"/>
          </ns0:cNvPicPr>
          <ns0:nvPr/>
        </ns0:nvPicPr>
        <ns0:blipFill>
          <ns1:blip ns3:embed="Rb8d7e167d33f4438"/>
          <ns1:stretch/>
        </ns0:blipFill>
        <ns0:spPr>
          <ns1:xfrm>
            <ns1:off x="968216" y="3762375"/>
            <ns1:ext cx="10255568" cy="2771775"/>
          </ns1:xfrm>
          <ns1:prstGeom prst="rect">
            <ns1:avLst/>
          </ns1:prstGeom>
        </ns0:spPr>
      </ns0:pic>
      <ns0:pic>
        <ns0:nvPicPr>
          <ns0:cNvPr id="26" name="">
            <ns1:extLst>
              <ns1:ext uri="{FF2B5EF4-FFF2-40B4-BE49-F238E27FC236}">
                <ns2:creationId id="{FFAE9458-B8DB-470B-AAD4-DE1B129B15CF}"/>
              </ns1:ext>
            </ns1:extLst>
          </ns0:cNvPr>
          <ns0:cNvPicPr>
            <ns1:picLocks noChangeAspect="1"/>
          </ns0:cNvPicPr>
          <ns0:nvPr/>
        </ns0:nvPicPr>
        <ns0:blipFill>
          <ns1:blip ns3:embed="R6d81cf95ef2b46b7"/>
          <ns1:stretch/>
        </ns0:blipFill>
        <ns0:spPr>
          <ns1:xfrm>
            <ns1:off x="968216" y="3762375"/>
            <ns1:ext cx="10255568" cy="2771775"/>
          </ns1:xfrm>
          <ns1:prstGeom prst="rect">
            <ns1:avLst/>
          </ns1:prstGeom>
        </ns0:spPr>
      </ns0:pic>
    </ns0:spTree>
    <ns0:extLst>
      <ns0:ext uri="{BB962C8B-B14F-4D97-AF65-F5344CB8AC3E}">
        <ns4:creationId val="628817155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6" name="">
            <ns1:extLst>
              <ns1:ext uri="{FF2B5EF4-FFF2-40B4-BE49-F238E27FC236}">
                <ns2:creationId id="{52C0EDB1-5427-4A54-AF7D-E1DD7F4858FB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5D278814-E814-4262-ACA4-DF03EA239FA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端侧一体机愿景与竞争力规划</ns1:t>
            </ns1:r>
          </ns1:p>
        </ns0:txBody>
      </ns0:sp>
      <ns0:sp>
        <ns0:nvSpPr>
          <ns0:cNvPr id="37" name="">
            <ns1:extLst>
              <ns1:ext uri="{FF2B5EF4-FFF2-40B4-BE49-F238E27FC236}">
                <ns2:creationId id="{5720612F-0652-4F7B-B093-CAB8A97B60AE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87630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重点方向</ns1:t>
            </ns1:r>
          </ns1:p>
        </ns0:txBody>
      </ns0:sp>
      <ns0:graphicFrame>
        <ns0:nvGraphicFramePr>
          <ns0:cNvPr id="38" name="">
            <ns1:extLst>
              <ns1:ext uri="{FF2B5EF4-FFF2-40B4-BE49-F238E27FC236}">
                <ns2:creationId id="{93B4C3B2-9252-402E-85A8-165B4221D31C}"/>
              </ns1:ext>
            </ns1:extLst>
          </ns0:cNvPr>
          <ns0:cNvGraphicFramePr/>
          <ns0:nvPr/>
        </ns0:nvGraphicFramePr>
        <ns0:xfrm>
          <ns1:off x="419100" y="1276350"/>
          <ns1:ext cx="11353800" cy="2590800"/>
        </ns0:xfrm>
        <ns1:graphic>
          <ns1:graphicData uri="http://schemas.openxmlformats.org/drawingml/2006/table">
            <ns1:tbl>
              <ns1:tblPr/>
              <ns1:tblGrid>
                <ns1:gridCol w="1676400"/>
                <ns1:gridCol w="4686300"/>
                <ns1:gridCol w="4991100"/>
              </ns1:tblGrid>
              <ns1:tr h="342900"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发力方向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场景与技术判断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能力建设重点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资源受限推理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竞品采用统一内存形态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统筹设备内存与主机内存占用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按场景选框架</ns1:t>
                      </ns1:r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，优化内存、显存与数据搬运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提升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资源受限下的推理性能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Windows 生态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打通 Windows 系统下的软硬件栈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适配 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HDK、CANN、PTA 及推理框架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支撑 Windows 生态应用落地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6191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演进探索：小模型拼接、端到端 VLA、世界模型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当前模型多样、重训练，未来面向推理落地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具身智能推理框架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支撑多样模型结构与应用部署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42925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无人车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从模型单点适配、优化走向通用能力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通用推理加速算子库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沉淀模型迁移、性能调优 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Skills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9" name="">
            <ns1:extLst>
              <ns1:ext uri="{FF2B5EF4-FFF2-40B4-BE49-F238E27FC236}">
                <ns2:creationId id="{6A9B0901-22EF-4C59-A3FA-667B1A785044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401955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当前痛点与规划策略</ns1:t>
            </ns1:r>
          </ns1:p>
        </ns0:txBody>
      </ns0:sp>
      <ns0:graphicFrame>
        <ns0:nvGraphicFramePr>
          <ns0:cNvPr id="40" name="">
            <ns1:extLst>
              <ns1:ext uri="{FF2B5EF4-FFF2-40B4-BE49-F238E27FC236}">
                <ns2:creationId id="{4018CF7E-6867-4117-BB51-0354771CCB3F}"/>
              </ns1:ext>
            </ns1:extLst>
          </ns0:cNvPr>
          <ns0:cNvGraphicFramePr/>
          <ns0:nvPr/>
        </ns0:nvGraphicFramePr>
        <ns0:xfrm>
          <ns1:off x="419100" y="4419600"/>
          <ns1:ext cx="11353800" cy="2000250"/>
        </ns0:xfrm>
        <ns1:graphic>
          <ns1:graphicData uri="http://schemas.openxmlformats.org/drawingml/2006/table">
            <ns1:tbl>
              <ns1:tblPr/>
              <ns1:tblGrid>
                <ns1:gridCol w="3238500"/>
                <ns1:gridCol w="8115300"/>
              </ns1:tblGrid>
              <ns1:tr h="342900"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当前痛点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7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规划策略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1E0E1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310P 能力受限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中心推理技术难以直接复用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下一代芯片发布前提前预研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FP4、FP8、W4A8，权重卸载、KV Cache 量化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框架选择受限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目前主要关注 MindIE、vLLM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建立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面向场景的框架调研与选型能力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纳入 llama.cpp、Ollama 等方案，评估内存占用与性能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552450">
                <ns1:tc>
                  <ns1:txBody>
                    <ns1:bodyPr/>
                    <ns1:lstStyle/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具身智能与无人车</ns1:t>
                      </ns1:r>
                    </ns1:p>
                    <ns1:p>
                      <ns1:r>
                        <ns1:rPr sz="14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以模型单点适配和优化为主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从单点优化走向</ns1:t>
                      </ns1:r>
                      <ns1:r>
                        <ns1:rPr sz="1425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可复用的软件能力</ns1:t>
                      </ns1:r>
                    </ns1:p>
                    <ns1:p>
                      <ns1:r>
                        <ns1:rPr sz="1425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建设具身智能推理框架、无人车通用推理加速库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41" name="">
            <ns1:extLst>
              <ns1:ext uri="{FF2B5EF4-FFF2-40B4-BE49-F238E27FC236}">
                <ns2:creationId id="{1BA1D3AE-00FE-4767-8EDE-FBB706365C24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</ns0:spTree>
    <ns0:extLst>
      <ns0:ext uri="{BB962C8B-B14F-4D97-AF65-F5344CB8AC3E}">
        <ns3:creationId val="200186141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1AB4E95B-711F-47F4-A4CD-0A864B03FE8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2B1790C4-B000-410A-9270-D00A2593E2CB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团队能力建设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38DFE42-0124-45C5-8C43-BC419FB667F0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933450"/>
            <ns1:ext cx="113538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与大家携手并进，提升端侧推理竞争力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158835E-06CD-4523-8347-FEC8A2F5B38E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390650"/>
            <ns1:ext cx="113538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让团队的每一位成员都持续成长</ns1:t>
            </ns1:r>
          </ns1:p>
        </ns0:txBody>
      </ns0:sp>
      <ns0:graphicFrame>
        <ns0:nvGraphicFramePr>
          <ns0:cNvPr id="5" name="">
            <ns1:extLst>
              <ns1:ext uri="{FF2B5EF4-FFF2-40B4-BE49-F238E27FC236}">
                <ns2:creationId id="{5DC2A9A1-EDD5-44FF-AAB0-7C67F832E96F}"/>
              </ns1:ext>
            </ns1:extLst>
          </ns0:cNvPr>
          <ns0:cNvGraphicFramePr/>
          <ns0:nvPr/>
        </ns0:nvGraphicFramePr>
        <ns0:xfrm>
          <ns1:off x="419100" y="1981200"/>
          <ns1:ext cx="9029700" cy="3924300"/>
        </ns0:xfrm>
        <ns1:graphic>
          <ns1:graphicData uri="http://schemas.openxmlformats.org/drawingml/2006/table">
            <ns1:tbl>
              <ns1:tblPr firstRow="0" bandRow="0"/>
              <ns1:tblGrid>
                <ns1:gridCol w="1714500"/>
                <ns1:gridCol w="9639300"/>
              </ns1:tblGrid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需求交付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有节奏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：按优先级与里程碑推进，定期同步进展与风险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契约化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：明确范围、责任人、交付时间及验收标准，变更及时对齐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高质量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：落实评审、精度与性能验证、回归检查，交付后复盘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T w="9525">
                      <ns1:solidFill>
                        <ns1:srgbClr val="D8D8D8"/>
                      </ns1:solidFill>
                      <ns1:prstDash val="solid"/>
                    </ns1:lnT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技术竞争力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推理框架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：开展场景选型、关键特性适配和 Windows 生态建设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模型与加速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：沉淀模型适配、量化、内存优化及算子加速能力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具身智能和无人车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：建设推理框架、通用加速库与调优 Skills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团队协作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职责分工明确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：模块有人负责，接口与协作边界清晰，关键岗位有备份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开发与技术经验共享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：通过代码评审、专题分享、文档与案例库沉淀经验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周边团队协同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：与公共开发部、技术开发部对齐接口、版本和问题闭环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100965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00000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人员成长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8D8D8"/>
                      </ns1:solidFill>
                      <ns1:prstDash val="solid"/>
                    </ns1:lnL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正反馈与及时认可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：让贡献可见，及时肯定结果、进步与协作行为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发挥个人长处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：结合兴趣与优势分配任务，明确个人能力提升目标</ns1:t>
                      </ns1:r>
                    </ns1:p>
                    <ns1:p>
                      <ns1:r>
                        <ns1:rPr sz="1500" b="1">
                          <ns1:solidFill>
                            <ns1:srgbClr val="BC2026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独立承担工作</ns1:t>
                      </ns1:r>
                      <ns1:r>
                        <ns1:rPr sz="1500" b="0">
                          <ns1:solidFill>
                            <ns1:srgbClr val="303030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：逐步负责完整模块或课题，配套导师支持与复盘反馈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8D8D8"/>
                      </ns1:solidFill>
                      <ns1:prstDash val="solid"/>
                    </ns1:lnR>
                    <ns1:lnB w="9525">
                      <ns1:solidFill>
                        <ns1:srgbClr val="D8D8D8"/>
                      </ns1:solidFill>
                      <ns1:prstDash val="solid"/>
                    </ns1:lnB>
                    <ns1:solidFill>
                      <ns1:srgbClr val="F7F7F7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6" name="">
            <ns1:extLst>
              <ns1:ext uri="{FF2B5EF4-FFF2-40B4-BE49-F238E27FC236}">
                <ns2:creationId id="{EB884460-F851-4A14-9FAA-F8BF3D504BD3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1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04</ns1:t>
            </ns1:r>
          </ns1:p>
        </ns0:txBody>
      </ns0:sp>
    </ns0:spTree>
    <ns0:extLst>
      <ns0:ext uri="{BB962C8B-B14F-4D97-AF65-F5344CB8AC3E}">
        <ns3:creationId val="913934780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6" name="">
            <ns1:extLst>
              <ns1:ext uri="{FF2B5EF4-FFF2-40B4-BE49-F238E27FC236}">
                <ns2:creationId id="{A79B3DB9-2EAB-4EDE-AF27-B3DC2692024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70ED87BD-79F1-40EA-AF82-6E1AFD0735DA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端侧推理：应用场景与能力建设</ns1:t>
            </ns1:r>
          </ns1:p>
        </ns0:txBody>
      </ns0:sp>
      <ns0:sp>
        <ns0:nvSpPr>
          <ns0:cNvPr id="47" name="">
            <ns1:extLst>
              <ns1:ext uri="{FF2B5EF4-FFF2-40B4-BE49-F238E27FC236}">
                <ns2:creationId id="{F7C87DB2-2022-40A9-9402-E317864DAAC8}"/>
              </ns1:ext>
            </ns1:extLst>
          </ns0:cNvPr>
          <ns0:cNvSpPr>
            <ns1:spLocks noGrp="1"/>
          </ns0:cNvSpPr>
          <ns0:nvPr/>
        </ns0:nvSpPr>
        <ns0:spPr>
          <ns1:xfrm>
            <ns1:off x="312958" y="990600"/>
            <ns1:ext cx="1718146" cy="1143000"/>
          </ns1:xfrm>
          <ns1:prstGeom prst="roundRect">
            <ns1:avLst>
              <ns1:gd name="adj" fmla="val 15000"/>
            </ns1:avLst>
          </ns1:prstGeom>
          <ns1:solidFill>
            <ns1:srgbClr val="D4E8C8"/>
          </ns1:solidFill>
          <ns1:ln w="12383">
            <ns1:solidFill>
              <ns1:srgbClr val="333333"/>
            </ns1:solidFill>
          </ns1:ln>
        </ns0:spPr>
      </ns0:sp>
      <ns0:sp>
        <ns0:nvSpPr>
          <ns0:cNvPr id="48" name="">
            <ns1:extLst>
              <ns1:ext uri="{FF2B5EF4-FFF2-40B4-BE49-F238E27FC236}">
                <ns2:creationId id="{38EDCC32-F758-40AA-8DF6-A35589773A16}"/>
              </ns1:ext>
            </ns1:extLst>
          </ns0:cNvPr>
          <ns0:cNvSpPr>
            <ns1:spLocks noGrp="1"/>
          </ns0:cNvSpPr>
          <ns0:nvPr/>
        </ns0:nvSpPr>
        <ns0:spPr>
          <ns1:xfrm>
            <ns1:off x="365824" y="1066800"/>
            <ns1:ext cx="1612414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桌面盒子</ns1:t>
            </ns1:r>
          </ns1:p>
        </ns0:txBody>
      </ns0:sp>
      <ns0:sp>
        <ns0:nvSpPr>
          <ns0:cNvPr id="49" name="">
            <ns1:extLst>
              <ns1:ext uri="{FF2B5EF4-FFF2-40B4-BE49-F238E27FC236}">
                <ns2:creationId id="{08580A70-22D1-4F1D-82AA-D1F440524650}"/>
              </ns1:ext>
            </ns1:extLst>
          </ns0:cNvPr>
          <ns0:cNvSpPr>
            <ns1:spLocks noGrp="1"/>
          </ns0:cNvSpPr>
          <ns0:nvPr/>
        </ns0:nvSpPr>
        <ns0:spPr>
          <ns1:xfrm>
            <ns1:off x="365824" y="1476375"/>
            <ns1:ext cx="1612414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DGX Spark</ns1:t>
            </ns1:r>
          </ns1:p>
        </ns0:txBody>
      </ns0:sp>
      <ns0:sp>
        <ns0:nvSpPr>
          <ns0:cNvPr id="50" name="">
            <ns1:extLst>
              <ns1:ext uri="{FF2B5EF4-FFF2-40B4-BE49-F238E27FC236}">
                <ns2:creationId id="{69906815-DE14-4E55-AF8C-CDF1A699F90A}"/>
              </ns1:ext>
            </ns1:extLst>
          </ns0:cNvPr>
          <ns0:cNvSpPr>
            <ns1:spLocks noGrp="1"/>
          </ns0:cNvSpPr>
          <ns0:nvPr/>
        </ns0:nvSpPr>
        <ns0:spPr>
          <ns1:xfrm>
            <ns1:off x="365824" y="1809750"/>
            <ns1:ext cx="1612414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多用户 Agent 服务</ns1:t>
            </ns1:r>
          </ns1:p>
        </ns0:txBody>
      </ns0:sp>
      <ns0:sp>
        <ns0:nvSpPr>
          <ns0:cNvPr id="51" name="">
            <ns1:extLst>
              <ns1:ext uri="{FF2B5EF4-FFF2-40B4-BE49-F238E27FC236}">
                <ns2:creationId id="{23FA8ECD-A371-49C5-8D4D-FCA492C99B3E}"/>
              </ns1:ext>
            </ns1:extLst>
          </ns0:cNvPr>
          <ns0:cNvSpPr>
            <ns1:spLocks noGrp="1"/>
          </ns0:cNvSpPr>
          <ns0:nvPr/>
        </ns0:nvSpPr>
        <ns0:spPr>
          <ns1:xfrm>
            <ns1:off x="2169877" y="990600"/>
            <ns1:ext cx="1718146" cy="1143000"/>
          </ns1:xfrm>
          <ns1:prstGeom prst="roundRect">
            <ns1:avLst>
              <ns1:gd name="adj" fmla="val 15000"/>
            </ns1:avLst>
          </ns1:prstGeom>
          <ns1:solidFill>
            <ns1:srgbClr val="D4E8C8"/>
          </ns1:solidFill>
          <ns1:ln w="12383">
            <ns1:solidFill>
              <ns1:srgbClr val="333333"/>
            </ns1:solidFill>
          </ns1:ln>
        </ns0:spPr>
      </ns0:sp>
      <ns0:sp>
        <ns0:nvSpPr>
          <ns0:cNvPr id="52" name="">
            <ns1:extLst>
              <ns1:ext uri="{FF2B5EF4-FFF2-40B4-BE49-F238E27FC236}">
                <ns2:creationId id="{83129DF4-7CF8-4C71-98BB-C5381D06DDA9}"/>
              </ns1:ext>
            </ns1:extLst>
          </ns0:cNvPr>
          <ns0:cNvSpPr>
            <ns1:spLocks noGrp="1"/>
          </ns0:cNvSpPr>
          <ns0:nvPr/>
        </ns0:nvSpPr>
        <ns0:spPr>
          <ns1:xfrm>
            <ns1:off x="2222743" y="1066800"/>
            <ns1:ext cx="1612414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8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PC</ns1:t>
            </ns1:r>
          </ns1:p>
        </ns0:txBody>
      </ns0:sp>
      <ns0:sp>
        <ns0:nvSpPr>
          <ns0:cNvPr id="53" name="">
            <ns1:extLst>
              <ns1:ext uri="{FF2B5EF4-FFF2-40B4-BE49-F238E27FC236}">
                <ns2:creationId id="{D8784A12-F9C2-4644-BC4B-9BCCF95F91CD}"/>
              </ns1:ext>
            </ns1:extLst>
          </ns0:cNvPr>
          <ns0:cNvSpPr>
            <ns1:spLocks noGrp="1"/>
          </ns0:cNvSpPr>
          <ns0:nvPr/>
        </ns0:nvSpPr>
        <ns0:spPr>
          <ns1:xfrm>
            <ns1:off x="2222743" y="1476375"/>
            <ns1:ext cx="1612414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RTX Spark</ns1:t>
            </ns1:r>
          </ns1:p>
        </ns0:txBody>
      </ns0:sp>
      <ns0:sp>
        <ns0:nvSpPr>
          <ns0:cNvPr id="54" name="">
            <ns1:extLst>
              <ns1:ext uri="{FF2B5EF4-FFF2-40B4-BE49-F238E27FC236}">
                <ns2:creationId id="{0AB5AFF9-5070-4DB2-9A51-51B02E165687}"/>
              </ns1:ext>
            </ns1:extLst>
          </ns0:cNvPr>
          <ns0:cNvSpPr>
            <ns1:spLocks noGrp="1"/>
          </ns0:cNvSpPr>
          <ns0:nvPr/>
        </ns0:nvSpPr>
        <ns0:spPr>
          <ns1:xfrm>
            <ns1:off x="2222743" y="1809750"/>
            <ns1:ext cx="1612414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个人助手与本地 AI</ns1:t>
            </ns1:r>
          </ns1:p>
        </ns0:txBody>
      </ns0:sp>
      <ns0:sp>
        <ns0:nvSpPr>
          <ns0:cNvPr id="55" name="">
            <ns1:extLst>
              <ns1:ext uri="{FF2B5EF4-FFF2-40B4-BE49-F238E27FC236}">
                <ns2:creationId id="{F5A0AB5A-1BE9-4589-ABE1-E3AD5F781B1E}"/>
              </ns1:ext>
            </ns1:extLst>
          </ns0:cNvPr>
          <ns0:cNvSpPr>
            <ns1:spLocks noGrp="1"/>
          </ns0:cNvSpPr>
          <ns0:nvPr/>
        </ns0:nvSpPr>
        <ns0:spPr>
          <ns1:xfrm>
            <ns1:off x="4026796" y="990600"/>
            <ns1:ext cx="1718146" cy="1143000"/>
          </ns1:xfrm>
          <ns1:prstGeom prst="roundRect">
            <ns1:avLst>
              <ns1:gd name="adj" fmla="val 15000"/>
            </ns1:avLst>
          </ns1:prstGeom>
          <ns1:solidFill>
            <ns1:srgbClr val="D4E8C8"/>
          </ns1:solidFill>
          <ns1:ln w="12383">
            <ns1:solidFill>
              <ns1:srgbClr val="333333"/>
            </ns1:solidFill>
          </ns1:ln>
        </ns0:spPr>
      </ns0:sp>
      <ns0:sp>
        <ns0:nvSpPr>
          <ns0:cNvPr id="56" name="">
            <ns1:extLst>
              <ns1:ext uri="{FF2B5EF4-FFF2-40B4-BE49-F238E27FC236}">
                <ns2:creationId id="{1D9E017B-47D8-4DC3-9189-E107FBC3CFE3}"/>
              </ns1:ext>
            </ns1:extLst>
          </ns0:cNvPr>
          <ns0:cNvSpPr>
            <ns1:spLocks noGrp="1"/>
          </ns0:cNvSpPr>
          <ns0:nvPr/>
        </ns0:nvSpPr>
        <ns0:spPr>
          <ns1:xfrm>
            <ns1:off x="4079662" y="1066800"/>
            <ns1:ext cx="1612414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嵌入式 / 具身 / 无人车</ns1:t>
            </ns1:r>
          </ns1:p>
        </ns0:txBody>
      </ns0:sp>
      <ns0:sp>
        <ns0:nvSpPr>
          <ns0:cNvPr id="57" name="">
            <ns1:extLst>
              <ns1:ext uri="{FF2B5EF4-FFF2-40B4-BE49-F238E27FC236}">
                <ns2:creationId id="{00D99603-1E20-4323-BE8B-703C147C7429}"/>
              </ns1:ext>
            </ns1:extLst>
          </ns0:cNvPr>
          <ns0:cNvSpPr>
            <ns1:spLocks noGrp="1"/>
          </ns0:cNvSpPr>
          <ns0:nvPr/>
        </ns0:nvSpPr>
        <ns0:spPr>
          <ns1:xfrm>
            <ns1:off x="4079662" y="1476375"/>
            <ns1:ext cx="1612414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AGX Orin / Thor</ns1:t>
            </ns1:r>
          </ns1:p>
        </ns0:txBody>
      </ns0:sp>
      <ns0:sp>
        <ns0:nvSpPr>
          <ns0:cNvPr id="58" name="">
            <ns1:extLst>
              <ns1:ext uri="{FF2B5EF4-FFF2-40B4-BE49-F238E27FC236}">
                <ns2:creationId id="{141ED11F-C465-4338-8B15-4C3D2F1DE20A}"/>
              </ns1:ext>
            </ns1:extLst>
          </ns0:cNvPr>
          <ns0:cNvSpPr>
            <ns1:spLocks noGrp="1"/>
          </ns0:cNvSpPr>
          <ns0:nvPr/>
        </ns0:nvSpPr>
        <ns0:spPr>
          <ns1:xfrm>
            <ns1:off x="4079662" y="1809750"/>
            <ns1:ext cx="1612414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多模态与实时推理</ns1:t>
            </ns1:r>
          </ns1:p>
        </ns0:txBody>
      </ns0:sp>
      <ns0:sp>
        <ns0:nvSpPr>
          <ns0:cNvPr id="59" name="">
            <ns1:extLst>
              <ns1:ext uri="{FF2B5EF4-FFF2-40B4-BE49-F238E27FC236}">
                <ns2:creationId id="{5E956310-BF0D-468B-99E0-5C8CDC5D9B00}"/>
              </ns1:ext>
            </ns1:extLst>
          </ns0:cNvPr>
          <ns0:cNvSpPr>
            <ns1:spLocks noGrp="1"/>
          </ns0:cNvSpPr>
          <ns0:nvPr/>
        </ns0:nvSpPr>
        <ns0:spPr>
          <ns1:xfrm>
            <ns1:off x="266700" y="2333625"/>
            <ns1:ext cx="5524500" cy="2324100"/>
          </ns1:xfrm>
          <ns1:prstGeom prst="roundRect">
            <ns1:avLst>
              <ns1:gd name="adj" fmla="val 7377"/>
            </ns1:avLst>
          </ns1:prstGeom>
          <ns1:solidFill>
            <ns1:srgbClr val="FFFFFF"/>
          </ns1:solidFill>
          <ns1:ln w="12383">
            <ns1:solidFill>
              <ns1:srgbClr val="333333"/>
            </ns1:solidFill>
          </ns1:ln>
        </ns0:spPr>
      </ns0:sp>
      <ns0:sp>
        <ns0:nvSpPr>
          <ns0:cNvPr id="60" name="">
            <ns1:extLst>
              <ns1:ext uri="{FF2B5EF4-FFF2-40B4-BE49-F238E27FC236}">
                <ns2:creationId id="{ADEC3A80-FEA0-41C4-9B14-C9CAA0BF4861}"/>
              </ns1:ext>
            </ns1:extLst>
          </ns0:cNvPr>
          <ns0:cNvSpPr>
            <ns1:spLocks noGrp="1"/>
          </ns0:cNvSpPr>
          <ns0:nvPr/>
        </ns0:nvSpPr>
        <ns0:spPr>
          <ns1:xfrm>
            <ns1:off x="379040" y="2371725"/>
            <ns1:ext cx="5286603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4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4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端侧推理工作主线</ns1:t>
            </ns1:r>
          </ns1:p>
        </ns0:txBody>
      </ns0:sp>
      <ns0:sp>
        <ns0:nvSpPr>
          <ns0:cNvPr id="61" name="">
            <ns1:extLst>
              <ns1:ext uri="{FF2B5EF4-FFF2-40B4-BE49-F238E27FC236}">
                <ns2:creationId id="{15306518-0213-4EB5-B1D7-6AE4F8965C5D}"/>
              </ns1:ext>
            </ns1:extLst>
          </ns0:cNvPr>
          <ns0:cNvSpPr>
            <ns1:spLocks noGrp="1"/>
          </ns0:cNvSpPr>
          <ns0:nvPr/>
        </ns0:nvSpPr>
        <ns0:spPr>
          <ns1:xfrm>
            <ns1:off x="379040" y="2724150"/>
            <ns1:ext cx="1585981" cy="1790700"/>
          </ns1:xfrm>
          <ns1:prstGeom prst="roundRect">
            <ns1:avLst>
              <ns1:gd name="adj" fmla="val 9574"/>
            </ns1:avLst>
          </ns1:prstGeom>
          <ns1:solidFill>
            <ns1:srgbClr val="FFF3CC"/>
          </ns1:solidFill>
          <ns1:ln w="12383">
            <ns1:solidFill>
              <ns1:srgbClr val="333333"/>
            </ns1:solidFill>
          </ns1:ln>
        </ns0:spPr>
      </ns0:sp>
      <ns0:sp>
        <ns0:nvSpPr>
          <ns0:cNvPr id="62" name="">
            <ns1:extLst>
              <ns1:ext uri="{FF2B5EF4-FFF2-40B4-BE49-F238E27FC236}">
                <ns2:creationId id="{197ADFF1-019E-48B5-96D2-D6F468F5D5FD}"/>
              </ns1:ext>
            </ns1:extLst>
          </ns0:cNvPr>
          <ns0:cNvSpPr>
            <ns1:spLocks noGrp="1"/>
          </ns0:cNvSpPr>
          <ns0:nvPr/>
        </ns0:nvSpPr>
        <ns0:spPr>
          <ns1:xfrm>
            <ns1:off x="418690" y="2809875"/>
            <ns1:ext cx="1506682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模型与引擎适配</ns1:t>
            </ns1:r>
          </ns1:p>
        </ns0:txBody>
      </ns0:sp>
      <ns0:sp>
        <ns0:nvSpPr>
          <ns0:cNvPr id="63" name="">
            <ns1:extLst>
              <ns1:ext uri="{FF2B5EF4-FFF2-40B4-BE49-F238E27FC236}">
                <ns2:creationId id="{79629D1C-EE12-4892-9AE9-9D1C148B4521}"/>
              </ns1:ext>
            </ns1:extLst>
          </ns0:cNvPr>
          <ns0:cNvSpPr>
            <ns1:spLocks noGrp="1"/>
          </ns0:cNvSpPr>
          <ns0:nvPr/>
        </ns0:nvSpPr>
        <ns0:spPr>
          <ns1:xfrm>
            <ns1:off x="497989" y="31908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64" name="">
            <ns1:extLst>
              <ns1:ext uri="{FF2B5EF4-FFF2-40B4-BE49-F238E27FC236}">
                <ns2:creationId id="{18066E9C-489D-4604-9539-4A277A7CF926}"/>
              </ns1:ext>
            </ns1:extLst>
          </ns0:cNvPr>
          <ns0:cNvSpPr>
            <ns1:spLocks noGrp="1"/>
          </ns0:cNvSpPr>
          <ns0:nvPr/>
        </ns0:nvSpPr>
        <ns0:spPr>
          <ns1:xfrm>
            <ns1:off x="531030" y="31908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引擎选型与接入</ns1:t>
            </ns1:r>
          </ns1:p>
        </ns0:txBody>
      </ns0:sp>
      <ns0:sp>
        <ns0:nvSpPr>
          <ns0:cNvPr id="65" name="">
            <ns1:extLst>
              <ns1:ext uri="{FF2B5EF4-FFF2-40B4-BE49-F238E27FC236}">
                <ns2:creationId id="{CD0D8E38-EF71-490C-993C-91F28B4D2712}"/>
              </ns1:ext>
            </ns1:extLst>
          </ns0:cNvPr>
          <ns0:cNvSpPr>
            <ns1:spLocks noGrp="1"/>
          </ns0:cNvSpPr>
          <ns0:nvPr/>
        </ns0:nvSpPr>
        <ns0:spPr>
          <ns1:xfrm>
            <ns1:off x="497989" y="359092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66" name="">
            <ns1:extLst>
              <ns1:ext uri="{FF2B5EF4-FFF2-40B4-BE49-F238E27FC236}">
                <ns2:creationId id="{A499F4A2-ADA0-46D3-B9FD-0CDBAE5730E1}"/>
              </ns1:ext>
            </ns1:extLst>
          </ns0:cNvPr>
          <ns0:cNvSpPr>
            <ns1:spLocks noGrp="1"/>
          </ns0:cNvSpPr>
          <ns0:nvPr/>
        </ns0:nvSpPr>
        <ns0:spPr>
          <ns1:xfrm>
            <ns1:off x="531030" y="359092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LLM / VLM / VLA</ns1:t>
            </ns1:r>
          </ns1:p>
        </ns0:txBody>
      </ns0:sp>
      <ns0:sp>
        <ns0:nvSpPr>
          <ns0:cNvPr id="67" name="">
            <ns1:extLst>
              <ns1:ext uri="{FF2B5EF4-FFF2-40B4-BE49-F238E27FC236}">
                <ns2:creationId id="{38D9FDE9-23D9-4E79-9745-11C37C793D10}"/>
              </ns1:ext>
            </ns1:extLst>
          </ns0:cNvPr>
          <ns0:cNvSpPr>
            <ns1:spLocks noGrp="1"/>
          </ns0:cNvSpPr>
          <ns0:nvPr/>
        </ns0:nvSpPr>
        <ns0:spPr>
          <ns1:xfrm>
            <ns1:off x="497989" y="39909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68" name="">
            <ns1:extLst>
              <ns1:ext uri="{FF2B5EF4-FFF2-40B4-BE49-F238E27FC236}">
                <ns2:creationId id="{7606CE98-FA3F-4F43-AE22-2FC238BD5FCC}"/>
              </ns1:ext>
            </ns1:extLst>
          </ns0:cNvPr>
          <ns0:cNvSpPr>
            <ns1:spLocks noGrp="1"/>
          </ns0:cNvSpPr>
          <ns0:nvPr/>
        </ns0:nvSpPr>
        <ns0:spPr>
          <ns1:xfrm>
            <ns1:off x="531030" y="39909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精度与兼容验证</ns1:t>
            </ns1:r>
          </ns1:p>
        </ns0:txBody>
      </ns0:sp>
      <ns0:sp>
        <ns0:nvSpPr>
          <ns0:cNvPr id="69" name="">
            <ns1:extLst>
              <ns1:ext uri="{FF2B5EF4-FFF2-40B4-BE49-F238E27FC236}">
                <ns2:creationId id="{6F6AB058-710D-4040-87A6-C565A589C33C}"/>
              </ns1:ext>
            </ns1:extLst>
          </ns0:cNvPr>
          <ns0:cNvSpPr>
            <ns1:spLocks noGrp="1"/>
          </ns0:cNvSpPr>
          <ns0:nvPr/>
        </ns0:nvSpPr>
        <ns0:spPr>
          <ns1:xfrm>
            <ns1:off x="2235960" y="2724150"/>
            <ns1:ext cx="1585981" cy="1790700"/>
          </ns1:xfrm>
          <ns1:prstGeom prst="roundRect">
            <ns1:avLst>
              <ns1:gd name="adj" fmla="val 9574"/>
            </ns1:avLst>
          </ns1:prstGeom>
          <ns1:solidFill>
            <ns1:srgbClr val="FFF3CC"/>
          </ns1:solidFill>
          <ns1:ln w="12383">
            <ns1:solidFill>
              <ns1:srgbClr val="333333"/>
            </ns1:solidFill>
          </ns1:ln>
        </ns0:spPr>
      </ns0:sp>
      <ns0:sp>
        <ns0:nvSpPr>
          <ns0:cNvPr id="70" name="">
            <ns1:extLst>
              <ns1:ext uri="{FF2B5EF4-FFF2-40B4-BE49-F238E27FC236}">
                <ns2:creationId id="{BC7B3F6C-271D-4CBB-8991-55BBF1B6EDDC}"/>
              </ns1:ext>
            </ns1:extLst>
          </ns0:cNvPr>
          <ns0:cNvSpPr>
            <ns1:spLocks noGrp="1"/>
          </ns0:cNvSpPr>
          <ns0:nvPr/>
        </ns0:nvSpPr>
        <ns0:spPr>
          <ns1:xfrm>
            <ns1:off x="2275609" y="2809875"/>
            <ns1:ext cx="1506682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资源与性能优化</ns1:t>
            </ns1:r>
          </ns1:p>
        </ns0:txBody>
      </ns0:sp>
      <ns0:sp>
        <ns0:nvSpPr>
          <ns0:cNvPr id="71" name="">
            <ns1:extLst>
              <ns1:ext uri="{FF2B5EF4-FFF2-40B4-BE49-F238E27FC236}">
                <ns2:creationId id="{6AE38BB6-9114-40CD-A0CC-C485981E0782}"/>
              </ns1:ext>
            </ns1:extLst>
          </ns0:cNvPr>
          <ns0:cNvSpPr>
            <ns1:spLocks noGrp="1"/>
          </ns0:cNvSpPr>
          <ns0:nvPr/>
        </ns0:nvSpPr>
        <ns0:spPr>
          <ns1:xfrm>
            <ns1:off x="2354908" y="31908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72" name="">
            <ns1:extLst>
              <ns1:ext uri="{FF2B5EF4-FFF2-40B4-BE49-F238E27FC236}">
                <ns2:creationId id="{EC729BB1-236D-48AA-B89E-ADB458175D4E}"/>
              </ns1:ext>
            </ns1:extLst>
          </ns0:cNvPr>
          <ns0:cNvSpPr>
            <ns1:spLocks noGrp="1"/>
          </ns0:cNvSpPr>
          <ns0:nvPr/>
        </ns0:nvSpPr>
        <ns0:spPr>
          <ns1:xfrm>
            <ns1:off x="2387949" y="31908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权重与 KV 压缩</ns1:t>
            </ns1:r>
          </ns1:p>
        </ns0:txBody>
      </ns0:sp>
      <ns0:sp>
        <ns0:nvSpPr>
          <ns0:cNvPr id="73" name="">
            <ns1:extLst>
              <ns1:ext uri="{FF2B5EF4-FFF2-40B4-BE49-F238E27FC236}">
                <ns2:creationId id="{F2348BF0-0437-445E-AC49-F9464F1664C7}"/>
              </ns1:ext>
            </ns1:extLst>
          </ns0:cNvPr>
          <ns0:cNvSpPr>
            <ns1:spLocks noGrp="1"/>
          </ns0:cNvSpPr>
          <ns0:nvPr/>
        </ns0:nvSpPr>
        <ns0:spPr>
          <ns1:xfrm>
            <ns1:off x="2354908" y="359092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74" name="">
            <ns1:extLst>
              <ns1:ext uri="{FF2B5EF4-FFF2-40B4-BE49-F238E27FC236}">
                <ns2:creationId id="{DEF48D5F-F7E7-4F89-98B2-790E70F5CFF6}"/>
              </ns1:ext>
            </ns1:extLst>
          </ns0:cNvPr>
          <ns0:cNvSpPr>
            <ns1:spLocks noGrp="1"/>
          </ns0:cNvSpPr>
          <ns0:nvPr/>
        </ns0:nvSpPr>
        <ns0:spPr>
          <ns1:xfrm>
            <ns1:off x="2387949" y="359092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量化与图算子优化</ns1:t>
            </ns1:r>
          </ns1:p>
        </ns0:txBody>
      </ns0:sp>
      <ns0:sp>
        <ns0:nvSpPr>
          <ns0:cNvPr id="75" name="">
            <ns1:extLst>
              <ns1:ext uri="{FF2B5EF4-FFF2-40B4-BE49-F238E27FC236}">
                <ns2:creationId id="{C118394B-EF05-4A51-9395-DA42216DEF7A}"/>
              </ns1:ext>
            </ns1:extLst>
          </ns0:cNvPr>
          <ns0:cNvSpPr>
            <ns1:spLocks noGrp="1"/>
          </ns0:cNvSpPr>
          <ns0:nvPr/>
        </ns0:nvSpPr>
        <ns0:spPr>
          <ns1:xfrm>
            <ns1:off x="2354908" y="39909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76" name="">
            <ns1:extLst>
              <ns1:ext uri="{FF2B5EF4-FFF2-40B4-BE49-F238E27FC236}">
                <ns2:creationId id="{4E76EA98-ABE3-43C6-BFA1-4D101758EF75}"/>
              </ns1:ext>
            </ns1:extLst>
          </ns0:cNvPr>
          <ns0:cNvSpPr>
            <ns1:spLocks noGrp="1"/>
          </ns0:cNvSpPr>
          <ns0:nvPr/>
        </ns0:nvSpPr>
        <ns0:spPr>
          <ns1:xfrm>
            <ns1:off x="2387949" y="39909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内存与异构协同</ns1:t>
            </ns1:r>
          </ns1:p>
        </ns0:txBody>
      </ns0:sp>
      <ns0:sp>
        <ns0:nvSpPr>
          <ns0:cNvPr id="77" name="">
            <ns1:extLst>
              <ns1:ext uri="{FF2B5EF4-FFF2-40B4-BE49-F238E27FC236}">
                <ns2:creationId id="{7ED2D44B-337B-4F5F-A94C-72FED9D37AA3}"/>
              </ns1:ext>
            </ns1:extLst>
          </ns0:cNvPr>
          <ns0:cNvSpPr>
            <ns1:spLocks noGrp="1"/>
          </ns0:cNvSpPr>
          <ns0:nvPr/>
        </ns0:nvSpPr>
        <ns0:spPr>
          <ns1:xfrm>
            <ns1:off x="4092879" y="2724150"/>
            <ns1:ext cx="1585981" cy="1790700"/>
          </ns1:xfrm>
          <ns1:prstGeom prst="roundRect">
            <ns1:avLst>
              <ns1:gd name="adj" fmla="val 9574"/>
            </ns1:avLst>
          </ns1:prstGeom>
          <ns1:solidFill>
            <ns1:srgbClr val="FFF3CC"/>
          </ns1:solidFill>
          <ns1:ln w="12383">
            <ns1:solidFill>
              <ns1:srgbClr val="333333"/>
            </ns1:solidFill>
          </ns1:ln>
        </ns0:spPr>
      </ns0:sp>
      <ns0:sp>
        <ns0:nvSpPr>
          <ns0:cNvPr id="78" name="">
            <ns1:extLst>
              <ns1:ext uri="{FF2B5EF4-FFF2-40B4-BE49-F238E27FC236}">
                <ns2:creationId id="{1A2E2E46-A5D6-42CA-905F-FBA12FEF4CBC}"/>
              </ns1:ext>
            </ns1:extLst>
          </ns0:cNvPr>
          <ns0:cNvSpPr>
            <ns1:spLocks noGrp="1"/>
          </ns0:cNvSpPr>
          <ns0:nvPr/>
        </ns0:nvSpPr>
        <ns0:spPr>
          <ns1:xfrm>
            <ns1:off x="4132528" y="2809875"/>
            <ns1:ext cx="1506682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AI 工程能力沉淀</ns1:t>
            </ns1:r>
          </ns1:p>
        </ns0:txBody>
      </ns0:sp>
      <ns0:sp>
        <ns0:nvSpPr>
          <ns0:cNvPr id="79" name="">
            <ns1:extLst>
              <ns1:ext uri="{FF2B5EF4-FFF2-40B4-BE49-F238E27FC236}">
                <ns2:creationId id="{0356D03B-BDD0-4BCC-B433-5085F6CDA016}"/>
              </ns1:ext>
            </ns1:extLst>
          </ns0:cNvPr>
          <ns0:cNvSpPr>
            <ns1:spLocks noGrp="1"/>
          </ns0:cNvSpPr>
          <ns0:nvPr/>
        </ns0:nvSpPr>
        <ns0:spPr>
          <ns1:xfrm>
            <ns1:off x="4211827" y="31908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80" name="">
            <ns1:extLst>
              <ns1:ext uri="{FF2B5EF4-FFF2-40B4-BE49-F238E27FC236}">
                <ns2:creationId id="{43E1C3B3-0A20-4F2A-974C-25FAFAE18759}"/>
              </ns1:ext>
            </ns1:extLst>
          </ns0:cNvPr>
          <ns0:cNvSpPr>
            <ns1:spLocks noGrp="1"/>
          </ns0:cNvSpPr>
          <ns0:nvPr/>
        </ns0:nvSpPr>
        <ns0:spPr>
          <ns1:xfrm>
            <ns1:off x="4244869" y="31908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模型适配与调优</ns1:t>
            </ns1:r>
          </ns1:p>
        </ns0:txBody>
      </ns0:sp>
      <ns0:sp>
        <ns0:nvSpPr>
          <ns0:cNvPr id="81" name="">
            <ns1:extLst>
              <ns1:ext uri="{FF2B5EF4-FFF2-40B4-BE49-F238E27FC236}">
                <ns2:creationId id="{0897D84A-A4B6-4E8F-B7CE-111C87C1B9DE}"/>
              </ns1:ext>
            </ns1:extLst>
          </ns0:cNvPr>
          <ns0:cNvSpPr>
            <ns1:spLocks noGrp="1"/>
          </ns0:cNvSpPr>
          <ns0:nvPr/>
        </ns0:nvSpPr>
        <ns0:spPr>
          <ns1:xfrm>
            <ns1:off x="4211827" y="359092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82" name="">
            <ns1:extLst>
              <ns1:ext uri="{FF2B5EF4-FFF2-40B4-BE49-F238E27FC236}">
                <ns2:creationId id="{5136A05F-1D42-446A-91A7-AFC452E96FF0}"/>
              </ns1:ext>
            </ns1:extLst>
          </ns0:cNvPr>
          <ns0:cNvSpPr>
            <ns1:spLocks noGrp="1"/>
          </ns0:cNvSpPr>
          <ns0:nvPr/>
        </ns0:nvSpPr>
        <ns0:spPr>
          <ns1:xfrm>
            <ns1:off x="4244869" y="359092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精度与算子开发</ns1:t>
            </ns1:r>
          </ns1:p>
        </ns0:txBody>
      </ns0:sp>
      <ns0:sp>
        <ns0:nvSpPr>
          <ns0:cNvPr id="83" name="">
            <ns1:extLst>
              <ns1:ext uri="{FF2B5EF4-FFF2-40B4-BE49-F238E27FC236}">
                <ns2:creationId id="{BD28429C-9CD3-479D-82BE-F019126810EF}"/>
              </ns1:ext>
            </ns1:extLst>
          </ns0:cNvPr>
          <ns0:cNvSpPr>
            <ns1:spLocks noGrp="1"/>
          </ns0:cNvSpPr>
          <ns0:nvPr/>
        </ns0:nvSpPr>
        <ns0:spPr>
          <ns1:xfrm>
            <ns1:off x="4211827" y="3990975"/>
            <ns1:ext cx="1348084" cy="304800"/>
          </ns1:xfrm>
          <ns1:prstGeom prst="rect">
            <ns1:avLst/>
          </ns1:prstGeom>
          <ns1:solidFill>
            <ns1:srgbClr val="FFF8E3"/>
          </ns1:solidFill>
          <ns1:ln w="12383">
            <ns1:solidFill>
              <ns1:srgbClr val="80724B"/>
            </ns1:solidFill>
          </ns1:ln>
        </ns0:spPr>
      </ns0:sp>
      <ns0:sp>
        <ns0:nvSpPr>
          <ns0:cNvPr id="84" name="">
            <ns1:extLst>
              <ns1:ext uri="{FF2B5EF4-FFF2-40B4-BE49-F238E27FC236}">
                <ns2:creationId id="{C7CED88B-8E6A-43AA-8F35-21FBC3F949DD}"/>
              </ns1:ext>
            </ns1:extLst>
          </ns0:cNvPr>
          <ns0:cNvSpPr>
            <ns1:spLocks noGrp="1"/>
          </ns0:cNvSpPr>
          <ns0:nvPr/>
        </ns0:nvSpPr>
        <ns0:spPr>
          <ns1:xfrm>
            <ns1:off x="4244869" y="3990975"/>
            <ns1:ext cx="1282001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125" b="0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Skills 沉淀复用</ns1:t>
            </ns1:r>
          </ns1:p>
        </ns0:txBody>
      </ns0:sp>
      <ns0:sp>
        <ns0:nvSpPr>
          <ns0:cNvPr id="85" name="">
            <ns1:extLst>
              <ns1:ext uri="{FF2B5EF4-FFF2-40B4-BE49-F238E27FC236}">
                <ns2:creationId id="{398CF8BC-5A83-45C5-835D-F16A7327296C}"/>
              </ns1:ext>
            </ns1:extLst>
          </ns0:cNvPr>
          <ns0:cNvSpPr>
            <ns1:spLocks noGrp="1"/>
          </ns0:cNvSpPr>
          <ns0:nvPr/>
        </ns0:nvSpPr>
        <ns0:spPr>
          <ns1:xfrm>
            <ns1:off x="266700" y="4810125"/>
            <ns1:ext cx="5524500" cy="390525"/>
          </ns1:xfrm>
          <ns1:prstGeom prst="roundRect">
            <ns1:avLst>
              <ns1:gd name="adj" fmla="val 43902"/>
            </ns1:avLst>
          </ns1:prstGeom>
          <ns1:solidFill>
            <ns1:srgbClr val="E6E6E6"/>
          </ns1:solidFill>
          <ns1:ln w="12383">
            <ns1:solidFill>
              <ns1:srgbClr val="333333"/>
            </ns1:solidFill>
          </ns1:ln>
        </ns0:spPr>
      </ns0:sp>
      <ns0:sp>
        <ns0:nvSpPr>
          <ns0:cNvPr id="86" name="">
            <ns1:extLst>
              <ns1:ext uri="{FF2B5EF4-FFF2-40B4-BE49-F238E27FC236}">
                <ns2:creationId id="{B3297EB6-89A1-4F2A-8198-2118909D514B}"/>
              </ns1:ext>
            </ns1:extLst>
          </ns0:cNvPr>
          <ns0:cNvSpPr>
            <ns1:spLocks noGrp="1"/>
          </ns0:cNvSpPr>
          <ns0:nvPr/>
        </ns0:nvSpPr>
        <ns0:spPr>
          <ns1:xfrm>
            <ns1:off x="312958" y="4810125"/>
            <ns1:ext cx="5431984" cy="3905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425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425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CANN</ns1:t>
            </ns1:r>
          </ns1:p>
        </ns0:txBody>
      </ns0:sp>
      <ns0:sp>
        <ns0:nvSpPr>
          <ns0:cNvPr id="87" name="">
            <ns1:extLst>
              <ns1:ext uri="{FF2B5EF4-FFF2-40B4-BE49-F238E27FC236}">
                <ns2:creationId id="{2F2441F5-168C-4895-8C8C-7698AD4BB043}"/>
              </ns1:ext>
            </ns1:extLst>
          </ns0:cNvPr>
          <ns0:cNvSpPr>
            <ns1:spLocks noGrp="1"/>
          </ns0:cNvSpPr>
          <ns0:nvPr/>
        </ns0:nvSpPr>
        <ns0:spPr>
          <ns1:xfrm>
            <ns1:off x="266700" y="5305425"/>
            <ns1:ext cx="5524500" cy="390525"/>
          </ns1:xfrm>
          <ns1:prstGeom prst="roundRect">
            <ns1:avLst>
              <ns1:gd name="adj" fmla="val 43902"/>
            </ns1:avLst>
          </ns1:prstGeom>
          <ns1:solidFill>
            <ns1:srgbClr val="E6E6E6"/>
          </ns1:solidFill>
          <ns1:ln w="12383">
            <ns1:solidFill>
              <ns1:srgbClr val="333333"/>
            </ns1:solidFill>
          </ns1:ln>
        </ns0:spPr>
      </ns0:sp>
      <ns0:sp>
        <ns0:nvSpPr>
          <ns0:cNvPr id="88" name="">
            <ns1:extLst>
              <ns1:ext uri="{FF2B5EF4-FFF2-40B4-BE49-F238E27FC236}">
                <ns2:creationId id="{2A09D939-1E77-447D-9F05-B87CB02209AB}"/>
              </ns1:ext>
            </ns1:extLst>
          </ns0:cNvPr>
          <ns0:cNvSpPr>
            <ns1:spLocks noGrp="1"/>
          </ns0:cNvSpPr>
          <ns0:nvPr/>
        </ns0:nvSpPr>
        <ns0:spPr>
          <ns1:xfrm>
            <ns1:off x="312958" y="5305425"/>
            <ns1:ext cx="5431984" cy="3905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11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Ubuntu / openEuler / Windows</ns1:t>
            </ns1:r>
          </ns1:p>
        </ns0:txBody>
      </ns0:sp>
      <ns0:sp>
        <ns0:nvSpPr>
          <ns0:cNvPr id="89" name="">
            <ns1:extLst>
              <ns1:ext uri="{FF2B5EF4-FFF2-40B4-BE49-F238E27FC236}">
                <ns2:creationId id="{CC8C8A44-7C46-4F19-BD24-BBC9B7C69BF4}"/>
              </ns1:ext>
            </ns1:extLst>
          </ns0:cNvPr>
          <ns0:cNvSpPr>
            <ns1:spLocks noGrp="1"/>
          </ns0:cNvSpPr>
          <ns0:nvPr/>
        </ns0:nvSpPr>
        <ns0:spPr>
          <ns1:xfrm>
            <ns1:off x="266700" y="5800725"/>
            <ns1:ext cx="5524500" cy="342900"/>
          </ns1:xfrm>
          <ns1:prstGeom prst="roundRect">
            <ns1:avLst>
              <ns1:gd name="adj" fmla="val 50000"/>
            </ns1:avLst>
          </ns1:prstGeom>
          <ns1:solidFill>
            <ns1:srgbClr val="E6E6E6"/>
          </ns1:solidFill>
          <ns1:ln w="12383">
            <ns1:solidFill>
              <ns1:srgbClr val="333333"/>
            </ns1:solidFill>
          </ns1:ln>
        </ns0:spPr>
      </ns0:sp>
      <ns0:sp>
        <ns0:nvSpPr>
          <ns0:cNvPr id="90" name="">
            <ns1:extLst>
              <ns1:ext uri="{FF2B5EF4-FFF2-40B4-BE49-F238E27FC236}">
                <ns2:creationId id="{987439B1-418D-49F4-ACEC-BA2ECC3435F1}"/>
              </ns1:ext>
            </ns1:extLst>
          </ns0:cNvPr>
          <ns0:cNvSpPr>
            <ns1:spLocks noGrp="1"/>
          </ns0:cNvSpPr>
          <ns0:nvPr/>
        </ns0:nvSpPr>
        <ns0:spPr>
          <ns1:xfrm>
            <ns1:off x="312958" y="5800725"/>
            <ns1:ext cx="5431984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368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368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68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固件 / 驱动</ns1:t>
            </ns1:r>
          </ns1:p>
        </ns0:txBody>
      </ns0:sp>
      <ns0:sp>
        <ns0:nvSpPr>
          <ns0:cNvPr id="91" name="">
            <ns1:extLst>
              <ns1:ext uri="{FF2B5EF4-FFF2-40B4-BE49-F238E27FC236}">
                <ns2:creationId id="{58C9C0D3-89A4-4FD5-8112-9D9BF5924324}"/>
              </ns1:ext>
            </ns1:extLst>
          </ns0:cNvPr>
          <ns0:cNvSpPr>
            <ns1:spLocks noGrp="1"/>
          </ns0:cNvSpPr>
          <ns0:nvPr/>
        </ns0:nvSpPr>
        <ns0:spPr>
          <ns1:xfrm>
            <ns1:off x="266700" y="6248400"/>
            <ns1:ext cx="5524500" cy="333375"/>
          </ns1:xfrm>
          <ns1:prstGeom prst="roundRect">
            <ns1:avLst>
              <ns1:gd name="adj" fmla="val 50000"/>
            </ns1:avLst>
          </ns1:prstGeom>
          <ns1:solidFill>
            <ns1:srgbClr val="E6E6E6"/>
          </ns1:solidFill>
          <ns1:ln w="12383">
            <ns1:solidFill>
              <ns1:srgbClr val="333333"/>
            </ns1:solidFill>
          </ns1:ln>
        </ns0:spPr>
      </ns0:sp>
      <ns0:sp>
        <ns0:nvSpPr>
          <ns0:cNvPr id="92" name="">
            <ns1:extLst>
              <ns1:ext uri="{FF2B5EF4-FFF2-40B4-BE49-F238E27FC236}">
                <ns2:creationId id="{741357FF-445F-4180-9D8E-0128A9E7811E}"/>
              </ns1:ext>
            </ns1:extLst>
          </ns0:cNvPr>
          <ns0:cNvSpPr>
            <ns1:spLocks noGrp="1"/>
          </ns0:cNvSpPr>
          <ns0:nvPr/>
        </ns0:nvSpPr>
        <ns0:spPr>
          <ns1:xfrm>
            <ns1:off x="312958" y="6248400"/>
            <ns1:ext cx="5431984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197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197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050" b="1">
                <ns1:solidFill>
                  <ns1:srgbClr val="242424"/>
                </ns1:solidFill>
                <ns1:latin typeface="Microsoft YaHei"/>
                <ns1:ea typeface="Microsoft YaHei"/>
                <ns1:cs typeface="Microsoft YaHei"/>
              </ns1:rPr>
              <ns1:t>310B / 310P / 310B-Next / 950PR-Lite / 310P-Next</ns1:t>
            </ns1:r>
          </ns1:p>
        </ns0:txBody>
      </ns0:sp>
      <ns0:sp>
        <ns0:nvSpPr>
          <ns0:cNvPr id="93" name="">
            <ns1:extLst>
              <ns1:ext uri="{FF2B5EF4-FFF2-40B4-BE49-F238E27FC236}">
                <ns2:creationId id="{3BD66A19-F46A-47C1-827D-4A4469D109A2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981075"/>
            <ns1:ext cx="542925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关键竞争力</ns1:t>
            </ns1:r>
          </ns1:p>
        </ns0:txBody>
      </ns0:sp>
      <ns0:sp>
        <ns0:nvSpPr>
          <ns0:cNvPr id="94" name="">
            <ns1:extLst>
              <ns1:ext uri="{FF2B5EF4-FFF2-40B4-BE49-F238E27FC236}">
                <ns2:creationId id="{7E9E0822-02B5-4935-985F-585A624B494D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1438275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高性能：受限资源高效推理</ns1:t>
            </ns1:r>
          </ns1:p>
        </ns0:txBody>
      </ns0:sp>
      <ns0:sp>
        <ns0:nvSpPr>
          <ns0:cNvPr id="95" name="">
            <ns1:extLst>
              <ns1:ext uri="{FF2B5EF4-FFF2-40B4-BE49-F238E27FC236}">
                <ns2:creationId id="{C375C6AE-35DA-4266-98FD-57B0B9642F73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1724025"/>
            <ns1:ext cx="542925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在内存、功耗与时延约束下，</ns1:t>
            </ns1:r>
          </ns1:p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提升推理速度与并发吞吐。</ns1:t>
            </ns1:r>
          </ns1:p>
        </ns0:txBody>
      </ns0:sp>
      <ns0:sp>
        <ns0:nvSpPr>
          <ns0:cNvPr id="96" name="">
            <ns1:extLst>
              <ns1:ext uri="{FF2B5EF4-FFF2-40B4-BE49-F238E27FC236}">
                <ns2:creationId id="{FFED2320-A9FC-43E5-B6F9-37D01C83214C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2228850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易用性：跨平台便捷迁移</ns1:t>
            </ns1:r>
          </ns1:p>
        </ns0:txBody>
      </ns0:sp>
      <ns0:sp>
        <ns0:nvSpPr>
          <ns0:cNvPr id="97" name="">
            <ns1:extLst>
              <ns1:ext uri="{FF2B5EF4-FFF2-40B4-BE49-F238E27FC236}">
                <ns2:creationId id="{B9B6D1A0-39B5-47FC-A9D1-4DABE6AE18F8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2514600"/>
            <ns1:ext cx="542925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支持跨框架、模型与硬件形态，</ns1:t>
            </ns1:r>
          </ns1:p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降低适配和迁移成本。</ns1:t>
            </ns1:r>
          </ns1:p>
        </ns0:txBody>
      </ns0:sp>
      <ns0:sp>
        <ns0:nvSpPr>
          <ns0:cNvPr id="98" name="">
            <ns1:extLst>
              <ns1:ext uri="{FF2B5EF4-FFF2-40B4-BE49-F238E27FC236}">
                <ns2:creationId id="{AD43DA08-2383-49F1-B357-3E5F08CB259E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3019425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32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AI 工程能力：Skills 沉淀复用</ns1:t>
            </ns1:r>
          </ns1:p>
        </ns0:txBody>
      </ns0:sp>
      <ns0:sp>
        <ns0:nvSpPr>
          <ns0:cNvPr id="99" name="">
            <ns1:extLst>
              <ns1:ext uri="{FF2B5EF4-FFF2-40B4-BE49-F238E27FC236}">
                <ns2:creationId id="{69A89F86-2341-4E5B-99B5-6AB114047758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3305175"/>
            <ns1:ext cx="542925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沉淀适配、调优与精度定位 Skills，</ns1:t>
            </ns1:r>
          </ns1:p>
          <ns1:p>
            <ns1:pPr algn="l">
              <ns1:def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80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实现快速迁移与工程能力复用。</ns1:t>
            </ns1:r>
          </ns1:p>
        </ns0:txBody>
      </ns0:sp>
      <ns0:sp>
        <ns0:nvSpPr>
          <ns0:cNvPr id="100" name="">
            <ns1:extLst>
              <ns1:ext uri="{FF2B5EF4-FFF2-40B4-BE49-F238E27FC236}">
                <ns2:creationId id="{1C1CD289-5D9E-4D4F-8157-B0D976F445BD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3981450"/>
            <ns1:ext cx="542925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36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实现策略</ns1:t>
            </ns1:r>
          </ns1:p>
        </ns0:txBody>
      </ns0:sp>
      <ns0:sp>
        <ns0:nvSpPr>
          <ns0:cNvPr id="101" name="">
            <ns1:extLst>
              <ns1:ext uri="{FF2B5EF4-FFF2-40B4-BE49-F238E27FC236}">
                <ns2:creationId id="{AC1CCC30-392C-4D0F-9057-383305072066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4419600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场景差异化选型</ns1:t>
            </ns1:r>
          </ns1:p>
        </ns0:txBody>
      </ns0:sp>
      <ns0:sp>
        <ns0:nvSpPr>
          <ns0:cNvPr id="102" name="">
            <ns1:extLst>
              <ns1:ext uri="{FF2B5EF4-FFF2-40B4-BE49-F238E27FC236}">
                <ns2:creationId id="{8A18B7E1-49D1-4300-B0A8-C3C13EDD57F6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4695825"/>
            <ns1:ext cx="5429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结合业务负载与资源约束，</ns1:t>
            </ns1:r>
          </ns1:p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按场景选择合适的推理框架。</ns1:t>
            </ns1:r>
          </ns1:p>
        </ns0:txBody>
      </ns0:sp>
      <ns0:sp>
        <ns0:nvSpPr>
          <ns0:cNvPr id="103" name="">
            <ns1:extLst>
              <ns1:ext uri="{FF2B5EF4-FFF2-40B4-BE49-F238E27FC236}">
                <ns2:creationId id="{75D89D5E-CDD0-4725-8786-2FB49BA84D40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5153025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设备归一化适配</ns1:t>
            </ns1:r>
          </ns1:p>
        </ns0:txBody>
      </ns0:sp>
      <ns0:sp>
        <ns0:nvSpPr>
          <ns0:cNvPr id="104" name="">
            <ns1:extLst>
              <ns1:ext uri="{FF2B5EF4-FFF2-40B4-BE49-F238E27FC236}">
                <ns2:creationId id="{AA34B4CB-88D5-4163-9A4D-B1D618854044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5429250"/>
            <ns1:ext cx="5429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屏蔽 EP/RC 形态与芯片差异，</ns1:t>
            </ns1:r>
          </ns1:p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提供统一接口，上层应用无感。</ns1:t>
            </ns1:r>
          </ns1:p>
        </ns0:txBody>
      </ns0:sp>
      <ns0:sp>
        <ns0:nvSpPr>
          <ns0:cNvPr id="105" name="">
            <ns1:extLst>
              <ns1:ext uri="{FF2B5EF4-FFF2-40B4-BE49-F238E27FC236}">
                <ns2:creationId id="{C54C79BA-B690-4B21-85B1-E72211E4E12A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5886450"/>
            <ns1:ext cx="542925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48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Skills 常态化应用</ns1:t>
            </ns1:r>
          </ns1:p>
        </ns0:txBody>
      </ns0:sp>
      <ns0:sp>
        <ns0:nvSpPr>
          <ns0:cNvPr id="106" name="">
            <ns1:extLst>
              <ns1:ext uri="{FF2B5EF4-FFF2-40B4-BE49-F238E27FC236}">
                <ns2:creationId id="{B445A701-9DFA-48B3-98E1-C4C00C646B6E}"/>
              </ns1:ext>
            </ns1:extLst>
          </ns0:cNvPr>
          <ns0:cNvSpPr>
            <ns1:spLocks noGrp="1"/>
          </ns0:cNvSpPr>
          <ns0:nvPr/>
        </ns0:nvSpPr>
        <ns0:spPr>
          <ns1:xfrm>
            <ns1:off x="6334125" y="6162675"/>
            <ns1:ext cx="5429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将耗时排查流程沉淀为 Skills，</ns1:t>
            </ns1:r>
          </ns1:p>
          <ns1:p>
            <ns1:pPr algn="l">
              <ns1:def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96" b="0">
                <ns1:solidFill>
                  <ns1:srgbClr val="333333"/>
                </ns1:solidFill>
                <ns1:latin typeface="Microsoft YaHei"/>
                <ns1:ea typeface="Microsoft YaHei"/>
                <ns1:cs typeface="Microsoft YaHei"/>
              </ns1:rPr>
              <ns1:t>由 Agent 自动执行，释放人力。</ns1:t>
            </ns1:r>
          </ns1:p>
        </ns0:txBody>
      </ns0:sp>
      <ns0:sp>
        <ns0:nvSpPr>
          <ns0:cNvPr id="107" name="">
            <ns1:extLst>
              <ns1:ext uri="{FF2B5EF4-FFF2-40B4-BE49-F238E27FC236}">
                <ns2:creationId id="{0BCD6CCF-3ECE-4709-B960-6D82020B1FF8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81775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/>
          <ns1:lstStyle>
            <ns1:defPPr algn="ctr"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ns0:txBody>
      </ns0:sp>
    </ns0:spTree>
    <ns0:extLst>
      <ns0:ext uri="{BB962C8B-B14F-4D97-AF65-F5344CB8AC3E}">
        <ns3:creationId val="514720497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">
            <ns1:extLst>
              <ns1:ext uri="{FF2B5EF4-FFF2-40B4-BE49-F238E27FC236}">
                <ns2:creationId id="{B94DD75F-7D04-4E92-8528-F74B3A8F086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723900"/>
          </ns1:xfrm>
          <ns1:prstGeom prst="rect">
            <ns1:avLst/>
          </ns1:prstGeom>
          <ns1:solidFill>
            <ns1:srgbClr val="BC2026"/>
          </ns1:solidFill>
          <ns1:ln w="0">
            <ns1:noFill/>
          </ns1:ln>
        </ns0:spPr>
      </ns0:sp>
      <ns0:sp>
        <ns0:nvSpPr>
          <ns0:cNvPr id="2" name="">
            <ns1:extLst>
              <ns1:ext uri="{FF2B5EF4-FFF2-40B4-BE49-F238E27FC236}">
                <ns2:creationId id="{366DC9A8-C4F5-4040-89F1-6E4250C26B15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152400"/>
            <ns1:ext cx="113538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待讨论的问题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A1A315F-B920-4F6E-B004-B19DBD9E0607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147637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9997C1C-538B-451A-BA63-8DCF24960C8A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145732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Windows 生态是否作为重点发力方向？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ECC6AE6-AEEA-4474-88F2-C622689DB857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204787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从底层 HDK 到上层推理应用，需要全流程适配，工作量较大。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AB27499-62F3-4689-AA86-5B2363B1326C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313372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ED081B5-35F4-4440-8209-CBC46DCBA416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311467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端侧推理框架该如何选择？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77AB3C6-73E3-4FA4-A32E-2C827F2C74EE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370522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如何结合场景需求、资源约束与生态成熟度确定选型？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3F16901-E462-4873-ADCC-9B6B4B0FBCF3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4791075"/>
            <ns1:ext cx="6667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85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10DBA52-82BA-4169-8F33-AF6FBA8A3249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772025"/>
            <ns1:ext cx="102870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C2026"/>
                </ns1:solidFill>
                <ns1:latin typeface="Microsoft YaHei"/>
                <ns1:ea typeface="Microsoft YaHei"/>
                <ns1:cs typeface="Microsoft YaHei"/>
              </ns1:rPr>
              <ns1:t>具身智能推理框架是否会成为未来发展重点？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A537EA7-E75F-4DE7-B281-94C4EC23565B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5362575"/>
            <ns1:ext cx="10191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303030"/>
                </ns1:solidFill>
                <ns1:latin typeface="Microsoft YaHei"/>
                <ns1:ea typeface="Microsoft YaHei"/>
                <ns1:cs typeface="Microsoft YaHei"/>
              </ns1:rPr>
              <ns1:t>团队应在什么阶段投入，优先建设哪些能力？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DF40CB5-F001-4D30-8628-15F0698701DE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53200"/>
            <ns1:ext cx="333375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buNone/>
              <ns1:def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888888"/>
                </ns1:solidFill>
                <ns1:latin typeface="Microsoft YaHei"/>
                <ns1:ea typeface="Microsoft YaHei"/>
                <ns1:cs typeface="Microsoft YaHei"/>
              </ns1:rPr>
              <ns1:t>06</ns1:t>
            </ns1:r>
          </ns1:p>
        </ns0:txBody>
      </ns0:sp>
    </ns0:spTree>
    <ns0:extLst>
      <ns0:ext uri="{BB962C8B-B14F-4D97-AF65-F5344CB8AC3E}">
        <ns3:creationId val="21446109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2026-10-20T02:47:50.9370000Z</dcterms:created>
  <dcterms:modified xsi:type="dcterms:W3CDTF">2026-10-20T02:47:50.9370000Z</dcterms:modified>
</coreProperties>
</file>