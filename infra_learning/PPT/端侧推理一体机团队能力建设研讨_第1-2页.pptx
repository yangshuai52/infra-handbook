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a8afba29ac4eb6" /><Relationship Type="http://schemas.openxmlformats.org/officeDocument/2006/relationships/extended-properties" Target="/docProps/app.xml" Id="R9452e468339a4267" /><Relationship Type="http://schemas.openxmlformats.org/officeDocument/2006/relationships/officeDocument" Target="/ppt/presentation.xml" Id="Re3905801cf254e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9a4a3a864c4596"/>
  </p:sldMasterIdLst>
  <p:notesMasterIdLst>
    <p:notesMasterId xmlns:r="http://schemas.openxmlformats.org/officeDocument/2006/relationships" r:id="R179078c96cb64c2d"/>
  </p:notesMasterIdLst>
  <p:sldIdLst>
    <p:sldId xmlns:r="http://schemas.openxmlformats.org/officeDocument/2006/relationships" id="256" r:id="R53538a40c8844324"/>
    <p:sldId xmlns:r="http://schemas.openxmlformats.org/officeDocument/2006/relationships" id="257" r:id="R25453f0c4021463c"/>
    <p:sldId xmlns:r="http://schemas.openxmlformats.org/officeDocument/2006/relationships" id="258" r:id="R659ab5d3076e44c6"/>
    <p:sldId xmlns:r="http://schemas.openxmlformats.org/officeDocument/2006/relationships" id="259" r:id="R001e3cf12fa047e4"/>
    <p:sldId xmlns:r="http://schemas.openxmlformats.org/officeDocument/2006/relationships" id="260" r:id="Ra35096387535492a"/>
    <p:sldId xmlns:r="http://schemas.openxmlformats.org/officeDocument/2006/relationships" id="261" r:id="R8767fe885c234644"/>
    <p:sldId xmlns:r="http://schemas.openxmlformats.org/officeDocument/2006/relationships" id="262" r:id="Ra9b261debe204207"/>
    <p:sldId xmlns:r="http://schemas.openxmlformats.org/officeDocument/2006/relationships" id="263" r:id="R63d9ede9d2024f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efc8d46a4e4559" /><Relationship Type="http://schemas.openxmlformats.org/officeDocument/2006/relationships/slideMaster" Target="/ppt/slideMasters/slideMaster1.xml" Id="R509a4a3a864c4596" /><Relationship Type="http://schemas.openxmlformats.org/officeDocument/2006/relationships/notesMaster" Target="/ppt/notesMasters/notesMaster1.xml" Id="R179078c96cb64c2d" /><Relationship Type="http://schemas.openxmlformats.org/officeDocument/2006/relationships/presProps" Target="/ppt/presProps.xml" Id="R0b9c446cb8b14bc2" /><Relationship Type="http://schemas.openxmlformats.org/officeDocument/2006/relationships/tableStyles" Target="/ppt/tableStyles.xml" Id="R721fa622534f435d" /><Relationship Type="http://schemas.openxmlformats.org/officeDocument/2006/relationships/slide" Target="/ppt/slides/slide1.xml" Id="R53538a40c8844324" /><Relationship Type="http://schemas.openxmlformats.org/officeDocument/2006/relationships/slide" Target="/ppt/slides/slide2.xml" Id="R25453f0c4021463c" /><Relationship Type="http://schemas.openxmlformats.org/officeDocument/2006/relationships/slide" Target="/ppt/slides/slide3.xml" Id="R659ab5d3076e44c6" /><Relationship Type="http://schemas.openxmlformats.org/officeDocument/2006/relationships/slide" Target="/ppt/slides/slide4.xml" Id="R001e3cf12fa047e4" /><Relationship Type="http://schemas.openxmlformats.org/officeDocument/2006/relationships/slide" Target="/ppt/slides/slide5.xml" Id="Ra35096387535492a" /><Relationship Type="http://schemas.openxmlformats.org/officeDocument/2006/relationships/slide" Target="/ppt/slides/slide6.xml" Id="R8767fe885c234644" /><Relationship Type="http://schemas.openxmlformats.org/officeDocument/2006/relationships/slide" Target="/ppt/slides/slide7.xml" Id="Ra9b261debe204207" /><Relationship Type="http://schemas.openxmlformats.org/officeDocument/2006/relationships/slide" Target="/ppt/slides/slide8.xml" Id="R63d9ede9d2024f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3529ffa83f49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eb20f0fb72413b" /><Relationship Type="http://schemas.openxmlformats.org/officeDocument/2006/relationships/notesMaster" Target="/ppt/notesMasters/notesMaster1.xml" Id="Rea225890daf541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05117d7764427c" /><Relationship Type="http://schemas.openxmlformats.org/officeDocument/2006/relationships/notesMaster" Target="/ppt/notesMasters/notesMaster1.xml" Id="R1770ab1f81e64f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71be2b5c864cc9" /><Relationship Type="http://schemas.openxmlformats.org/officeDocument/2006/relationships/notesMaster" Target="/ppt/notesMasters/notesMaster1.xml" Id="R5130b61194fb40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9830ca3fdf4e6f" /><Relationship Type="http://schemas.openxmlformats.org/officeDocument/2006/relationships/notesMaster" Target="/ppt/notesMasters/notesMaster1.xml" Id="R7109febc79204a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fbdbdef6e24c4f" /><Relationship Type="http://schemas.openxmlformats.org/officeDocument/2006/relationships/notesMaster" Target="/ppt/notesMasters/notesMaster1.xml" Id="Reab36af3e3b544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0b0bf1793943fc" /><Relationship Type="http://schemas.openxmlformats.org/officeDocument/2006/relationships/notesMaster" Target="/ppt/notesMasters/notesMaster1.xml" Id="Rea6dad19e84a42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99c03ea914a8b" /><Relationship Type="http://schemas.openxmlformats.org/officeDocument/2006/relationships/notesMaster" Target="/ppt/notesMasters/notesMaster1.xml" Id="Rb6ca7ca19f1742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203d4a2f034427" /><Relationship Type="http://schemas.openxmlformats.org/officeDocument/2006/relationships/notesMaster" Target="/ppt/notesMasters/notesMaster1.xml" Id="Rc534d6c4843a41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部门愿景及建设重点依据用户输入，其中建设重点为本页研讨建议。产品定位依据 NVIDIA 官方产品页。DGX Spark 是桌面 AI 小站，RTX Spark 是个人电脑平台，AGX Orin / Thor 是嵌入设备的平台，容量相近不代表系统职责相同。操作系统、驱动与应用需适配。芯片分组参考用户指定 PPT 第 2 页第一组产品布局，未沿用第二组智能小站曲线。310P-next 已按用户纠正为预计 1P FP4，950-lite 仍为参考输入的预计 1P，不代表公开发布规格。T2000 / T3000 与昇腾数值沿用参考材料，未独立验证。NVIDIA 稀疏计算口径和配置条件需参考具体官方规格，不能据表中数值直接推断业务速度。</a:t>
            </a:r>
          </a:p>
          <a:p xmlns:a="http://schemas.openxmlformats.org/drawingml/2006/main">
            <a:r>
              <a:t>https://www.nvidia.com/en-us/products/workstations/dgx-spark/</a:t>
            </a:r>
          </a:p>
          <a:p xmlns:a="http://schemas.openxmlformats.org/drawingml/2006/main">
            <a:r>
              <a:t>https://www.nvidia.com/en-us/products/rtx-spark/</a:t>
            </a:r>
          </a:p>
          <a:p xmlns:a="http://schemas.openxmlformats.org/drawingml/2006/main">
            <a:r>
              <a:t>https://www.nvidia.com/en-us/autonomous-machines/embedded-systems/jetson-orin/</a:t>
            </a:r>
          </a:p>
          <a:p xmlns:a="http://schemas.openxmlformats.org/drawingml/2006/main">
            <a:r>
              <a:t>https://www.nvidia.com/en-us/autonomous-machines/embedded-systems/jetson-thor/</a:t>
            </a:r>
          </a:p>
          <a:p xmlns:a="http://schemas.openxmlformats.org/drawingml/2006/main">
            <a:r>
              <a:t>参考文件：C:/Users/yangshuai/.codex/visualizations/2026/10/15/01a13e46-d735-7050-871a-da8f78f8b7c9/310p-brief/output/310P端侧规划_嵌入式与智能小站_完整对比.pptx 第2页。</a:t>
            </a:r>
          </a:p>
          <a:p xmlns:a="http://schemas.openxmlformats.org/drawingml/2006/main">
            <a:r>
              <a:t>本次修订：三方向为 AI桌面盒子、AI PC、嵌入式/具身机器人/无人车。重点方向依用户输入。下方以参考页第一组图像呈现，310P-next从9P修正为1P并调整位置。图为产品布局示意，不代表INT8与FP4可直接比较。</a:t>
            </a:r>
          </a:p>
          <a:p xmlns:a="http://schemas.openxmlformats.org/drawingml/2006/main">
            <a:r>
              <a:t>本次修订：三方向为 AI桌面盒子、AI PC、嵌入式/具身机器人/无人车。重点方向依用户输入。下方以参考页第一组图像呈现，310P-next从9P修正为1P并调整位置。图为产品布局示意，不代表INT8与FP4可直接比较。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依据用户给定的团队规划输入整理。具身智能的小模型拼接、端到端VLA与世界模型是本页用于讨论的演进方向，不代表已形成统一、线性的行业路线。未来从训练探索走向推理应用与落地属于规划判断。Windows适配为拟建设能力，不表示所有组件已具备Windows支持。FP4、FP8、W4A8等为下一代芯片预研项，应结合实际硬件和软件支持验证。llama.cpp、Ollama列为候选方案，实际内存占用和性能需在相同模型、量化、上下文与并发条件下评估，Ollama属于模型运行管理工具，不预设其具有普遍的低内存优势。统一内存关注来自前页所列竞品，不泛化为全部端侧硬件形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愿景及四个建设方向依据用户输入，具体做法为本页补充建议，供团队研讨，不代表已实施的管理机制或已具备的技术能力。需求交付强调里程碑、契约与质量验证。技术竞争力承接前两页的框架、模型加速、具身智能及无人车规划。协作强调职责、开发经验共享，与公共开发部和技术开发部协同。人员成长强调及时认可、发挥优势与逐步独立负责，同时提供必要支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本页是端侧推理愿景页，替换原第5页“端侧推理：应用场景与能力建设”。其他页保留。三个场景为横向区别，不要求一一对应下方技术线。</a:t>
            </a:r>
          </a:p>
          <a:p xmlns:a="http://schemas.openxmlformats.org/drawingml/2006/main">
            <a:r>
              <a:t>愿景、现有能力、痛点及硬件时间线以用户2026-10-22输入为准，属于当前团队/端侧平台口径，非对全部昇腾硬件或全部上游版本的判断。INT4、FP4/FP8、Triton、ACL Graph及融合算子缺口不泛化为行业不支持。Windows生态已具备按用户口径记录，仍需按实际组件、版本确认。主流模型π0.5、GR00T已适配和部分模型10Hz亦为用户提供的现状，不表示全部任务均满足实时闭环要求。硬件时间线：2026年末310B/310P，2027年950-lite，2028年310B-next/310P-next，均按内部规划，2026年末是本次规划视角，不声称当前日历已到12月。</a:t>
            </a:r>
          </a:p>
          <a:p xmlns:a="http://schemas.openxmlformats.org/drawingml/2006/main">
            <a:r>
              <a:t>三类场景资料：</a:t>
            </a:r>
          </a:p>
          <a:p xmlns:a="http://schemas.openxmlformats.org/drawingml/2006/main">
            <a:r>
              <a:t>https://www.nvidia.cn/products/workstations/dgx-spark/ ：个人开发、桌面Agent与本地模型开发服务。</a:t>
            </a:r>
          </a:p>
          <a:p xmlns:a="http://schemas.openxmlformats.org/drawingml/2006/main">
            <a:r>
              <a:t>https://www.nvidia.cn/products/rtx-spark/ ：Windows平台、个人AI、办公创作与应用生态；对本团队意味着Windows全栈适配与应用兼容目标。</a:t>
            </a:r>
          </a:p>
          <a:p xmlns:a="http://schemas.openxmlformats.org/drawingml/2006/main">
            <a:r>
              <a:t>https://blogs.nvidia.cn/blog/jetson-thor-robotics-edge-ai-agent/ ：紧凑、能效、内存优化、多模态与具身设备；“低内存、低功耗、低时延”为端侧目标，非称Thor绝对功耗低于所有竞品。</a:t>
            </a:r>
          </a:p>
          <a:p xmlns:a="http://schemas.openxmlformats.org/drawingml/2006/main">
            <a:r>
              <a:t>图片均取自上述NVIDIA官方页面，作为竞品/场景参考，不代表本团队产品外观：</a:t>
            </a:r>
          </a:p>
          <a:p xmlns:a="http://schemas.openxmlformats.org/drawingml/2006/main">
            <a:r>
              <a:t>DGX https://www.nvidia.cn/content/nvidiaGDC/cn/zh_CN/products/workstations/dgx-spark/_jcr_content/root/responsivegrid/nv_container_playboo/inner/media.coreimg.png/1792514658906/workstation-dgx-spark-blog-1920x1080-3717203.png</a:t>
            </a:r>
          </a:p>
          <a:p xmlns:a="http://schemas.openxmlformats.org/drawingml/2006/main">
            <a:r>
              <a:t>RTX https://www.nvidia.cn/content/nvidiaGDC/cn/zh_CN/products/rtx-spark/_jcr_content/root/responsivegrid/nv_container_1149957850/nv_container_1054244/nv_teaser_735190088.coreimg.jpeg/1792147023788/nvidia-rtx-spark-gallery-lenovo-ari.jpeg</a:t>
            </a:r>
          </a:p>
          <a:p xmlns:a="http://schemas.openxmlformats.org/drawingml/2006/main">
            <a:r>
              <a:t>机器人 https://blogs.nvidia.cn/wp-content/uploads/sites/20/2026/07/robotics-jetson-T3000-T2000-jhh-japan-1280x680-1.jpg</a:t>
            </a:r>
          </a:p>
          <a:p xmlns:a="http://schemas.openxmlformats.org/drawingml/2006/main">
            <a:r>
              <a:t>伙伴生态为用户提供的工作方向：赋能伙伴、联合创新与验证、联合宣传。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用户提供的无人车开发套件图，保留业务闭环、模型库、算子库和开发使能的层次，新增具身智能模型与推理框架。右侧能力及策略为规划目标，“开箱即最优”指在指定场景、精度和资源约束下追求的性能目标，不代表已实现全模型全硬件最优。ModelZoo资产分散为用户提供的内部现状。关键竞争力描述伙伴收益，策略分别落到仓库与接口、共性技术组件、AI Coding工具链与自动验证。建设状态按用户输入：黄色已完成、绿色未完成、黄绿对角分色完成一半。具身推理框架尚未开展，其余模型适配、无人车执行、算子接口与工程使能完成一半。两条业务链为简化示意，动作和车辆状态均需反馈到后续感知与推理；VLA输出仍需设备控制接口适配，不等同于直接取代底层控制器。具身推理框架为拟建设的应用执行层，关注动作分块、多模态接入、时序与异构调度；不是单一算子运行库。低时延与稳定执行需按整机资源、传感时序与控制需求实测，不代表安全认证。实际模型适配与算子支持需验证。资料：https://github.com/Physical-Intelligence/openpi/blob/main/packages/openpi-client/src/openpi_client/action_chunk_broker.py ，https://github.com/NVIDIA-ISAAC-ROS/isaac_ros_dnn_inference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右侧按高吞吐、大参数量模型、长序列三个场景目标组织。A+K沿用用户表述，指昇腾与鲲鹏协同的规划方向，不预设CPU执行专家算子或特定统一内存硬件已落地。卸载主要增加可承载容量，不保证提高速度；需验证搬运开销。长上下文扩容不能超越模型自身位置编码或质量边界，需要单独评估。低成本和性价比属于待实测目标。基于官方文档调研，为端侧建设规划，不声称全部功能已在310P或全部芯片落地。星号标记重点适配/预研，不是团队完成状态；未标星功能也需核对模型、芯片、版本及组合兼容性。</a:t>
            </a:r>
          </a:p>
          <a:p xmlns:a="http://schemas.openxmlformats.org/drawingml/2006/main">
            <a:r>
              <a:t>1. 调度、图模式、融合算子、投机解码和并行见vLLM-Ascend特性与发布说明；ACL Graph主要降低Host调度开销，捕获与工作区可能增加内存，应按需调优。TTFT为首token时延，TPOT为输出每token时延，吞吐应在指定时延和精度约束下比较。</a:t>
            </a:r>
          </a:p>
          <a:p xmlns:a="http://schemas.openxmlformats.org/drawingml/2006/main">
            <a:r>
              <a:t>https://docs.vllm.ai/projects/ascend/en/main/user_guide/support_matrix/supported_features.html</a:t>
            </a:r>
          </a:p>
          <a:p xmlns:a="http://schemas.openxmlformats.org/drawingml/2006/main">
            <a:r>
              <a:t>https://docs.vllm.ai/projects/ascend/en/main/user_guide/release_notes.html</a:t>
            </a:r>
          </a:p>
          <a:p xmlns:a="http://schemas.openxmlformats.org/drawingml/2006/main">
            <a:r>
              <a:t>2. W4A8/W4A4在部分模型与设备有支持，310系列不能默认复用全部格式。Qwen3教程指出Atlas inference products使用W8A8SC-310。FP4/FP8标星是面向支持硬件的适配或下一代预研，W4A4是位宽描述，不能等同于FP4格式。KV量化按版本/模型可有INT8或其他实现，不泛化到全部模型。极低位宽压缩可能损害精度，必须校准与评测。</a:t>
            </a:r>
          </a:p>
          <a:p xmlns:a="http://schemas.openxmlformats.org/drawingml/2006/main">
            <a:r>
              <a:t>https://docs.vllm.ai/projects/ascend/en/v0.23.0rc1/tutorials/models/Qwen3-Dense.html</a:t>
            </a:r>
          </a:p>
          <a:p xmlns:a="http://schemas.openxmlformats.org/drawingml/2006/main">
            <a:r>
              <a:t>https://docs.vllm.ai/projects/ascend/en/main/user_guide/feature_guide/quantization.html</a:t>
            </a:r>
          </a:p>
          <a:p xmlns:a="http://schemas.openxmlformats.org/drawingml/2006/main">
            <a:r>
              <a:t>https://docs.vllm.ai/projects/ascend/en/v0.11.0/user_guide/configuration/additional_config.html</a:t>
            </a:r>
          </a:p>
          <a:p xmlns:a="http://schemas.openxmlformats.org/drawingml/2006/main">
            <a:r>
              <a:t>3. KV Cache CPU Offload官方文档介绍非活跃KV块向Host卸载、异步传输与复用，不能理解为统一内存平台必然节省总物理内存。CPU池可能增加Host内存，需测实际互连带宽。</a:t>
            </a:r>
          </a:p>
          <a:p xmlns:a="http://schemas.openxmlformats.org/drawingml/2006/main">
            <a:r>
              <a:t>https://docs.vllm.ai/projects/ascend/en/main/user_guide/feature_guide/kv_cache_cpu_offload.html</a:t>
            </a:r>
          </a:p>
          <a:p xmlns:a="http://schemas.openxmlformats.org/drawingml/2006/main">
            <a:r>
              <a:t>4. Layer Offload指模型权重按层/分组卸载到Host与异步预取，不是KV按层卸载。上游OffloadConfig给出UVA和PrefetchOffloadConfig，支持参数名筛选；需验证Ascend端对应实现。Ascend平台代码对权重卸载与EPLB组合存在限制，不能宣称可任意叠加。</a:t>
            </a:r>
          </a:p>
          <a:p xmlns:a="http://schemas.openxmlformats.org/drawingml/2006/main">
            <a:r>
              <a:t>https://docs.vllm.ai/en/latest/api/vllm/config/offload/</a:t>
            </a:r>
          </a:p>
          <a:p xmlns:a="http://schemas.openxmlformats.org/drawingml/2006/main">
            <a:r>
              <a:t>https://github.com/vllm-project/vllm-ascend/blob/main/vllm_ascend/platform.py</a:t>
            </a:r>
          </a:p>
          <a:p xmlns:a="http://schemas.openxmlformats.org/drawingml/2006/main">
            <a:r>
              <a:t>5. MoE Offload / 专家预取为重点预研项：优先验证选择性专家权重驻留/卸载与按需搬运，不宣称主线已具备成熟动态专家缓存，也不等同于让CPU执行专家计算。专家并行EP、专家负载均衡EPLB、专家卸载是不同技术。</a:t>
            </a:r>
          </a:p>
          <a:p xmlns:a="http://schemas.openxmlformats.org/drawingml/2006/main">
            <a:r>
              <a:t>6. 图参考用户图片的应用、引擎、运行时、系统、驱动与芯片层次；未照搬Windows支持或以生态色块表示已完成状态。低并发、低内存场景需与轻量引擎对照，不预设vLLM适合全部嵌入式/机器人闭环。源文档main会演进，实施时锁定版本。</a:t>
            </a:r>
          </a:p>
          <a:p xmlns:a="http://schemas.openxmlformats.org/drawingml/2006/main">
            <a:r>
              <a:t>本次按用户明确的团队建设状态调整：DSpark、DFlash、EAGLE3、EP、W4A4、FP4、FP8、KV Cache量化、Layer Offload、MoE Offload、调度策略、CANN融合算子均为待完善。黄色已有基础、绿色待完善代表用户指定的团队状态，不是对上游是否支持或全部芯片可用的判断。ACL Graph、Prefix Cache、MTP、TP、PP、W4A8暂按已有基础呈现，具体支持仍以目标芯片与版本验证。融合算子移至CANN层，移除算子编译和工作区复用。TP为张量并行，EP为专家并行，PP为流水线并行；投机解码展开DSpark、DFlash、EAGLE3、MTP，Prefix Cache放入推理加速。原有研究资料保留作为可追溯参考，旧星号标记不再用于本页。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依据用户输入设置三个待讨论议题。第二、第三项补充的追问用于促进研讨，不预设技术选型或资源投入结论。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56c17e4cb04e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2628fe065b464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dbbcc14163420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8dba2c19ab4ae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c7bbd6d70d4f6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029175cab042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500C5D1-A500-4074-B311-66D3634A80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0CBCE79-19D4-40B5-9E96-02622043BC2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1EA1021-BA83-485D-AE9F-F061701BC3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5E9F20-732D-49F3-A58F-F775734FE8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A01E4C6-4007-454A-BD59-B4A66CCFAF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B7F4AE0-976D-47E8-89D3-23A38B8B82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1656C4-BC18-47C3-88E4-5898600C66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5AA3DF-3A9A-43B4-9F97-A67716D5C8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2E0368-98B6-4508-9595-3A7B9FF045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E3C9DC-F2FF-4CDD-83F1-A6E55656DC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bf612e79924856" /><Relationship Type="http://schemas.openxmlformats.org/officeDocument/2006/relationships/slideLayout" Target="/ppt/slideLayouts/slideLayout1.xml" Id="R9a7b8ea8151040e2" /><Relationship Type="http://schemas.openxmlformats.org/officeDocument/2006/relationships/slideLayout" Target="/ppt/slideLayouts/slideLayout2.xml" Id="R3ee82239c678401e" /><Relationship Type="http://schemas.openxmlformats.org/officeDocument/2006/relationships/slideLayout" Target="/ppt/slideLayouts/slideLayout3.xml" Id="Rf2ed745e38054d41" /><Relationship Type="http://schemas.openxmlformats.org/officeDocument/2006/relationships/slideLayout" Target="/ppt/slideLayouts/slideLayout4.xml" Id="Re4f570a4974447ee" /><Relationship Type="http://schemas.openxmlformats.org/officeDocument/2006/relationships/slideLayout" Target="/ppt/slideLayouts/slideLayout5.xml" Id="Rea9aa00dc2824d06" /><Relationship Type="http://schemas.openxmlformats.org/officeDocument/2006/relationships/slideLayout" Target="/ppt/slideLayouts/slideLayout6.xml" Id="R472fb78bc5c448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7b8ea8151040e2"/>
    <p:sldLayoutId xmlns:r="http://schemas.openxmlformats.org/officeDocument/2006/relationships" id="2147483650" r:id="R3ee82239c678401e"/>
    <p:sldLayoutId xmlns:r="http://schemas.openxmlformats.org/officeDocument/2006/relationships" id="2147483651" r:id="Rf2ed745e38054d41"/>
    <p:sldLayoutId xmlns:r="http://schemas.openxmlformats.org/officeDocument/2006/relationships" id="2147483652" r:id="Re4f570a4974447ee"/>
    <p:sldLayoutId xmlns:r="http://schemas.openxmlformats.org/officeDocument/2006/relationships" id="2147483653" r:id="Rea9aa00dc2824d06"/>
    <p:sldLayoutId xmlns:r="http://schemas.openxmlformats.org/officeDocument/2006/relationships" id="2147483654" r:id="R472fb78bc5c448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83e0787cdb4859" /><Relationship Type="http://schemas.openxmlformats.org/officeDocument/2006/relationships/notesSlide" Target="/ppt/notesSlides/notesSlide1.xml" Id="R2f9abac669184a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85f548c49d4e5c" /><Relationship Type="http://schemas.openxmlformats.org/officeDocument/2006/relationships/image" Target="/ppt/media/image.png" Id="Rcb5fd8b6ae9d4564" /><Relationship Type="http://schemas.openxmlformats.org/officeDocument/2006/relationships/image" Target="/ppt/media/image2.png" Id="R0c3c459037a5426c" /><Relationship Type="http://schemas.openxmlformats.org/officeDocument/2006/relationships/notesSlide" Target="/ppt/notesSlides/notesSlide2.xml" Id="Re227bd126f954e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b727ac92984920" /><Relationship Type="http://schemas.openxmlformats.org/officeDocument/2006/relationships/notesSlide" Target="/ppt/notesSlides/notesSlide3.xml" Id="R27eb520d485f45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e3cbc08df34b60" /><Relationship Type="http://schemas.openxmlformats.org/officeDocument/2006/relationships/notesSlide" Target="/ppt/notesSlides/notesSlide4.xml" Id="R4082fab9de3647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4c8cea5a8b4448" /><Relationship Type="http://schemas.openxmlformats.org/officeDocument/2006/relationships/image" Target="/ppt/media/image3.png" Id="R609925160a6847c6" /><Relationship Type="http://schemas.openxmlformats.org/officeDocument/2006/relationships/image" Target="/ppt/media/image4.png" Id="R2d324f607e8e4ad5" /><Relationship Type="http://schemas.openxmlformats.org/officeDocument/2006/relationships/image" Target="/ppt/media/image5.png" Id="R372d477f1a8d4f06" /><Relationship Type="http://schemas.openxmlformats.org/officeDocument/2006/relationships/notesSlide" Target="/ppt/notesSlides/notesSlide5.xml" Id="Ra4d649248b1d47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f740bb65d345a3" /><Relationship Type="http://schemas.openxmlformats.org/officeDocument/2006/relationships/notesSlide" Target="/ppt/notesSlides/notesSlide6.xml" Id="R724cc73f23af44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6d210e3b8149c7" /><Relationship Type="http://schemas.openxmlformats.org/officeDocument/2006/relationships/notesSlide" Target="/ppt/notesSlides/notesSlide7.xml" Id="R4c032cedbfdc4f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80f7f584e54df6" /><Relationship Type="http://schemas.openxmlformats.org/officeDocument/2006/relationships/notesSlide" Target="/ppt/notesSlides/notesSlide8.xml" Id="Ra02107b7694f4c23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">
            <ns1:extLst>
              <ns1:ext uri="{FF2B5EF4-FFF2-40B4-BE49-F238E27FC236}">
                <ns2:creationId id="{9559504A-9335-422D-969B-AA7414487F43}"/>
              </ns1:ext>
            </ns1:extLst>
          </ns0:cNvPr>
          <ns0:cNvSpPr>
            <ns1:spLocks noGrp="1"/>
          </ns0:cNvSpPr>
          <ns0:nvPr/>
        </ns0:nvSpPr>
        <ns0:spPr>
          <ns1:xfrm>
            <ns1:off x="0" y="1809750"/>
            <ns1:ext cx="12192000" cy="2238375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51EF229-8186-4D7B-9100-FDE68D34E2BE}"/>
              </ns1:ext>
            </ns1:extLst>
          </ns0:cNvPr>
          <ns0:cNvSpPr>
            <ns1:spLocks noGrp="1"/>
          </ns0:cNvSpPr>
          <ns0:nvPr/>
        </ns0:nvSpPr>
        <ns0:spPr>
          <ns1:xfrm>
            <ns1:off x="952500" y="2047875"/>
            <ns1:ext cx="10287000" cy="8382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端侧推理一体机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4E8CDA5-BD44-41A2-96E2-7CAE32799783}"/>
              </ns1:ext>
            </ns1:extLst>
          </ns0:cNvPr>
          <ns0:cNvSpPr>
            <ns1:spLocks noGrp="1"/>
          </ns0:cNvSpPr>
          <ns0:nvPr/>
        </ns0:nvSpPr>
        <ns0:spPr>
          <ns1:xfrm>
            <ns1:off x="952500" y="2933700"/>
            <ns1:ext cx="10287000" cy="8382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团队能力建设研讨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3804153D-5D60-40DD-B509-64AEB47C1C9C}"/>
              </ns1:ext>
            </ns1:extLst>
          </ns0:cNvPr>
          <ns0:cNvSpPr>
            <ns1:spLocks noGrp="1"/>
          </ns0:cNvSpPr>
          <ns0:nvPr/>
        </ns0:nvSpPr>
        <ns0:spPr>
          <ns1:xfrm>
            <ns1:off x="990600" y="4695825"/>
            <ns1:ext cx="95250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rPr>
              <ns1:t>汇报人  杨帅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69650128-5B9B-4E0C-A34B-C22417D928E3}"/>
              </ns1:ext>
            </ns1:extLst>
          </ns0:cNvPr>
          <ns0:cNvSpPr>
            <ns1:spLocks noGrp="1"/>
          </ns0:cNvSpPr>
          <ns0:nvPr/>
        </ns0:nvSpPr>
        <ns0:spPr>
          <ns1:xfrm>
            <ns1:off x="990600" y="5143500"/>
            <ns1:ext cx="95250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rPr>
              <ns1:t>汇报时间  2026年10月23日</ns1:t>
            </ns1:r>
          </ns1:p>
        </ns0:txBody>
      </ns0:sp>
    </ns0:spTree>
    <ns0:extLst>
      <ns0:ext uri="{BB962C8B-B14F-4D97-AF65-F5344CB8AC3E}">
        <ns3:creationId val="1924151412"/>
      </ns0:ext>
    </ns0:extLst>
  </ns0:cSld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24" name="">
            <ns1:extLst>
              <ns1:ext uri="{FF2B5EF4-FFF2-40B4-BE49-F238E27FC236}">
                <ns2:creationId id="{DB20C888-1870-4074-80FF-DEE23172C447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DF2255F-3C98-47B7-A8DB-1B16073EED33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287125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端侧一体机愿景与竞争力规划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7DE089B-0776-4509-9658-675987A77A5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885825"/>
            <ns1:ext cx="11382375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部门愿景：构筑鲲鹏昇腾一体机竞争力，让一体机无处不在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5F346A73-F278-4767-A1D4-34892D7DB863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304925"/>
            <ns1:ext cx="11382375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端侧一体机：让 AI 走进千家万户，赋能各行各业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EB7F99A1-1C81-46DF-AC36-682F70005FE7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桌面盒子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90DBB915-D84B-4575-B249-F348281EE9A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DGX Spark：专用桌面 AI 节点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22B974BB-A138-475E-9B54-49D23440C257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模型开发、Agent 与本地推理服务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7ED9DD28-5638-4BB5-ABB9-B1751A47C86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重点方向：模型适配、高吞吐、易部署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AF34041D-E8B6-4555-A662-63C6FD149D94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PC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856529F-A4BF-462E-829D-A2519E18C4D7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RTX Spark：日常个人电脑平台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C7E1CCB9-863D-4D0A-8736-4689D3715B2F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办公、创作、图形与本地 AI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F017764B-AEBD-46C9-8EE4-7D0E5C87262A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重点方向：Windows 生态支持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BF7389D3-2933-40DA-BCFC-E981D63E925C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嵌入式、具身机器人、无人车</ns1:t>
            </ns1:r>
          </ns1:p>
        </ns0:txBody>
      </ns0:sp>
      <ns0:sp>
        <ns0:nvSpPr>
          <ns0:cNvPr id="14" name="">
            <ns1:extLst>
              <ns1:ext uri="{FF2B5EF4-FFF2-40B4-BE49-F238E27FC236}">
                <ns2:creationId id="{65D1749B-2E5C-4DD4-A03C-D81DE82BFAE6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AGX Orin / Thor：设备内嵌平台</ns1:t>
            </ns1:r>
          </ns1:p>
        </ns0:txBody>
      </ns0:sp>
      <ns0:sp>
        <ns0:nvSpPr>
          <ns0:cNvPr id="15" name="">
            <ns1:extLst>
              <ns1:ext uri="{FF2B5EF4-FFF2-40B4-BE49-F238E27FC236}">
                <ns2:creationId id="{CAB7CAD6-1926-40B7-ADA3-D6F9D45B8E96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Orin 承接现有部署，Thor 面向复杂多模态</ns1:t>
            </ns1:r>
          </ns1:p>
        </ns0:txBody>
      </ns0:sp>
      <ns0:sp>
        <ns0:nvSpPr>
          <ns0:cNvPr id="16" name="">
            <ns1:extLst>
              <ns1:ext uri="{FF2B5EF4-FFF2-40B4-BE49-F238E27FC236}">
                <ns2:creationId id="{B072D1D4-6B10-4CF9-8592-E970AEAE63E5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重点方向：低功耗、低时延、低资源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9CBA268F-8823-4D7D-A8E4-34B38DF2024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3448050"/>
            <ns1:ext cx="8572500" cy="3238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算力发展趋势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63044B2E-9FFC-4421-B3F8-D39005F80FDB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05575"/>
            <ns1:ext cx="333375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02</ns1:t>
            </ns1:r>
          </ns1:p>
        </ns0:txBody>
      </ns0:sp>
      <ns0:pic>
        <ns0:nvPicPr>
          <ns0:cNvPr id="25" name="">
            <ns1:extLst>
              <ns1:ext uri="{FF2B5EF4-FFF2-40B4-BE49-F238E27FC236}">
                <ns2:creationId id="{46B8F515-1BCA-4240-BF1F-C29E6DF31E4D}"/>
              </ns1:ext>
            </ns1:extLst>
          </ns0:cNvPr>
          <ns0:cNvPicPr>
            <ns1:picLocks noChangeAspect="1"/>
          </ns0:cNvPicPr>
          <ns0:nvPr/>
        </ns0:nvPicPr>
        <ns0:blipFill>
          <ns1:blip ns3:embed="Rcb5fd8b6ae9d4564"/>
          <ns1:stretch/>
        </ns0:blipFill>
        <ns0:spPr>
          <ns1:xfrm>
            <ns1:off x="968216" y="3762375"/>
            <ns1:ext cx="10255568" cy="2771775"/>
          </ns1:xfrm>
          <ns1:prstGeom prst="rect">
            <ns1:avLst/>
          </ns1:prstGeom>
        </ns0:spPr>
      </ns0:pic>
      <ns0:pic>
        <ns0:nvPicPr>
          <ns0:cNvPr id="26" name="">
            <ns1:extLst>
              <ns1:ext uri="{FF2B5EF4-FFF2-40B4-BE49-F238E27FC236}">
                <ns2:creationId id="{8D2E850A-8541-4356-9CC0-3EE64FEB05CB}"/>
              </ns1:ext>
            </ns1:extLst>
          </ns0:cNvPr>
          <ns0:cNvPicPr>
            <ns1:picLocks noChangeAspect="1"/>
          </ns0:cNvPicPr>
          <ns0:nvPr/>
        </ns0:nvPicPr>
        <ns0:blipFill>
          <ns1:blip ns3:embed="R0c3c459037a5426c"/>
          <ns1:stretch/>
        </ns0:blipFill>
        <ns0:spPr>
          <ns1:xfrm>
            <ns1:off x="968216" y="3762375"/>
            <ns1:ext cx="10255568" cy="2771775"/>
          </ns1:xfrm>
          <ns1:prstGeom prst="rect">
            <ns1:avLst/>
          </ns1:prstGeom>
        </ns0:spPr>
      </ns0:pic>
    </ns0:spTree>
    <ns0:extLst>
      <ns0:ext uri="{BB962C8B-B14F-4D97-AF65-F5344CB8AC3E}">
        <ns4:creationId val="628817155"/>
      </ns0:ext>
    </ns0:extLst>
  </ns0:cSld>
</ns0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36" name="">
            <ns1:extLst>
              <ns1:ext uri="{FF2B5EF4-FFF2-40B4-BE49-F238E27FC236}">
                <ns2:creationId id="{52C0EDB1-5427-4A54-AF7D-E1DD7F4858FB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5D278814-E814-4262-ACA4-DF03EA239FA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端侧一体机愿景与竞争力规划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5720612F-0652-4F7B-B093-CAB8A97B60AE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87630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重点方向</ns1:t>
            </ns1:r>
          </ns1:p>
        </ns0:txBody>
      </ns0:sp>
      <ns0:graphicFrame>
        <ns0:nvGraphicFramePr>
          <ns0:cNvPr id="38" name="">
            <ns1:extLst>
              <ns1:ext uri="{FF2B5EF4-FFF2-40B4-BE49-F238E27FC236}">
                <ns2:creationId id="{E3810CE0-5CA9-4F77-BC3D-383D8611E5AB}"/>
              </ns1:ext>
            </ns1:extLst>
          </ns0:cNvPr>
          <ns0:cNvGraphicFramePr/>
          <ns0:nvPr/>
        </ns0:nvGraphicFramePr>
        <ns0:xfrm>
          <ns1:off x="419100" y="1276350"/>
          <ns1:ext cx="11353800" cy="2590800"/>
        </ns0:xfrm>
        <ns1:graphic>
          <ns1:graphicData uri="http://schemas.openxmlformats.org/drawingml/2006/table">
            <ns1:tbl>
              <ns1:tblPr/>
              <ns1:tblGrid>
                <ns1:gridCol w="1676400"/>
                <ns1:gridCol w="4686300"/>
                <ns1:gridCol w="4991100"/>
              </ns1:tblGrid>
              <ns1:tr h="342900"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发力方向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场景与技术判断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能力建设重点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资源受限推理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竞品采用统一内存形态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统筹设备内存与主机内存占用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按场景选框架</ns1:t>
                      </ns1:r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，优化内存、显存与数据搬运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提升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资源受限下的推理性能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Windows 生态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打通 Windows 系统下的软硬件栈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适配 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HDK、CANN、PTA 及推理框架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支撑 Windows 生态应用落地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6191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演进探索：小模型拼接、端到端 VLA、世界模型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当前模型多样、重训练，未来面向推理落地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具身智能推理框架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支撑多样模型结构与应用部署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无人车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从模型单点适配、优化走向通用能力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通用推理加速算子库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沉淀模型迁移、性能调优 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Skills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39" name="">
            <ns1:extLst>
              <ns1:ext uri="{FF2B5EF4-FFF2-40B4-BE49-F238E27FC236}">
                <ns2:creationId id="{6A9B0901-22EF-4C59-A3FA-667B1A785044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401955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当前痛点与规划策略</ns1:t>
            </ns1:r>
          </ns1:p>
        </ns0:txBody>
      </ns0:sp>
      <ns0:graphicFrame>
        <ns0:nvGraphicFramePr>
          <ns0:cNvPr id="40" name="">
            <ns1:extLst>
              <ns1:ext uri="{FF2B5EF4-FFF2-40B4-BE49-F238E27FC236}">
                <ns2:creationId id="{27706024-776F-4B27-966F-9B0716DB8117}"/>
              </ns1:ext>
            </ns1:extLst>
          </ns0:cNvPr>
          <ns0:cNvGraphicFramePr/>
          <ns0:nvPr/>
        </ns0:nvGraphicFramePr>
        <ns0:xfrm>
          <ns1:off x="419100" y="4419600"/>
          <ns1:ext cx="11353800" cy="2000250"/>
        </ns0:xfrm>
        <ns1:graphic>
          <ns1:graphicData uri="http://schemas.openxmlformats.org/drawingml/2006/table">
            <ns1:tbl>
              <ns1:tblPr/>
              <ns1:tblGrid>
                <ns1:gridCol w="3238500"/>
                <ns1:gridCol w="8115300"/>
              </ns1:tblGrid>
              <ns1:tr h="342900"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当前痛点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规划策略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310P 能力受限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中心推理技术难以直接复用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下一代芯片发布前提前预研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FP4、FP8、W4A8，权重卸载、KV Cache 量化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框架选择受限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目前主要关注 MindIE、vLLM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建立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面向场景的框架调研与选型能力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纳入 llama.cpp、Ollama 等方案，评估内存占用与性能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具身智能与无人车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以模型单点适配和优化为主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从单点优化走向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可复用的软件能力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建设具身智能推理框架、无人车通用推理加速库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41" name="">
            <ns1:extLst>
              <ns1:ext uri="{FF2B5EF4-FFF2-40B4-BE49-F238E27FC236}">
                <ns2:creationId id="{1BA1D3AE-00FE-4767-8EDE-FBB706365C24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03</ns1:t>
            </ns1:r>
          </ns1:p>
        </ns0:txBody>
      </ns0:sp>
    </ns0:spTree>
    <ns0:extLst>
      <ns0:ext uri="{BB962C8B-B14F-4D97-AF65-F5344CB8AC3E}">
        <ns3:creationId val="2001861411"/>
      </ns0:ext>
    </ns0:extLst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7" name="">
            <ns1:extLst>
              <ns1:ext uri="{FF2B5EF4-FFF2-40B4-BE49-F238E27FC236}">
                <ns2:creationId id="{1AB4E95B-711F-47F4-A4CD-0A864B03FE84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2B1790C4-B000-410A-9270-D00A2593E2CB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团队能力建设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638DFE42-0124-45C5-8C43-BC419FB667F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933450"/>
            <ns1:ext cx="113538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与大家携手并进，提升端侧推理竞争力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9158835E-06CD-4523-8347-FEC8A2F5B38E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39065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让团队的每一位成员都持续成长</ns1:t>
            </ns1:r>
          </ns1:p>
        </ns0:txBody>
      </ns0:sp>
      <ns0:graphicFrame>
        <ns0:nvGraphicFramePr>
          <ns0:cNvPr id="5" name="">
            <ns1:extLst>
              <ns1:ext uri="{FF2B5EF4-FFF2-40B4-BE49-F238E27FC236}">
                <ns2:creationId id="{F795C759-783D-4E70-86A8-893E6A8C3B29}"/>
              </ns1:ext>
            </ns1:extLst>
          </ns0:cNvPr>
          <ns0:cNvGraphicFramePr/>
          <ns0:nvPr/>
        </ns0:nvGraphicFramePr>
        <ns0:xfrm>
          <ns1:off x="419100" y="1981200"/>
          <ns1:ext cx="9029700" cy="3924300"/>
        </ns0:xfrm>
        <ns1:graphic>
          <ns1:graphicData uri="http://schemas.openxmlformats.org/drawingml/2006/table">
            <ns1:tbl>
              <ns1:tblPr firstRow="0" bandRow="0"/>
              <ns1:tblGrid>
                <ns1:gridCol w="1714500"/>
                <ns1:gridCol w="9639300"/>
              </ns1:tblGrid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需求交付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有节奏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：按优先级与里程碑推进，定期同步进展与风险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契约化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：明确范围、责任人、交付时间及验收标准，变更及时对齐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高质量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：落实评审、精度与性能验证、回归检查，交付后复盘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技术竞争力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推理框架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：开展场景选型、关键特性适配和 Windows 生态建设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模型与加速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：沉淀模型适配、量化、内存优化及算子加速能力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具身智能和无人车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：建设推理框架、通用加速库与调优 Skills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团队协作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职责分工明确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：模块有人负责，接口与协作边界清晰，关键岗位有备份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开发与技术经验共享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：通过代码评审、专题分享、文档与案例库沉淀经验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周边团队协同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：与公共开发部、技术开发部对齐接口、版本和问题闭环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人员成长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正反馈与及时认可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：让贡献可见，及时肯定结果、进步与协作行为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发挥个人长处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：结合兴趣与优势分配任务，明确个人能力提升目标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独立承担工作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：逐步负责完整模块或课题，配套导师支持与复盘反馈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6" name="">
            <ns1:extLst>
              <ns1:ext uri="{FF2B5EF4-FFF2-40B4-BE49-F238E27FC236}">
                <ns2:creationId id="{EB884460-F851-4A14-9FAA-F8BF3D504BD3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04</ns1:t>
            </ns1:r>
          </ns1:p>
        </ns0:txBody>
      </ns0:sp>
    </ns0:spTree>
    <ns0:extLst>
      <ns0:ext uri="{BB962C8B-B14F-4D97-AF65-F5344CB8AC3E}">
        <ns3:creationId val="913934780"/>
      </ns0:ext>
    </ns0:extLst>
  </ns0:cSld>
</ns0:sld>
</file>

<file path=ppt/slides/slide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00" name="">
            <ns1:extLst>
              <ns1:ext uri="{FF2B5EF4-FFF2-40B4-BE49-F238E27FC236}">
                <ns2:creationId id="{4AC79429-FA50-4BD9-9EF0-6491024E89FE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1C545BC-16D3-4C5A-AF93-6AF35A5A4A54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端侧推理愿景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60068FE-77C6-4C56-8CD3-003046FE1AC4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800100"/>
            <ns1:ext cx="11658600" cy="3524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构筑鲲鹏昇腾一体机竞争力，让一体机无处不在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0EAA28B0-4D5D-43ED-993E-8EEB25E26EE5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266825"/>
            <ns1:ext cx="3733800" cy="1838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8D8D8"/>
            </ns1:solidFill>
          </ns1:ln>
        </ns0:spPr>
      </ns0:sp>
      <ns0:sp>
        <ns0:nvSpPr>
          <ns0:cNvPr id="5" name="">
            <ns1:extLst>
              <ns1:ext uri="{FF2B5EF4-FFF2-40B4-BE49-F238E27FC236}">
                <ns2:creationId id="{9C6B328F-6720-4C90-A48A-C3F7F32328A1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266825"/>
            <ns1:ext cx="3733800" cy="361950"/>
          </ns1:xfrm>
          <ns1:prstGeom prst="rect">
            <ns1:avLst/>
          </ns1:prstGeom>
          <ns1:solidFill>
            <ns1:srgbClr val="F3E6E7"/>
          </ns1:solidFill>
          <ns1:ln w="0">
            <ns1:noFill/>
          </ns1:ln>
        </ns0:spPr>
      </ns0:sp>
      <ns0:sp>
        <ns0:nvSpPr>
          <ns0:cNvPr id="6" name="">
            <ns1:extLst>
              <ns1:ext uri="{FF2B5EF4-FFF2-40B4-BE49-F238E27FC236}">
                <ns2:creationId id="{88B11D43-AAD5-4DAF-A5B8-16859FFEAB2D}"/>
              </ns1:ext>
            </ns1:extLst>
          </ns0:cNvPr>
          <ns0:cNvSpPr>
            <ns1:spLocks noGrp="1"/>
          </ns0:cNvSpPr>
          <ns0:nvPr/>
        </ns0:nvSpPr>
        <ns0:spPr>
          <ns1:xfrm>
            <ns1:off x="361950" y="1295400"/>
            <ns1:ext cx="35433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AI 桌面盒子</ns1:t>
            </ns1:r>
          </ns1:p>
        </ns0:txBody>
      </ns0:sp>
      <ns0:pic>
        <ns0:nvPicPr>
          <ns0:cNvPr id="7" name="">
            <ns1:extLst>
              <ns1:ext uri="{FF2B5EF4-FFF2-40B4-BE49-F238E27FC236}">
                <ns2:creationId id="{29A0C173-4184-402B-8D03-D33DDC36C962}"/>
              </ns1:ext>
            </ns1:extLst>
          </ns0:cNvPr>
          <ns0:cNvPicPr>
            <ns1:picLocks noChangeAspect="1"/>
          </ns0:cNvPicPr>
          <ns0:nvPr/>
        </ns0:nvPicPr>
        <ns0:blipFill>
          <ns1:blip ns3:embed="R609925160a6847c6"/>
          <ns1:stretch/>
        </ns0:blipFill>
        <ns0:spPr>
          <ns1:xfrm>
            <ns1:off x="383858" y="1714500"/>
            <ns1:ext cx="1594485" cy="885825"/>
          </ns1:xfrm>
          <ns1:prstGeom prst="rect">
            <ns1:avLst/>
          </ns1:prstGeom>
        </ns0:spPr>
      </ns0:pic>
      <ns0:sp>
        <ns0:nvSpPr>
          <ns0:cNvPr id="8" name="">
            <ns1:extLst>
              <ns1:ext uri="{FF2B5EF4-FFF2-40B4-BE49-F238E27FC236}">
                <ns2:creationId id="{4004D165-FAD8-4D88-9E40-0B584E86029C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628900"/>
            <ns1:ext cx="16002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DGX Spark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D2FFFBFC-7716-429A-BA51-68BC3B5781CC}"/>
              </ns1:ext>
            </ns1:extLst>
          </ns0:cNvPr>
          <ns0:cNvSpPr>
            <ns1:spLocks noGrp="1"/>
          </ns0:cNvSpPr>
          <ns0:nvPr/>
        </ns0:nvSpPr>
        <ns0:spPr>
          <ns1:xfrm>
            <ns1:off x="2114550" y="1704975"/>
            <ns1:ext cx="1781175" cy="8858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个人开发者</ns1:t>
            </ns1:r>
          </ns1:p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桌面 Agent</ns1:t>
            </ns1:r>
          </ns1:p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本地推理服务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EE797952-DEA7-4C64-838F-7CBBE29ED422}"/>
              </ns1:ext>
            </ns1:extLst>
          </ns0:cNvPr>
          <ns0:cNvSpPr>
            <ns1:spLocks noGrp="1"/>
          </ns0:cNvSpPr>
          <ns0:nvPr/>
        </ns0:nvSpPr>
        <ns0:spPr>
          <ns1:xfrm>
            <ns1:off x="342900" y="2847975"/>
            <ns1:ext cx="3581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模型适配 / 高吞吐 / 易部署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2E3787AF-E6CD-417E-80AF-6A09925B6AE9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1266825"/>
            <ns1:ext cx="3733800" cy="1838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8D8D8"/>
            </ns1:solidFill>
          </ns1:ln>
        </ns0:spPr>
      </ns0:sp>
      <ns0:sp>
        <ns0:nvSpPr>
          <ns0:cNvPr id="12" name="">
            <ns1:extLst>
              <ns1:ext uri="{FF2B5EF4-FFF2-40B4-BE49-F238E27FC236}">
                <ns2:creationId id="{23D255BD-FB32-4E1D-AB92-556F63E10491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1266825"/>
            <ns1:ext cx="3733800" cy="361950"/>
          </ns1:xfrm>
          <ns1:prstGeom prst="rect">
            <ns1:avLst/>
          </ns1:prstGeom>
          <ns1:solidFill>
            <ns1:srgbClr val="F3E6E7"/>
          </ns1:solidFill>
          <ns1:ln w="0">
            <ns1:noFill/>
          </ns1:ln>
        </ns0:spPr>
      </ns0:sp>
      <ns0:sp>
        <ns0:nvSpPr>
          <ns0:cNvPr id="13" name="">
            <ns1:extLst>
              <ns1:ext uri="{FF2B5EF4-FFF2-40B4-BE49-F238E27FC236}">
                <ns2:creationId id="{C4268744-0779-4380-9301-9A8711983CFB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1295400"/>
            <ns1:ext cx="35433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AI PC</ns1:t>
            </ns1:r>
          </ns1:p>
        </ns0:txBody>
      </ns0:sp>
      <ns0:pic>
        <ns0:nvPicPr>
          <ns0:cNvPr id="14" name="">
            <ns1:extLst>
              <ns1:ext uri="{FF2B5EF4-FFF2-40B4-BE49-F238E27FC236}">
                <ns2:creationId id="{CC3E05AE-0A59-4946-9D3B-0BA3215174EE}"/>
              </ns1:ext>
            </ns1:extLst>
          </ns0:cNvPr>
          <ns0:cNvPicPr>
            <ns1:picLocks noChangeAspect="1"/>
          </ns0:cNvPicPr>
          <ns0:nvPr/>
        </ns0:nvPicPr>
        <ns0:blipFill>
          <ns1:blip ns3:embed="R2d324f607e8e4ad5"/>
          <ns1:stretch/>
        </ns0:blipFill>
        <ns0:spPr>
          <ns1:xfrm>
            <ns1:off x="4346258" y="1714500"/>
            <ns1:ext cx="1594485" cy="885825"/>
          </ns1:xfrm>
          <ns1:prstGeom prst="rect">
            <ns1:avLst/>
          </ns1:prstGeom>
        </ns0:spPr>
      </ns0:pic>
      <ns0:sp>
        <ns0:nvSpPr>
          <ns0:cNvPr id="15" name="">
            <ns1:extLst>
              <ns1:ext uri="{FF2B5EF4-FFF2-40B4-BE49-F238E27FC236}">
                <ns2:creationId id="{442B7E71-3DDE-4407-8B8F-EDDF80D82D6D}"/>
              </ns1:ext>
            </ns1:extLst>
          </ns0:cNvPr>
          <ns0:cNvSpPr>
            <ns1:spLocks noGrp="1"/>
          </ns0:cNvSpPr>
          <ns0:nvPr/>
        </ns0:nvSpPr>
        <ns0:spPr>
          <ns1:xfrm>
            <ns1:off x="4343400" y="2628900"/>
            <ns1:ext cx="16002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RTX Spark</ns1:t>
            </ns1:r>
          </ns1:p>
        </ns0:txBody>
      </ns0:sp>
      <ns0:sp>
        <ns0:nvSpPr>
          <ns0:cNvPr id="16" name="">
            <ns1:extLst>
              <ns1:ext uri="{FF2B5EF4-FFF2-40B4-BE49-F238E27FC236}">
                <ns2:creationId id="{5E70929E-9180-4AA0-8015-232DB228D3AE}"/>
              </ns1:ext>
            </ns1:extLst>
          </ns0:cNvPr>
          <ns0:cNvSpPr>
            <ns1:spLocks noGrp="1"/>
          </ns0:cNvSpPr>
          <ns0:nvPr/>
        </ns0:nvSpPr>
        <ns0:spPr>
          <ns1:xfrm>
            <ns1:off x="6076950" y="1704975"/>
            <ns1:ext cx="1781175" cy="8858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办公与创作</ns1:t>
            </ns1:r>
          </ns1:p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个人 AI 助手</ns1:t>
            </ns1:r>
          </ns1:p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Windows 应用生态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E8A4949A-76AC-4D88-B74A-C244DFD279AA}"/>
              </ns1:ext>
            </ns1:extLst>
          </ns0:cNvPr>
          <ns0:cNvSpPr>
            <ns1:spLocks noGrp="1"/>
          </ns0:cNvSpPr>
          <ns0:nvPr/>
        </ns0:nvSpPr>
        <ns0:spPr>
          <ns1:xfrm>
            <ns1:off x="4305300" y="2847975"/>
            <ns1:ext cx="3581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Windows 全栈适配 / 应用兼容</ns1:t>
            </ns1:r>
          </ns1:p>
        </ns0:txBody>
      </ns0:sp>
      <ns0:sp>
        <ns0:nvSpPr>
          <ns0:cNvPr id="18" name="">
            <ns1:extLst>
              <ns1:ext uri="{FF2B5EF4-FFF2-40B4-BE49-F238E27FC236}">
                <ns2:creationId id="{42A653C9-EE30-466E-9C37-435795177709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1266825"/>
            <ns1:ext cx="3733800" cy="1838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8D8D8"/>
            </ns1:solidFill>
          </ns1:ln>
        </ns0:spPr>
      </ns0:sp>
      <ns0:sp>
        <ns0:nvSpPr>
          <ns0:cNvPr id="19" name="">
            <ns1:extLst>
              <ns1:ext uri="{FF2B5EF4-FFF2-40B4-BE49-F238E27FC236}">
                <ns2:creationId id="{048388DD-9660-4525-B05E-8ABF59B4EFD6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1266825"/>
            <ns1:ext cx="3733800" cy="361950"/>
          </ns1:xfrm>
          <ns1:prstGeom prst="rect">
            <ns1:avLst/>
          </ns1:prstGeom>
          <ns1:solidFill>
            <ns1:srgbClr val="F3E6E7"/>
          </ns1:solidFill>
          <ns1:ln w="0">
            <ns1:noFill/>
          </ns1:ln>
        </ns0:spPr>
      </ns0:sp>
      <ns0:sp>
        <ns0:nvSpPr>
          <ns0:cNvPr id="20" name="">
            <ns1:extLst>
              <ns1:ext uri="{FF2B5EF4-FFF2-40B4-BE49-F238E27FC236}">
                <ns2:creationId id="{3954CBCF-039B-4464-BA95-8E81C4AB921F}"/>
              </ns1:ext>
            </ns1:extLst>
          </ns0:cNvPr>
          <ns0:cNvSpPr>
            <ns1:spLocks noGrp="1"/>
          </ns0:cNvSpPr>
          <ns0:nvPr/>
        </ns0:nvSpPr>
        <ns0:spPr>
          <ns1:xfrm>
            <ns1:off x="8286750" y="1295400"/>
            <ns1:ext cx="35433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嵌入式、具身机器人、无人车</ns1:t>
            </ns1:r>
          </ns1:p>
        </ns0:txBody>
      </ns0:sp>
      <ns0:pic>
        <ns0:nvPicPr>
          <ns0:cNvPr id="21" name="">
            <ns1:extLst>
              <ns1:ext uri="{FF2B5EF4-FFF2-40B4-BE49-F238E27FC236}">
                <ns2:creationId id="{71048B74-FB2D-4884-9D7F-5FD115A3A5CA}"/>
              </ns1:ext>
            </ns1:extLst>
          </ns0:cNvPr>
          <ns0:cNvPicPr>
            <ns1:picLocks noChangeAspect="1"/>
          </ns0:cNvPicPr>
          <ns0:nvPr/>
        </ns0:nvPicPr>
        <ns0:blipFill>
          <ns1:blip ns3:embed="R372d477f1a8d4f06"/>
          <ns1:stretch/>
        </ns0:blipFill>
        <ns0:spPr>
          <ns1:xfrm>
            <ns1:off x="8308658" y="1714500"/>
            <ns1:ext cx="1594485" cy="885825"/>
          </ns1:xfrm>
          <ns1:prstGeom prst="rect">
            <ns1:avLst/>
          </ns1:prstGeom>
        </ns0:spPr>
      </ns0:pic>
      <ns0:sp>
        <ns0:nvSpPr>
          <ns0:cNvPr id="22" name="">
            <ns1:extLst>
              <ns1:ext uri="{FF2B5EF4-FFF2-40B4-BE49-F238E27FC236}">
                <ns2:creationId id="{D9B2639B-52C1-4063-A339-49BFE38D1003}"/>
              </ns1:ext>
            </ns1:extLst>
          </ns0:cNvPr>
          <ns0:cNvSpPr>
            <ns1:spLocks noGrp="1"/>
          </ns0:cNvSpPr>
          <ns0:nvPr/>
        </ns0:nvSpPr>
        <ns0:spPr>
          <ns1:xfrm>
            <ns1:off x="8305800" y="2628900"/>
            <ns1:ext cx="16002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Jetson Orin / Thor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46B77D6D-B108-4A4B-9293-283F427C4409}"/>
              </ns1:ext>
            </ns1:extLst>
          </ns0:cNvPr>
          <ns0:cNvSpPr>
            <ns1:spLocks noGrp="1"/>
          </ns0:cNvSpPr>
          <ns0:nvPr/>
        </ns0:nvSpPr>
        <ns0:spPr>
          <ns1:xfrm>
            <ns1:off x="10039350" y="1704975"/>
            <ns1:ext cx="1781175" cy="8858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机械臂与机器人</ns1:t>
            </ns1:r>
          </ns1:p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自主移动设备</ns1:t>
            </ns1:r>
          </ns1:p>
          <ns1:p>
            <ns1: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多模态感知决策</ns1:t>
            </ns1:r>
          </ns1:p>
        </ns0:txBody>
      </ns0:sp>
      <ns0:sp>
        <ns0:nvSpPr>
          <ns0:cNvPr id="24" name="">
            <ns1:extLst>
              <ns1:ext uri="{FF2B5EF4-FFF2-40B4-BE49-F238E27FC236}">
                <ns2:creationId id="{DD1C34AC-4F43-4FCA-BAAC-9A0D2573FA22}"/>
              </ns1:ext>
            </ns1:extLst>
          </ns0:cNvPr>
          <ns0:cNvSpPr>
            <ns1:spLocks noGrp="1"/>
          </ns0:cNvSpPr>
          <ns0:nvPr/>
        </ns0:nvSpPr>
        <ns0:spPr>
          <ns1:xfrm>
            <ns1:off x="8267700" y="2847975"/>
            <ns1:ext cx="3581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低内存 / 低功耗 / 低时延</ns1:t>
            </ns1:r>
          </ns1:p>
        </ns0:txBody>
      </ns0:sp>
      <ns0:sp>
        <ns0:nvSpPr>
          <ns0:cNvPr id="25" name="">
            <ns1:extLst>
              <ns1:ext uri="{FF2B5EF4-FFF2-40B4-BE49-F238E27FC236}">
                <ns2:creationId id="{0EFB1036-939F-4C7B-AA50-9FC6FB95530A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3228975"/>
            <ns1:ext cx="11658600" cy="409575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26" name="">
            <ns1:extLst>
              <ns1:ext uri="{FF2B5EF4-FFF2-40B4-BE49-F238E27FC236}">
                <ns2:creationId id="{4A4BB08F-6E6E-4D8D-9032-6C03B88C2071}"/>
              </ns1:ext>
            </ns1:extLst>
          </ns0:cNvPr>
          <ns0:cNvSpPr>
            <ns1:spLocks noGrp="1"/>
          </ns0:cNvSpPr>
          <ns0:nvPr/>
        </ns0:nvSpPr>
        <ns0:spPr>
          <ns1:xfrm>
            <ns1:off x="409575" y="3276600"/>
            <ns1:ext cx="14287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伙伴生态</ns1:t>
            </ns1:r>
          </ns1:p>
        </ns0:txBody>
      </ns0:sp>
      <ns0:sp>
        <ns0:nvSpPr>
          <ns0:cNvPr id="27" name="">
            <ns1:extLst>
              <ns1:ext uri="{FF2B5EF4-FFF2-40B4-BE49-F238E27FC236}">
                <ns2:creationId id="{14FCFA30-101D-4F87-94D9-AA5B2B216623}"/>
              </ns1:ext>
            </ns1:extLst>
          </ns0:cNvPr>
          <ns0:cNvSpPr>
            <ns1:spLocks noGrp="1"/>
          </ns0:cNvSpPr>
          <ns0:nvPr/>
        </ns0:nvSpPr>
        <ns0:spPr>
          <ns1:xfrm>
            <ns1:off x="1971675" y="3276600"/>
            <ns1:ext cx="97536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伙伴赋能     联合创新     共同验证与宣传</ns1:t>
            </ns1:r>
          </ns1:p>
        </ns0:txBody>
      </ns0:sp>
      <ns0:sp>
        <ns0:nvSpPr>
          <ns0:cNvPr id="28" name="">
            <ns1:extLst>
              <ns1:ext uri="{FF2B5EF4-FFF2-40B4-BE49-F238E27FC236}">
                <ns2:creationId id="{7AF02185-1121-4821-8741-B8659DE8306A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3714750"/>
            <ns1:ext cx="76200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端侧推理现状与痛点</ns1:t>
            </ns1:r>
          </ns1:p>
        </ns0:txBody>
      </ns0:sp>
      <ns0:sp>
        <ns0:nvSpPr>
          <ns0:cNvPr id="29" name="">
            <ns1:extLst>
              <ns1:ext uri="{FF2B5EF4-FFF2-40B4-BE49-F238E27FC236}">
                <ns2:creationId id="{F14A0D99-D7F8-46AD-B287-F66AC0686A3A}"/>
              </ns1:ext>
            </ns1:extLst>
          </ns0:cNvPr>
          <ns0:cNvSpPr>
            <ns1:spLocks noGrp="1"/>
          </ns0:cNvSpPr>
          <ns0:nvPr/>
        </ns0:nvSpPr>
        <ns0:spPr>
          <ns1:xfrm>
            <ns1:off x="9344025" y="3800475"/>
            <ns1:ext cx="171450" cy="114300"/>
          </ns1:xfrm>
          <ns1:prstGeom prst="rect">
            <ns1:avLst/>
          </ns1:prstGeom>
          <ns1:solidFill>
            <ns1:srgbClr val="EEEEEE"/>
          </ns1:solidFill>
          <ns1:ln w="9525">
            <ns1:solidFill>
              <ns1:srgbClr val="CCCCCC"/>
            </ns1:solidFill>
          </ns1:ln>
        </ns0:spPr>
      </ns0:sp>
      <ns0:sp>
        <ns0:nvSpPr>
          <ns0:cNvPr id="30" name="">
            <ns1:extLst>
              <ns1:ext uri="{FF2B5EF4-FFF2-40B4-BE49-F238E27FC236}">
                <ns2:creationId id="{62F76BD4-AAF3-4D15-8C42-C7129C537C38}"/>
              </ns1:ext>
            </ns1:extLst>
          </ns0:cNvPr>
          <ns0:cNvSpPr>
            <ns1:spLocks noGrp="1"/>
          </ns0:cNvSpPr>
          <ns0:nvPr/>
        </ns0:nvSpPr>
        <ns0:spPr>
          <ns1:xfrm>
            <ns1:off x="9572625" y="3743325"/>
            <ns1:ext cx="80962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已有基础</ns1:t>
            </ns1:r>
          </ns1:p>
        </ns0:txBody>
      </ns0:sp>
      <ns0:sp>
        <ns0:nvSpPr>
          <ns0:cNvPr id="31" name="">
            <ns1:extLst>
              <ns1:ext uri="{FF2B5EF4-FFF2-40B4-BE49-F238E27FC236}">
                <ns2:creationId id="{8561364E-B0EB-45CE-AA6D-854A2F26EEAE}"/>
              </ns1:ext>
            </ns1:extLst>
          </ns0:cNvPr>
          <ns0:cNvSpPr>
            <ns1:spLocks noGrp="1"/>
          </ns0:cNvSpPr>
          <ns0:nvPr/>
        </ns0:nvSpPr>
        <ns0:spPr>
          <ns1:xfrm>
            <ns1:off x="10734675" y="3800475"/>
            <ns1:ext cx="171450" cy="114300"/>
          </ns1:xfrm>
          <ns1:prstGeom prst="rect">
            <ns1:avLst/>
          </ns1:prstGeom>
          <ns1:solidFill>
            <ns1:srgbClr val="F8E7E8"/>
          </ns1:solidFill>
          <ns1:ln w="9525">
            <ns1:solidFill>
              <ns1:srgbClr val="BC2026"/>
            </ns1:solidFill>
          </ns1:ln>
        </ns0:spPr>
      </ns0:sp>
      <ns0:sp>
        <ns0:nvSpPr>
          <ns0:cNvPr id="32" name="">
            <ns1:extLst>
              <ns1:ext uri="{FF2B5EF4-FFF2-40B4-BE49-F238E27FC236}">
                <ns2:creationId id="{45366B6D-FDBA-4C96-8AC2-FBE58059A0C8}"/>
              </ns1:ext>
            </ns1:extLst>
          </ns0:cNvPr>
          <ns0:cNvSpPr>
            <ns1:spLocks noGrp="1"/>
          </ns0:cNvSpPr>
          <ns0:nvPr/>
        </ns0:nvSpPr>
        <ns0:spPr>
          <ns1:xfrm>
            <ns1:off x="10963275" y="3743325"/>
            <ns1:ext cx="96202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主要缺口</ns1:t>
            </ns1:r>
          </ns1:p>
        </ns0:txBody>
      </ns0:sp>
      <ns0:sp>
        <ns0:nvSpPr>
          <ns0:cNvPr id="33" name="">
            <ns1:extLst>
              <ns1:ext uri="{FF2B5EF4-FFF2-40B4-BE49-F238E27FC236}">
                <ns2:creationId id="{A91750BC-C9D8-406C-9D42-C1E8C3E59045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067175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高性能推理</ns1:t>
            </ns1:r>
          </ns1:p>
        </ns0:txBody>
      </ns0:sp>
      <ns0:sp>
        <ns0:nvSpPr>
          <ns0:cNvPr id="34" name="">
            <ns1:extLst>
              <ns1:ext uri="{FF2B5EF4-FFF2-40B4-BE49-F238E27FC236}">
                <ns2:creationId id="{396BF87F-4F01-4B9E-A9D3-13867C6C53D4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381500"/>
            <ns1:ext cx="3733800" cy="447675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35" name="">
            <ns1:extLst>
              <ns1:ext uri="{FF2B5EF4-FFF2-40B4-BE49-F238E27FC236}">
                <ns2:creationId id="{203D2604-1F85-4D44-A730-3B046F801C5A}"/>
              </ns1:ext>
            </ns1:extLst>
          </ns0:cNvPr>
          <ns0:cNvSpPr>
            <ns1:spLocks noGrp="1"/>
          </ns0:cNvSpPr>
          <ns0:nvPr/>
        </ns0:nvSpPr>
        <ns0:spPr>
          <ns1:xfrm>
            <ns1:off x="2038350" y="4876800"/>
            <ns1:ext cx="190500" cy="114300"/>
          </ns1:xfrm>
          <ns1:prstGeom prst="downArrow">
            <ns1:avLst/>
          </ns1:prstGeom>
          <ns1:solidFill>
            <ns1:srgbClr val="B2B2B2"/>
          </ns1:solidFill>
          <ns1:ln w="0">
            <ns1:noFill/>
          </ns1:ln>
        </ns0:spPr>
      </ns0:sp>
      <ns0:sp>
        <ns0:nvSpPr>
          <ns0:cNvPr id="36" name="">
            <ns1:extLst>
              <ns1:ext uri="{FF2B5EF4-FFF2-40B4-BE49-F238E27FC236}">
                <ns2:creationId id="{D90F68E3-1C0C-480C-B703-D80149FBF56F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038725"/>
            <ns1:ext cx="3733800" cy="581025"/>
          </ns1:xfrm>
          <ns1:prstGeom prst="rect">
            <ns1:avLst/>
          </ns1:prstGeom>
          <ns1:solidFill>
            <ns1:srgbClr val="F9EEEE"/>
          </ns1:solidFill>
          <ns1:ln w="0">
            <ns1:noFill/>
          </ns1:ln>
        </ns0:spPr>
      </ns0:sp>
      <ns0:sp>
        <ns0:nvSpPr>
          <ns0:cNvPr id="37" name="">
            <ns1:extLst>
              <ns1:ext uri="{FF2B5EF4-FFF2-40B4-BE49-F238E27FC236}">
                <ns2:creationId id="{DA10BE03-F0C6-4238-A404-46AFF4F8CD0F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4067175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轻量化推理引擎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EE96B341-A5DF-437E-804F-8C90063B79A0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4381500"/>
            <ns1:ext cx="3733800" cy="447675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39" name="">
            <ns1:extLst>
              <ns1:ext uri="{FF2B5EF4-FFF2-40B4-BE49-F238E27FC236}">
                <ns2:creationId id="{288BFA0E-9CE3-41AD-AE7B-8F7036F4287E}"/>
              </ns1:ext>
            </ns1:extLst>
          </ns0:cNvPr>
          <ns0:cNvSpPr>
            <ns1:spLocks noGrp="1"/>
          </ns0:cNvSpPr>
          <ns0:nvPr/>
        </ns0:nvSpPr>
        <ns0:spPr>
          <ns1:xfrm>
            <ns1:off x="6000750" y="4876800"/>
            <ns1:ext cx="190500" cy="114300"/>
          </ns1:xfrm>
          <ns1:prstGeom prst="downArrow">
            <ns1:avLst/>
          </ns1:prstGeom>
          <ns1:solidFill>
            <ns1:srgbClr val="B2B2B2"/>
          </ns1:solidFill>
          <ns1:ln w="0">
            <ns1:noFill/>
          </ns1:ln>
        </ns0:spPr>
      </ns0:sp>
      <ns0:sp>
        <ns0:nvSpPr>
          <ns0:cNvPr id="40" name="">
            <ns1:extLst>
              <ns1:ext uri="{FF2B5EF4-FFF2-40B4-BE49-F238E27FC236}">
                <ns2:creationId id="{0663D1A3-75A5-43D0-9460-8292D76898B1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5038725"/>
            <ns1:ext cx="3733800" cy="581025"/>
          </ns1:xfrm>
          <ns1:prstGeom prst="rect">
            <ns1:avLst/>
          </ns1:prstGeom>
          <ns1:solidFill>
            <ns1:srgbClr val="F9EEEE"/>
          </ns1:solidFill>
          <ns1:ln w="0">
            <ns1:noFill/>
          </ns1:ln>
        </ns0:spPr>
      </ns0:sp>
      <ns0:sp>
        <ns0:nvSpPr>
          <ns0:cNvPr id="41" name="">
            <ns1:extLst>
              <ns1:ext uri="{FF2B5EF4-FFF2-40B4-BE49-F238E27FC236}">
                <ns2:creationId id="{ACFB9CBD-FBF9-4E14-B701-6D7F9D4EC3D1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4067175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具身智能与无人车</ns1:t>
            </ns1:r>
          </ns1:p>
        </ns0:txBody>
      </ns0:sp>
      <ns0:sp>
        <ns0:nvSpPr>
          <ns0:cNvPr id="42" name="">
            <ns1:extLst>
              <ns1:ext uri="{FF2B5EF4-FFF2-40B4-BE49-F238E27FC236}">
                <ns2:creationId id="{EC8F3903-6520-4AE7-92F8-BD7619016052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4381500"/>
            <ns1:ext cx="3733800" cy="447675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43" name="">
            <ns1:extLst>
              <ns1:ext uri="{FF2B5EF4-FFF2-40B4-BE49-F238E27FC236}">
                <ns2:creationId id="{05E7B9E1-C1BE-4CCB-AA4D-C1679151350B}"/>
              </ns1:ext>
            </ns1:extLst>
          </ns0:cNvPr>
          <ns0:cNvSpPr>
            <ns1:spLocks noGrp="1"/>
          </ns0:cNvSpPr>
          <ns0:nvPr/>
        </ns0:nvSpPr>
        <ns0:spPr>
          <ns1:xfrm>
            <ns1:off x="9963150" y="4876800"/>
            <ns1:ext cx="190500" cy="114300"/>
          </ns1:xfrm>
          <ns1:prstGeom prst="downArrow">
            <ns1:avLst/>
          </ns1:prstGeom>
          <ns1:solidFill>
            <ns1:srgbClr val="B2B2B2"/>
          </ns1:solidFill>
          <ns1:ln w="0">
            <ns1:noFill/>
          </ns1:ln>
        </ns0:spPr>
      </ns0:sp>
      <ns0:sp>
        <ns0:nvSpPr>
          <ns0:cNvPr id="44" name="">
            <ns1:extLst>
              <ns1:ext uri="{FF2B5EF4-FFF2-40B4-BE49-F238E27FC236}">
                <ns2:creationId id="{89D90BF0-F51B-402F-9DB3-E5A2F1735F8C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5038725"/>
            <ns1:ext cx="3733800" cy="581025"/>
          </ns1:xfrm>
          <ns1:prstGeom prst="rect">
            <ns1:avLst/>
          </ns1:prstGeom>
          <ns1:solidFill>
            <ns1:srgbClr val="F9EEEE"/>
          </ns1:solidFill>
          <ns1:ln w="0">
            <ns1:noFill/>
          </ns1:ln>
        </ns0:spPr>
      </ns0:sp>
      <ns0:sp>
        <ns0:nvSpPr>
          <ns0:cNvPr id="45" name="">
            <ns1:extLst>
              <ns1:ext uri="{FF2B5EF4-FFF2-40B4-BE49-F238E27FC236}">
                <ns2:creationId id="{D851DB7A-4C33-40F7-8973-EFE166540BF7}"/>
              </ns1:ext>
            </ns1:extLst>
          </ns0:cNvPr>
          <ns0:cNvSpPr>
            <ns1:spLocks noGrp="1"/>
          </ns0:cNvSpPr>
          <ns0:nvPr/>
        </ns0:nvSpPr>
        <ns0:spPr>
          <ns1:xfrm>
            <ns1:off x="342900" y="4448175"/>
            <ns1:ext cx="752475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46" name="">
            <ns1:extLst>
              <ns1:ext uri="{FF2B5EF4-FFF2-40B4-BE49-F238E27FC236}">
                <ns2:creationId id="{E4B138FA-1194-4006-805C-4E8B9A484E62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4457700"/>
            <ns1:ext cx="695325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W8A8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CB82347D-5413-4A78-B17B-5DC2922C0CD4}"/>
              </ns1:ext>
            </ns1:extLst>
          </ns0:cNvPr>
          <ns0:cNvSpPr>
            <ns1:spLocks noGrp="1"/>
          </ns0:cNvSpPr>
          <ns0:nvPr/>
        </ns0:nvSpPr>
        <ns0:spPr>
          <ns1:xfrm>
            <ns1:off x="1152525" y="4448175"/>
            <ns1:ext cx="110490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48" name="">
            <ns1:extLst>
              <ns1:ext uri="{FF2B5EF4-FFF2-40B4-BE49-F238E27FC236}">
                <ns2:creationId id="{47F18CF7-B5A3-4F37-93CE-368F1A5D71BC}"/>
              </ns1:ext>
            </ns1:extLst>
          </ns0:cNvPr>
          <ns0:cNvSpPr>
            <ns1:spLocks noGrp="1"/>
          </ns0:cNvSpPr>
          <ns0:nvPr/>
        </ns0:nvSpPr>
        <ns0:spPr>
          <ns1:xfrm>
            <ns1:off x="1181100" y="4457700"/>
            <ns1:ext cx="10477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W8A8SC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03CAA459-9851-47D2-ADD2-DF65E8889121}"/>
              </ns1:ext>
            </ns1:extLst>
          </ns0:cNvPr>
          <ns0:cNvSpPr>
            <ns1:spLocks noGrp="1"/>
          </ns0:cNvSpPr>
          <ns0:nvPr/>
        </ns0:nvSpPr>
        <ns0:spPr>
          <ns1:xfrm>
            <ns1:off x="2314575" y="4448175"/>
            <ns1:ext cx="60960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50" name="">
            <ns1:extLst>
              <ns1:ext uri="{FF2B5EF4-FFF2-40B4-BE49-F238E27FC236}">
                <ns2:creationId id="{6DCAEBA9-AC88-44C3-A732-612EC629A33C}"/>
              </ns1:ext>
            </ns1:extLst>
          </ns0:cNvPr>
          <ns0:cNvSpPr>
            <ns1:spLocks noGrp="1"/>
          </ns0:cNvSpPr>
          <ns0:nvPr/>
        </ns0:nvSpPr>
        <ns0:spPr>
          <ns1:xfrm>
            <ns1:off x="2343150" y="4457700"/>
            <ns1:ext cx="5524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MTP</ns1:t>
            </ns1:r>
          </ns1:p>
        </ns0:txBody>
      </ns0:sp>
      <ns0:sp>
        <ns0:nvSpPr>
          <ns0:cNvPr id="51" name="">
            <ns1:extLst>
              <ns1:ext uri="{FF2B5EF4-FFF2-40B4-BE49-F238E27FC236}">
                <ns2:creationId id="{4A9860D9-BCD4-48FB-809A-C0579DEDC520}"/>
              </ns1:ext>
            </ns1:extLst>
          </ns0:cNvPr>
          <ns0:cNvSpPr>
            <ns1:spLocks noGrp="1"/>
          </ns0:cNvSpPr>
          <ns0:nvPr/>
        </ns0:nvSpPr>
        <ns0:spPr>
          <ns1:xfrm>
            <ns1:off x="2981325" y="4448175"/>
            <ns1:ext cx="942975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52" name="">
            <ns1:extLst>
              <ns1:ext uri="{FF2B5EF4-FFF2-40B4-BE49-F238E27FC236}">
                <ns2:creationId id="{C483D557-FA62-4D91-A821-534664ACA895}"/>
              </ns1:ext>
            </ns1:extLst>
          </ns0:cNvPr>
          <ns0:cNvSpPr>
            <ns1:spLocks noGrp="1"/>
          </ns0:cNvSpPr>
          <ns0:nvPr/>
        </ns0:nvSpPr>
        <ns0:spPr>
          <ns1:xfrm>
            <ns1:off x="3009900" y="4457700"/>
            <ns1:ext cx="885825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长序列</ns1:t>
            </ns1:r>
          </ns1:p>
        </ns0:txBody>
      </ns0:sp>
      <ns0:sp>
        <ns0:nvSpPr>
          <ns0:cNvPr id="53" name="">
            <ns1:extLst>
              <ns1:ext uri="{FF2B5EF4-FFF2-40B4-BE49-F238E27FC236}">
                <ns2:creationId id="{A6970FE1-EE29-43CC-B060-43A2B6368944}"/>
              </ns1:ext>
            </ns1:extLst>
          </ns0:cNvPr>
          <ns0:cNvSpPr>
            <ns1:spLocks noGrp="1"/>
          </ns0:cNvSpPr>
          <ns0:nvPr/>
        </ns0:nvSpPr>
        <ns0:spPr>
          <ns1:xfrm>
            <ns1:off x="342900" y="5086350"/>
            <ns1:ext cx="876300" cy="2095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54" name="">
            <ns1:extLst>
              <ns1:ext uri="{FF2B5EF4-FFF2-40B4-BE49-F238E27FC236}">
                <ns2:creationId id="{802D100B-0539-4B18-A01C-1C46DAC585ED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095875"/>
            <ns1:ext cx="819150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INT4</ns1:t>
            </ns1:r>
          </ns1:p>
        </ns0:txBody>
      </ns0:sp>
      <ns0:sp>
        <ns0:nvSpPr>
          <ns0:cNvPr id="55" name="">
            <ns1:extLst>
              <ns1:ext uri="{FF2B5EF4-FFF2-40B4-BE49-F238E27FC236}">
                <ns2:creationId id="{EAB70EA6-80D2-41CA-ACB9-D5E59706D2F1}"/>
              </ns1:ext>
            </ns1:extLst>
          </ns0:cNvPr>
          <ns0:cNvSpPr>
            <ns1:spLocks noGrp="1"/>
          </ns0:cNvSpPr>
          <ns0:nvPr/>
        </ns0:nvSpPr>
        <ns0:spPr>
          <ns1:xfrm>
            <ns1:off x="1276350" y="5086350"/>
            <ns1:ext cx="1257300" cy="2095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56" name="">
            <ns1:extLst>
              <ns1:ext uri="{FF2B5EF4-FFF2-40B4-BE49-F238E27FC236}">
                <ns2:creationId id="{70DBC294-3847-4AC8-A735-9A0F601C01E6}"/>
              </ns1:ext>
            </ns1:extLst>
          </ns0:cNvPr>
          <ns0:cNvSpPr>
            <ns1:spLocks noGrp="1"/>
          </ns0:cNvSpPr>
          <ns0:nvPr/>
        </ns0:nvSpPr>
        <ns0:spPr>
          <ns1:xfrm>
            <ns1:off x="1304925" y="5095875"/>
            <ns1:ext cx="1200150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FP4 / FP8</ns1:t>
            </ns1:r>
          </ns1:p>
        </ns0:txBody>
      </ns0:sp>
      <ns0:sp>
        <ns0:nvSpPr>
          <ns0:cNvPr id="57" name="">
            <ns1:extLst>
              <ns1:ext uri="{FF2B5EF4-FFF2-40B4-BE49-F238E27FC236}">
                <ns2:creationId id="{5929D3BB-4DC7-4471-BB2C-186F500EB546}"/>
              </ns1:ext>
            </ns1:extLst>
          </ns0:cNvPr>
          <ns0:cNvSpPr>
            <ns1:spLocks noGrp="1"/>
          </ns0:cNvSpPr>
          <ns0:nvPr/>
        </ns0:nvSpPr>
        <ns0:spPr>
          <ns1:xfrm>
            <ns1:off x="2590800" y="5086350"/>
            <ns1:ext cx="1333500" cy="2095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58" name="">
            <ns1:extLst>
              <ns1:ext uri="{FF2B5EF4-FFF2-40B4-BE49-F238E27FC236}">
                <ns2:creationId id="{C92A5BB5-8B72-4E95-9E5F-AC8E180AC24E}"/>
              </ns1:ext>
            </ns1:extLst>
          </ns0:cNvPr>
          <ns0:cNvSpPr>
            <ns1:spLocks noGrp="1"/>
          </ns0:cNvSpPr>
          <ns0:nvPr/>
        </ns0:nvSpPr>
        <ns0:spPr>
          <ns1:xfrm>
            <ns1:off x="2619375" y="5095875"/>
            <ns1:ext cx="1276350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Triton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A3B08D12-F250-4DA4-A297-CCD912636B84}"/>
              </ns1:ext>
            </ns1:extLst>
          </ns0:cNvPr>
          <ns0:cNvSpPr>
            <ns1:spLocks noGrp="1"/>
          </ns0:cNvSpPr>
          <ns0:nvPr/>
        </ns0:nvSpPr>
        <ns0:spPr>
          <ns1:xfrm>
            <ns1:off x="342900" y="5343525"/>
            <ns1:ext cx="1724025" cy="22860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60" name="">
            <ns1:extLst>
              <ns1:ext uri="{FF2B5EF4-FFF2-40B4-BE49-F238E27FC236}">
                <ns2:creationId id="{08DF1562-3835-4BEF-BA6E-DD21420CC30D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353050"/>
            <ns1:ext cx="16668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融合算子少</ns1:t>
            </ns1:r>
          </ns1:p>
        </ns0:txBody>
      </ns0:sp>
      <ns0:sp>
        <ns0:nvSpPr>
          <ns0:cNvPr id="61" name="">
            <ns1:extLst>
              <ns1:ext uri="{FF2B5EF4-FFF2-40B4-BE49-F238E27FC236}">
                <ns2:creationId id="{243418D6-8E6A-4345-870B-A268CEF7D351}"/>
              </ns1:ext>
            </ns1:extLst>
          </ns0:cNvPr>
          <ns0:cNvSpPr>
            <ns1:spLocks noGrp="1"/>
          </ns0:cNvSpPr>
          <ns0:nvPr/>
        </ns0:nvSpPr>
        <ns0:spPr>
          <ns1:xfrm>
            <ns1:off x="2124075" y="5343525"/>
            <ns1:ext cx="1800225" cy="22860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62" name="">
            <ns1:extLst>
              <ns1:ext uri="{FF2B5EF4-FFF2-40B4-BE49-F238E27FC236}">
                <ns2:creationId id="{95D0805C-DD2E-4C31-AC7B-3C2F10117F05}"/>
              </ns1:ext>
            </ns1:extLst>
          </ns0:cNvPr>
          <ns0:cNvSpPr>
            <ns1:spLocks noGrp="1"/>
          </ns0:cNvSpPr>
          <ns0:nvPr/>
        </ns0:nvSpPr>
        <ns0:spPr>
          <ns1:xfrm>
            <ns1:off x="2152650" y="5353050"/>
            <ns1:ext cx="17430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100B+ 适配不足</ns1:t>
            </ns1:r>
          </ns1:p>
        </ns0:txBody>
      </ns0:sp>
      <ns0:sp>
        <ns0:nvSpPr>
          <ns0:cNvPr id="63" name="">
            <ns1:extLst>
              <ns1:ext uri="{FF2B5EF4-FFF2-40B4-BE49-F238E27FC236}">
                <ns2:creationId id="{F935C8C4-8687-454B-8F81-91297D56D8B1}"/>
              </ns1:ext>
            </ns1:extLst>
          </ns0:cNvPr>
          <ns0:cNvSpPr>
            <ns1:spLocks noGrp="1"/>
          </ns0:cNvSpPr>
          <ns0:nvPr/>
        </ns0:nvSpPr>
        <ns0:spPr>
          <ns1:xfrm>
            <ns1:off x="4305300" y="4448175"/>
            <ns1:ext cx="142875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64" name="">
            <ns1:extLst>
              <ns1:ext uri="{FF2B5EF4-FFF2-40B4-BE49-F238E27FC236}">
                <ns2:creationId id="{F088DDBD-40C8-44A1-B501-08E5BC09EA7B}"/>
              </ns1:ext>
            </ns1:extLst>
          </ns0:cNvPr>
          <ns0:cNvSpPr>
            <ns1:spLocks noGrp="1"/>
          </ns0:cNvSpPr>
          <ns0:nvPr/>
        </ns0:nvSpPr>
        <ns0:spPr>
          <ns1:xfrm>
            <ns1:off x="4333875" y="4457700"/>
            <ns1:ext cx="13716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310P llama.cpp</ns1:t>
            </ns1:r>
          </ns1:p>
        </ns0:txBody>
      </ns0:sp>
      <ns0:sp>
        <ns0:nvSpPr>
          <ns0:cNvPr id="65" name="">
            <ns1:extLst>
              <ns1:ext uri="{FF2B5EF4-FFF2-40B4-BE49-F238E27FC236}">
                <ns2:creationId id="{42A894F3-9000-4491-83EB-A919B2093198}"/>
              </ns1:ext>
            </ns1:extLst>
          </ns0:cNvPr>
          <ns0:cNvSpPr>
            <ns1:spLocks noGrp="1"/>
          </ns0:cNvSpPr>
          <ns0:nvPr/>
        </ns0:nvSpPr>
        <ns0:spPr>
          <ns1:xfrm>
            <ns1:off x="5791200" y="4448175"/>
            <ns1:ext cx="80010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66" name="">
            <ns1:extLst>
              <ns1:ext uri="{FF2B5EF4-FFF2-40B4-BE49-F238E27FC236}">
                <ns2:creationId id="{499CE81E-F0C2-48E7-BECD-0E0D2B71F89F}"/>
              </ns1:ext>
            </ns1:extLst>
          </ns0:cNvPr>
          <ns0:cNvSpPr>
            <ns1:spLocks noGrp="1"/>
          </ns0:cNvSpPr>
          <ns0:nvPr/>
        </ns0:nvSpPr>
        <ns0:spPr>
          <ns1:xfrm>
            <ns1:off x="5819775" y="4457700"/>
            <ns1:ext cx="7429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伪量化</ns1:t>
            </ns1:r>
          </ns1:p>
        </ns0:txBody>
      </ns0:sp>
      <ns0:sp>
        <ns0:nvSpPr>
          <ns0:cNvPr id="67" name="">
            <ns1:extLst>
              <ns1:ext uri="{FF2B5EF4-FFF2-40B4-BE49-F238E27FC236}">
                <ns2:creationId id="{FACD8283-F9B7-4E9D-A1F5-99E30B752D83}"/>
              </ns1:ext>
            </ns1:extLst>
          </ns0:cNvPr>
          <ns0:cNvSpPr>
            <ns1:spLocks noGrp="1"/>
          </ns0:cNvSpPr>
          <ns0:nvPr/>
        </ns0:nvSpPr>
        <ns0:spPr>
          <ns1:xfrm>
            <ns1:off x="6648450" y="4448175"/>
            <ns1:ext cx="123825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68" name="">
            <ns1:extLst>
              <ns1:ext uri="{FF2B5EF4-FFF2-40B4-BE49-F238E27FC236}">
                <ns2:creationId id="{EE3C6D36-BF46-4347-B7B6-BE3C2C98ABD8}"/>
              </ns1:ext>
            </ns1:extLst>
          </ns0:cNvPr>
          <ns0:cNvSpPr>
            <ns1:spLocks noGrp="1"/>
          </ns0:cNvSpPr>
          <ns0:nvPr/>
        </ns0:nvSpPr>
        <ns0:spPr>
          <ns1:xfrm>
            <ns1:off x="6677025" y="4457700"/>
            <ns1:ext cx="11811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Windows</ns1:t>
            </ns1:r>
          </ns1:p>
        </ns0:txBody>
      </ns0:sp>
      <ns0:sp>
        <ns0:nvSpPr>
          <ns0:cNvPr id="69" name="">
            <ns1:extLst>
              <ns1:ext uri="{FF2B5EF4-FFF2-40B4-BE49-F238E27FC236}">
                <ns2:creationId id="{7FDB7CF3-A745-4C02-AEA7-DEF4A990DCC5}"/>
              </ns1:ext>
            </ns1:extLst>
          </ns0:cNvPr>
          <ns0:cNvSpPr>
            <ns1:spLocks noGrp="1"/>
          </ns0:cNvSpPr>
          <ns0:nvPr/>
        </ns0:nvSpPr>
        <ns0:spPr>
          <ns1:xfrm>
            <ns1:off x="4305300" y="5086350"/>
            <ns1:ext cx="3581400" cy="2095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70" name="">
            <ns1:extLst>
              <ns1:ext uri="{FF2B5EF4-FFF2-40B4-BE49-F238E27FC236}">
                <ns2:creationId id="{9D9BD95E-30B9-4F71-A354-E6183D834792}"/>
              </ns1:ext>
            </ns1:extLst>
          </ns0:cNvPr>
          <ns0:cNvSpPr>
            <ns1:spLocks noGrp="1"/>
          </ns0:cNvSpPr>
          <ns0:nvPr/>
        </ns0:nvSpPr>
        <ns0:spPr>
          <ns1:xfrm>
            <ns1:off x="4333875" y="5095875"/>
            <ns1:ext cx="3524250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Per-group 量化低效</ns1:t>
            </ns1:r>
          </ns1:p>
        </ns0:txBody>
      </ns0:sp>
      <ns0:sp>
        <ns0:nvSpPr>
          <ns0:cNvPr id="71" name="">
            <ns1:extLst>
              <ns1:ext uri="{FF2B5EF4-FFF2-40B4-BE49-F238E27FC236}">
                <ns2:creationId id="{D734E076-F4BB-46F1-90AF-4329D38BB232}"/>
              </ns1:ext>
            </ns1:extLst>
          </ns0:cNvPr>
          <ns0:cNvSpPr>
            <ns1:spLocks noGrp="1"/>
          </ns0:cNvSpPr>
          <ns0:nvPr/>
        </ns0:nvSpPr>
        <ns0:spPr>
          <ns1:xfrm>
            <ns1:off x="4305300" y="5343525"/>
            <ns1:ext cx="1762125" cy="22860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72" name="">
            <ns1:extLst>
              <ns1:ext uri="{FF2B5EF4-FFF2-40B4-BE49-F238E27FC236}">
                <ns2:creationId id="{717575E0-9D18-4B77-AECC-24F59BDB5660}"/>
              </ns1:ext>
            </ns1:extLst>
          </ns0:cNvPr>
          <ns0:cNvSpPr>
            <ns1:spLocks noGrp="1"/>
          </ns0:cNvSpPr>
          <ns0:nvPr/>
        </ns0:nvSpPr>
        <ns0:spPr>
          <ns1:xfrm>
            <ns1:off x="4333875" y="5353050"/>
            <ns1:ext cx="17049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ACL Graph 缺失</ns1:t>
            </ns1:r>
          </ns1:p>
        </ns0:txBody>
      </ns0:sp>
      <ns0:sp>
        <ns0:nvSpPr>
          <ns0:cNvPr id="73" name="">
            <ns1:extLst>
              <ns1:ext uri="{FF2B5EF4-FFF2-40B4-BE49-F238E27FC236}">
                <ns2:creationId id="{75E02F97-EA46-4966-845A-D59A9AE316C4}"/>
              </ns1:ext>
            </ns1:extLst>
          </ns0:cNvPr>
          <ns0:cNvSpPr>
            <ns1:spLocks noGrp="1"/>
          </ns0:cNvSpPr>
          <ns0:nvPr/>
        </ns0:nvSpPr>
        <ns0:spPr>
          <ns1:xfrm>
            <ns1:off x="6124575" y="5343525"/>
            <ns1:ext cx="1762125" cy="22860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74" name="">
            <ns1:extLst>
              <ns1:ext uri="{FF2B5EF4-FFF2-40B4-BE49-F238E27FC236}">
                <ns2:creationId id="{107107A8-D1BD-44CE-A409-4A1C4901530A}"/>
              </ns1:ext>
            </ns1:extLst>
          </ns0:cNvPr>
          <ns0:cNvSpPr>
            <ns1:spLocks noGrp="1"/>
          </ns0:cNvSpPr>
          <ns0:nvPr/>
        </ns0:nvSpPr>
        <ns0:spPr>
          <ns1:xfrm>
            <ns1:off x="6153150" y="5353050"/>
            <ns1:ext cx="17049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融合算子缺失</ns1:t>
            </ns1:r>
          </ns1:p>
        </ns0:txBody>
      </ns0:sp>
      <ns0:sp>
        <ns0:nvSpPr>
          <ns0:cNvPr id="75" name="">
            <ns1:extLst>
              <ns1:ext uri="{FF2B5EF4-FFF2-40B4-BE49-F238E27FC236}">
                <ns2:creationId id="{DF85F176-7351-482A-A448-06D1120DAD53}"/>
              </ns1:ext>
            </ns1:extLst>
          </ns0:cNvPr>
          <ns0:cNvSpPr>
            <ns1:spLocks noGrp="1"/>
          </ns0:cNvSpPr>
          <ns0:nvPr/>
        </ns0:nvSpPr>
        <ns0:spPr>
          <ns1:xfrm>
            <ns1:off x="8267700" y="4448175"/>
            <ns1:ext cx="209550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76" name="">
            <ns1:extLst>
              <ns1:ext uri="{FF2B5EF4-FFF2-40B4-BE49-F238E27FC236}">
                <ns2:creationId id="{F95F1624-4C1B-4B20-B6E4-AFA000F8F764}"/>
              </ns1:ext>
            </ns1:extLst>
          </ns0:cNvPr>
          <ns0:cNvSpPr>
            <ns1:spLocks noGrp="1"/>
          </ns0:cNvSpPr>
          <ns0:nvPr/>
        </ns0:nvSpPr>
        <ns0:spPr>
          <ns1:xfrm>
            <ns1:off x="8296275" y="4457700"/>
            <ns1:ext cx="20383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π0.5 / GR00T 已适配</ns1:t>
            </ns1:r>
          </ns1:p>
        </ns0:txBody>
      </ns0:sp>
      <ns0:sp>
        <ns0:nvSpPr>
          <ns0:cNvPr id="77" name="">
            <ns1:extLst>
              <ns1:ext uri="{FF2B5EF4-FFF2-40B4-BE49-F238E27FC236}">
                <ns2:creationId id="{3B912AFD-30F2-4D92-82ED-FF65930A0230}"/>
              </ns1:ext>
            </ns1:extLst>
          </ns0:cNvPr>
          <ns0:cNvSpPr>
            <ns1:spLocks noGrp="1"/>
          </ns0:cNvSpPr>
          <ns0:nvPr/>
        </ns0:nvSpPr>
        <ns0:spPr>
          <ns1:xfrm>
            <ns1:off x="10420350" y="4448175"/>
            <ns1:ext cx="142875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78" name="">
            <ns1:extLst>
              <ns1:ext uri="{FF2B5EF4-FFF2-40B4-BE49-F238E27FC236}">
                <ns2:creationId id="{63B4FD49-D4FB-4F81-A1B1-594486EAE0C7}"/>
              </ns1:ext>
            </ns1:extLst>
          </ns0:cNvPr>
          <ns0:cNvSpPr>
            <ns1:spLocks noGrp="1"/>
          </ns0:cNvSpPr>
          <ns0:nvPr/>
        </ns0:nvSpPr>
        <ns0:spPr>
          <ns1:xfrm>
            <ns1:off x="10448925" y="4457700"/>
            <ns1:ext cx="13716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部分达 10Hz</ns1:t>
            </ns1:r>
          </ns1:p>
        </ns0:txBody>
      </ns0:sp>
      <ns0:sp>
        <ns0:nvSpPr>
          <ns0:cNvPr id="79" name="">
            <ns1:extLst>
              <ns1:ext uri="{FF2B5EF4-FFF2-40B4-BE49-F238E27FC236}">
                <ns2:creationId id="{384AB0A5-C78F-49B5-A021-A45FA382CAB9}"/>
              </ns1:ext>
            </ns1:extLst>
          </ns0:cNvPr>
          <ns0:cNvSpPr>
            <ns1:spLocks noGrp="1"/>
          </ns0:cNvSpPr>
          <ns0:nvPr/>
        </ns0:nvSpPr>
        <ns0:spPr>
          <ns1:xfrm>
            <ns1:off x="8267700" y="5143500"/>
            <ns1:ext cx="1762125" cy="3619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80" name="">
            <ns1:extLst>
              <ns1:ext uri="{FF2B5EF4-FFF2-40B4-BE49-F238E27FC236}">
                <ns2:creationId id="{7E4BD077-2435-43D8-B6FC-3F1B335886BD}"/>
              </ns1:ext>
            </ns1:extLst>
          </ns0:cNvPr>
          <ns0:cNvSpPr>
            <ns1:spLocks noGrp="1"/>
          </ns0:cNvSpPr>
          <ns0:nvPr/>
        </ns0:nvSpPr>
        <ns0:spPr>
          <ns1:xfrm>
            <ns1:off x="8296275" y="5153025"/>
            <ns1:ext cx="1704975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统一推理仓库缺失</ns1:t>
            </ns1:r>
          </ns1:p>
        </ns0:txBody>
      </ns0:sp>
      <ns0:sp>
        <ns0:nvSpPr>
          <ns0:cNvPr id="81" name="">
            <ns1:extLst>
              <ns1:ext uri="{FF2B5EF4-FFF2-40B4-BE49-F238E27FC236}">
                <ns2:creationId id="{C2C9380C-69E2-4732-A948-46B9E90EB615}"/>
              </ns1:ext>
            </ns1:extLst>
          </ns0:cNvPr>
          <ns0:cNvSpPr>
            <ns1:spLocks noGrp="1"/>
          </ns0:cNvSpPr>
          <ns0:nvPr/>
        </ns0:nvSpPr>
        <ns0:spPr>
          <ns1:xfrm>
            <ns1:off x="10086975" y="5143500"/>
            <ns1:ext cx="1762125" cy="3619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82" name="">
            <ns1:extLst>
              <ns1:ext uri="{FF2B5EF4-FFF2-40B4-BE49-F238E27FC236}">
                <ns2:creationId id="{E0B37233-9071-40A8-B79E-522F5A6AD6D0}"/>
              </ns1:ext>
            </ns1:extLst>
          </ns0:cNvPr>
          <ns0:cNvSpPr>
            <ns1:spLocks noGrp="1"/>
          </ns0:cNvSpPr>
          <ns0:nvPr/>
        </ns0:nvSpPr>
        <ns0:spPr>
          <ns1:xfrm>
            <ns1:off x="10115550" y="5153025"/>
            <ns1:ext cx="1704975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推理算子能力不足</ns1:t>
            </ns1:r>
          </ns1:p>
        </ns0:txBody>
      </ns0:sp>
      <ns0:sp>
        <ns0:nvSpPr>
          <ns0:cNvPr id="83" name="">
            <ns1:extLst>
              <ns1:ext uri="{FF2B5EF4-FFF2-40B4-BE49-F238E27FC236}">
                <ns2:creationId id="{21F1D5F4-B285-486F-B5E0-CB4DD59FE830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800725"/>
            <ns1:ext cx="1428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硬件演进</ns1:t>
            </ns1:r>
          </ns1:p>
        </ns0:txBody>
      </ns0:sp>
      <ns0:sp>
        <ns0:nvSpPr>
          <ns0:cNvPr id="84" name="">
            <ns1:extLst>
              <ns1:ext uri="{FF2B5EF4-FFF2-40B4-BE49-F238E27FC236}">
                <ns2:creationId id="{51ADAC72-B294-48DB-BAC5-48D08F413A66}"/>
              </ns1:ext>
            </ns1:extLst>
          </ns0:cNvPr>
          <ns0:cNvSpPr>
            <ns1:spLocks noGrp="1"/>
          </ns0:cNvSpPr>
          <ns0:nvPr/>
        </ns0:nvSpPr>
        <ns0:spPr>
          <ns1:xfrm>
            <ns1:off x="1876425" y="5810250"/>
            <ns1:ext cx="10096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2026</ns1:t>
            </ns1:r>
          </ns1:p>
        </ns0:txBody>
      </ns0:sp>
      <ns0:sp>
        <ns0:nvSpPr>
          <ns0:cNvPr id="85" name="">
            <ns1:extLst>
              <ns1:ext uri="{FF2B5EF4-FFF2-40B4-BE49-F238E27FC236}">
                <ns2:creationId id="{037F9ACD-2E11-46D5-BC83-EEB9DEC1D0BB}"/>
              </ns1:ext>
            </ns1:extLst>
          </ns0:cNvPr>
          <ns0:cNvSpPr>
            <ns1:spLocks noGrp="1"/>
          </ns0:cNvSpPr>
          <ns0:nvPr/>
        </ns0:nvSpPr>
        <ns0:spPr>
          <ns1:xfrm>
            <ns1:off x="4629150" y="5810250"/>
            <ns1:ext cx="1809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当前：2026年末</ns1:t>
            </ns1:r>
          </ns1:p>
        </ns0:txBody>
      </ns0:sp>
      <ns0:sp>
        <ns0:nvSpPr>
          <ns0:cNvPr id="86" name="">
            <ns1:extLst>
              <ns1:ext uri="{FF2B5EF4-FFF2-40B4-BE49-F238E27FC236}">
                <ns2:creationId id="{A0A69E09-F92B-48E7-9403-31133A5AA222}"/>
              </ns1:ext>
            </ns1:extLst>
          </ns0:cNvPr>
          <ns0:cNvSpPr>
            <ns1:spLocks noGrp="1"/>
          </ns0:cNvSpPr>
          <ns0:nvPr/>
        </ns0:nvSpPr>
        <ns0:spPr>
          <ns1:xfrm>
            <ns1:off x="5419725" y="6048375"/>
            <ns1:ext cx="228600" cy="123825"/>
          </ns1:xfrm>
          <ns1:prstGeom prst="downArrow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87" name="">
            <ns1:extLst>
              <ns1:ext uri="{FF2B5EF4-FFF2-40B4-BE49-F238E27FC236}">
                <ns2:creationId id="{EF280830-EEE9-445D-A2C1-F1FF80E34D97}"/>
              </ns1:ext>
            </ns1:extLst>
          </ns0:cNvPr>
          <ns0:cNvSpPr>
            <ns1:spLocks noGrp="1"/>
          </ns0:cNvSpPr>
          <ns0:nvPr/>
        </ns0:nvSpPr>
        <ns0:spPr>
          <ns1:xfrm>
            <ns1:off x="6019800" y="5810250"/>
            <ns1:ext cx="10096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2027</ns1:t>
            </ns1:r>
          </ns1:p>
        </ns0:txBody>
      </ns0:sp>
      <ns0:sp>
        <ns0:nvSpPr>
          <ns0:cNvPr id="88" name="">
            <ns1:extLst>
              <ns1:ext uri="{FF2B5EF4-FFF2-40B4-BE49-F238E27FC236}">
                <ns2:creationId id="{07C92A7E-3866-4E5B-8ED8-FF389D290D3B}"/>
              </ns1:ext>
            </ns1:extLst>
          </ns0:cNvPr>
          <ns0:cNvSpPr>
            <ns1:spLocks noGrp="1"/>
          </ns0:cNvSpPr>
          <ns0:nvPr/>
        </ns0:nvSpPr>
        <ns0:spPr>
          <ns1:xfrm>
            <ns1:off x="10163175" y="5810250"/>
            <ns1:ext cx="10096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2028</ns1:t>
            </ns1:r>
          </ns1:p>
        </ns0:txBody>
      </ns0:sp>
      <ns0:sp>
        <ns0:nvSpPr>
          <ns0:cNvPr id="89" name="">
            <ns1:extLst>
              <ns1:ext uri="{FF2B5EF4-FFF2-40B4-BE49-F238E27FC236}">
                <ns2:creationId id="{B193C4A1-C7BA-4FC2-B074-AFCFC77F9B11}"/>
              </ns1:ext>
            </ns1:extLst>
          </ns0:cNvPr>
          <ns0:cNvSpPr>
            <ns1:spLocks noGrp="1"/>
          </ns0:cNvSpPr>
          <ns0:nvPr/>
        </ns0:nvSpPr>
        <ns0:spPr>
          <ns1:xfrm>
            <ns1:off x="1047750" y="6191250"/>
            <ns1:ext cx="10382250" cy="28575"/>
          </ns1:xfrm>
          <ns1:prstGeom prst="rect">
            <ns1:avLst/>
          </ns1:prstGeom>
          <ns1:solidFill>
            <ns1:srgbClr val="B9B9B9"/>
          </ns1:solidFill>
          <ns1:ln w="0">
            <ns1:noFill/>
          </ns1:ln>
        </ns0:spPr>
      </ns0:sp>
      <ns0:sp>
        <ns0:nvSpPr>
          <ns0:cNvPr id="90" name="">
            <ns1:extLst>
              <ns1:ext uri="{FF2B5EF4-FFF2-40B4-BE49-F238E27FC236}">
                <ns2:creationId id="{3F0CA4BA-299C-4CE1-B280-A49B44715FEB}"/>
              </ns1:ext>
            </ns1:extLst>
          </ns0:cNvPr>
          <ns0:cNvSpPr>
            <ns1:spLocks noGrp="1"/>
          </ns0:cNvSpPr>
          <ns0:nvPr/>
        </ns0:nvSpPr>
        <ns0:spPr>
          <ns1:xfrm>
            <ns1:off x="11401425" y="6124575"/>
            <ns1:ext cx="161925" cy="161925"/>
          </ns1:xfrm>
          <ns1:prstGeom prst="rightArrow">
            <ns1:avLst/>
          </ns1:prstGeom>
          <ns1:solidFill>
            <ns1:srgbClr val="B9B9B9"/>
          </ns1:solidFill>
          <ns1:ln w="0">
            <ns1:noFill/>
          </ns1:ln>
        </ns0:spPr>
      </ns0:sp>
      <ns0:sp>
        <ns0:nvSpPr>
          <ns0:cNvPr id="91" name="">
            <ns1:extLst>
              <ns1:ext uri="{FF2B5EF4-FFF2-40B4-BE49-F238E27FC236}">
                <ns2:creationId id="{EBF2E256-3AC3-4215-9CA8-0261FEF9F2D4}"/>
              </ns1:ext>
            </ns1:extLst>
          </ns0:cNvPr>
          <ns0:cNvSpPr>
            <ns1:spLocks noGrp="1"/>
          </ns0:cNvSpPr>
          <ns0:nvPr/>
        </ns0:nvSpPr>
        <ns0:spPr>
          <ns1:xfrm>
            <ns1:off x="2324100" y="6153150"/>
            <ns1:ext cx="114300" cy="114300"/>
          </ns1:xfrm>
          <ns1:prstGeom prst="ellipse">
            <ns1:avLst/>
          </ns1:prstGeom>
          <ns1:solidFill>
            <ns1:srgbClr val="777777"/>
          </ns1:solidFill>
          <ns1:ln w="0">
            <ns1:noFill/>
          </ns1:ln>
        </ns0:spPr>
      </ns0:sp>
      <ns0:sp>
        <ns0:nvSpPr>
          <ns0:cNvPr id="92" name="">
            <ns1:extLst>
              <ns1:ext uri="{FF2B5EF4-FFF2-40B4-BE49-F238E27FC236}">
                <ns2:creationId id="{ED53F3D3-C084-4743-8A31-F2DB6E45D835}"/>
              </ns1:ext>
            </ns1:extLst>
          </ns0:cNvPr>
          <ns0:cNvSpPr>
            <ns1:spLocks noGrp="1"/>
          </ns0:cNvSpPr>
          <ns0:nvPr/>
        </ns0:nvSpPr>
        <ns0:spPr>
          <ns1:xfrm>
            <ns1:off x="6467475" y="6153150"/>
            <ns1:ext cx="114300" cy="114300"/>
          </ns1:xfrm>
          <ns1:prstGeom prst="ellipse">
            <ns1:avLst/>
          </ns1:prstGeom>
          <ns1:solidFill>
            <ns1:srgbClr val="777777"/>
          </ns1:solidFill>
          <ns1:ln w="0">
            <ns1:noFill/>
          </ns1:ln>
        </ns0:spPr>
      </ns0:sp>
      <ns0:sp>
        <ns0:nvSpPr>
          <ns0:cNvPr id="93" name="">
            <ns1:extLst>
              <ns1:ext uri="{FF2B5EF4-FFF2-40B4-BE49-F238E27FC236}">
                <ns2:creationId id="{D19AB63C-92DE-49B6-85E9-37D06705B65D}"/>
              </ns1:ext>
            </ns1:extLst>
          </ns0:cNvPr>
          <ns0:cNvSpPr>
            <ns1:spLocks noGrp="1"/>
          </ns0:cNvSpPr>
          <ns0:nvPr/>
        </ns0:nvSpPr>
        <ns0:spPr>
          <ns1:xfrm>
            <ns1:off x="10610850" y="6153150"/>
            <ns1:ext cx="114300" cy="114300"/>
          </ns1:xfrm>
          <ns1:prstGeom prst="ellipse">
            <ns1:avLst/>
          </ns1:prstGeom>
          <ns1:solidFill>
            <ns1:srgbClr val="777777"/>
          </ns1:solidFill>
          <ns1:ln w="0">
            <ns1:noFill/>
          </ns1:ln>
        </ns0:spPr>
      </ns0:sp>
      <ns0:sp>
        <ns0:nvSpPr>
          <ns0:cNvPr id="94" name="">
            <ns1:extLst>
              <ns1:ext uri="{FF2B5EF4-FFF2-40B4-BE49-F238E27FC236}">
                <ns2:creationId id="{2764740E-C401-4E3D-8664-FF16886BD601}"/>
              </ns1:ext>
            </ns1:extLst>
          </ns0:cNvPr>
          <ns0:cNvSpPr>
            <ns1:spLocks noGrp="1"/>
          </ns0:cNvSpPr>
          <ns0:nvPr/>
        </ns0:nvSpPr>
        <ns0:spPr>
          <ns1:xfrm>
            <ns1:off x="1028700" y="6305550"/>
            <ns1:ext cx="27051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rPr>
              <ns1:t>310B / 310P</ns1:t>
            </ns1:r>
          </ns1:p>
        </ns0:txBody>
      </ns0:sp>
      <ns0:sp>
        <ns0:nvSpPr>
          <ns0:cNvPr id="95" name="">
            <ns1:extLst>
              <ns1:ext uri="{FF2B5EF4-FFF2-40B4-BE49-F238E27FC236}">
                <ns2:creationId id="{268988CE-D5FE-4AAD-A3CD-A73D932E11C3}"/>
              </ns1:ext>
            </ns1:extLst>
          </ns0:cNvPr>
          <ns0:cNvSpPr>
            <ns1:spLocks noGrp="1"/>
          </ns0:cNvSpPr>
          <ns0:nvPr/>
        </ns0:nvSpPr>
        <ns0:spPr>
          <ns1:xfrm>
            <ns1:off x="5172075" y="6305550"/>
            <ns1:ext cx="27051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rPr>
              <ns1:t>950-lite</ns1:t>
            </ns1:r>
          </ns1:p>
        </ns0:txBody>
      </ns0:sp>
      <ns0:sp>
        <ns0:nvSpPr>
          <ns0:cNvPr id="96" name="">
            <ns1:extLst>
              <ns1:ext uri="{FF2B5EF4-FFF2-40B4-BE49-F238E27FC236}">
                <ns2:creationId id="{F39CD41F-F6D9-49B5-9CC1-899F39A23389}"/>
              </ns1:ext>
            </ns1:extLst>
          </ns0:cNvPr>
          <ns0:cNvSpPr>
            <ns1:spLocks noGrp="1"/>
          </ns0:cNvSpPr>
          <ns0:nvPr/>
        </ns0:nvSpPr>
        <ns0:spPr>
          <ns1:xfrm>
            <ns1:off x="9158288" y="6305550"/>
            <ns1:ext cx="3019425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rPr>
              <ns1:t>310B-next / 310P-next</ns1:t>
            </ns1:r>
          </ns1:p>
        </ns0:txBody>
      </ns0:sp>
      <ns0:sp>
        <ns0:nvSpPr>
          <ns0:cNvPr id="97" name="">
            <ns1:extLst>
              <ns1:ext uri="{FF2B5EF4-FFF2-40B4-BE49-F238E27FC236}">
                <ns2:creationId id="{3F2920FB-D091-4A77-8935-F0BF5D673F4A}"/>
              </ns1:ext>
            </ns1:extLst>
          </ns0:cNvPr>
          <ns0:cNvSpPr>
            <ns1:spLocks noGrp="1"/>
          </ns0:cNvSpPr>
          <ns0:nvPr/>
        </ns0:nvSpPr>
        <ns0:spPr>
          <ns1:xfrm>
            <ns1:off x="1028700" y="6591300"/>
            <ns1:ext cx="2705100" cy="1809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2026年及以前</ns1:t>
            </ns1:r>
          </ns1:p>
        </ns0:txBody>
      </ns0:sp>
      <ns0:sp>
        <ns0:nvSpPr>
          <ns0:cNvPr id="98" name="">
            <ns1:extLst>
              <ns1:ext uri="{FF2B5EF4-FFF2-40B4-BE49-F238E27FC236}">
                <ns2:creationId id="{F31C5054-EB11-454F-B741-7FBBDD32CB3F}"/>
              </ns1:ext>
            </ns1:extLst>
          </ns0:cNvPr>
          <ns0:cNvSpPr>
            <ns1:spLocks noGrp="1"/>
          </ns0:cNvSpPr>
          <ns0:nvPr/>
        </ns0:nvSpPr>
        <ns0:spPr>
          <ns1:xfrm>
            <ns1:off x="9658350" y="6638925"/>
            <ns1:ext cx="1762125" cy="1714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硬件按内部规划</ns1:t>
            </ns1:r>
          </ns1:p>
        </ns0:txBody>
      </ns0:sp>
      <ns0:sp>
        <ns0:nvSpPr>
          <ns0:cNvPr id="99" name="">
            <ns1:extLst>
              <ns1:ext uri="{FF2B5EF4-FFF2-40B4-BE49-F238E27FC236}">
                <ns2:creationId id="{C6F5B635-66E0-4128-BE7D-6342127445D2}"/>
              </ns1:ext>
            </ns1:extLst>
          </ns0:cNvPr>
          <ns0:cNvSpPr>
            <ns1:spLocks noGrp="1"/>
          </ns0:cNvSpPr>
          <ns0:nvPr/>
        </ns0:nvSpPr>
        <ns0:spPr>
          <ns1:xfrm>
            <ns1:off x="11553825" y="6619875"/>
            <ns1:ext cx="371475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05</ns1:t>
            </ns1:r>
          </ns1:p>
        </ns0:txBody>
      </ns0:sp>
    </ns0:spTree>
    <ns0:extLst>
      <ns0:ext uri="{BB962C8B-B14F-4D97-AF65-F5344CB8AC3E}">
        <ns4:creationId val="514720497"/>
      </ns0:ext>
    </ns0:extLst>
  </ns0:cSld>
</ns0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0" name="">
            <ns1:extLst>
              <ns1:ext uri="{FF2B5EF4-FFF2-40B4-BE49-F238E27FC236}">
                <ns2:creationId id="{C923DAE3-38D9-40B3-91F0-361E388F9954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2" name="">
            <ns1:extLst>
              <ns1:ext uri="{FF2B5EF4-FFF2-40B4-BE49-F238E27FC236}">
                <ns2:creationId id="{A11FB5E2-D221-4EF9-814F-DA39FDFF2A88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具身智能与无人车：推理框架与加速能力建设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5EE8C5B7-829A-4B2B-93AB-7494BE2843FE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981075"/>
            <ns1:ext cx="5524500" cy="1228725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4" name="">
            <ns1:extLst>
              <ns1:ext uri="{FF2B5EF4-FFF2-40B4-BE49-F238E27FC236}">
                <ns2:creationId id="{630711C8-A13A-4FA6-9BED-C2C3816F703A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1019175"/>
            <ns1:ext cx="52959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业务闭环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93803A09-2957-42EF-810E-70FFD40C1092}"/>
              </ns1:ext>
            </ns1:extLst>
          </ns0:cNvPr>
          <ns0:cNvSpPr>
            <ns1:spLocks noGrp="1"/>
          </ns0:cNvSpPr>
          <ns0:nvPr/>
        </ns0:nvSpPr>
        <ns0:spPr>
          <ns1:xfrm>
            <ns1:off x="352425" y="1343025"/>
            <ns1:ext cx="6286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CF70E6AA-C565-482F-9E54-BA2B7C6C0389}"/>
              </ns1:ext>
            </ns1:extLst>
          </ns0:cNvPr>
          <ns0:cNvSpPr>
            <ns1:spLocks noGrp="1"/>
          </ns0:cNvSpPr>
          <ns0:nvPr/>
        </ns0:nvSpPr>
        <ns0:spPr>
          <ns1:xfrm>
            <ns1:off x="10477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7" name="">
            <ns1:extLst>
              <ns1:ext uri="{FF2B5EF4-FFF2-40B4-BE49-F238E27FC236}">
                <ns2:creationId id="{E7F97365-CB39-4FA6-B27E-40B92082B7E2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视觉 / 状态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40EE1F81-C89B-4723-AD32-5DC78573450E}"/>
              </ns1:ext>
            </ns1:extLst>
          </ns0:cNvPr>
          <ns0:cNvSpPr>
            <ns1:spLocks noGrp="1"/>
          </ns0:cNvSpPr>
          <ns0:nvPr/>
        </ns0:nvSpPr>
        <ns0:spPr>
          <ns1:xfrm>
            <ns1:off x="2466975" y="134302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A9DBD398-C67A-45FD-AC6D-CF86C3322A9A}"/>
              </ns1:ext>
            </ns1:extLst>
          </ns0:cNvPr>
          <ns0:cNvSpPr>
            <ns1:spLocks noGrp="1"/>
          </ns0:cNvSpPr>
          <ns0:nvPr/>
        </ns0:nvSpPr>
        <ns0:spPr>
          <ns1:xfrm>
            <ns1:off x="26479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0" name="">
            <ns1:extLst>
              <ns1:ext uri="{FF2B5EF4-FFF2-40B4-BE49-F238E27FC236}">
                <ns2:creationId id="{2B44D2F5-7C34-4312-8C06-53CE992094D9}"/>
              </ns1:ext>
            </ns1:extLst>
          </ns0:cNvPr>
          <ns0:cNvSpPr>
            <ns1:spLocks noGrp="1"/>
          </ns0:cNvSpPr>
          <ns0:nvPr/>
        </ns0:nvSpPr>
        <ns0:spPr>
          <ns1:xfrm>
            <ns1:off x="26860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VLA / 策略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ABEFCD2F-810E-48AF-A48E-3FBBB5B500B0}"/>
              </ns1:ext>
            </ns1:extLst>
          </ns0:cNvPr>
          <ns0:cNvSpPr>
            <ns1:spLocks noGrp="1"/>
          </ns0:cNvSpPr>
          <ns0:nvPr/>
        </ns0:nvSpPr>
        <ns0:spPr>
          <ns1:xfrm>
            <ns1:off x="4067175" y="134302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EAA35553-60E6-4A83-9907-F100EF6BE4B4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3" name="">
            <ns1:extLst>
              <ns1:ext uri="{FF2B5EF4-FFF2-40B4-BE49-F238E27FC236}">
                <ns2:creationId id="{66AE3816-38CA-4755-9C60-0F8BDF7AF4C1}"/>
              </ns1:ext>
            </ns1:extLst>
          </ns0:cNvPr>
          <ns0:cNvSpPr>
            <ns1:spLocks noGrp="1"/>
          </ns0:cNvSpPr>
          <ns0:nvPr/>
        </ns0:nvSpPr>
        <ns0:spPr>
          <ns1:xfrm>
            <ns1:off x="42862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动作 / 反馈</ns1:t>
            </ns1:r>
          </ns1:p>
        </ns0:txBody>
      </ns0:sp>
      <ns0:sp>
        <ns0:nvSpPr>
          <ns0:cNvPr id="14" name="">
            <ns1:extLst>
              <ns1:ext uri="{FF2B5EF4-FFF2-40B4-BE49-F238E27FC236}">
                <ns2:creationId id="{3FA86042-65EF-4EA9-BC72-A4DCA60D1600}"/>
              </ns1:ext>
            </ns1:extLst>
          </ns0:cNvPr>
          <ns0:cNvSpPr>
            <ns1:spLocks noGrp="1"/>
          </ns0:cNvSpPr>
          <ns0:nvPr/>
        </ns0:nvSpPr>
        <ns0:spPr>
          <ns1:xfrm>
            <ns1:off x="352425" y="1781175"/>
            <ns1:ext cx="6286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无人车</ns1:t>
            </ns1:r>
          </ns1:p>
        </ns0:txBody>
      </ns0:sp>
      <ns0:sp>
        <ns0:nvSpPr>
          <ns0:cNvPr id="15" name="">
            <ns1:extLst>
              <ns1:ext uri="{FF2B5EF4-FFF2-40B4-BE49-F238E27FC236}">
                <ns2:creationId id="{42996EE1-B13C-48A6-AB08-2F410D18551D}"/>
              </ns1:ext>
            </ns1:extLst>
          </ns0:cNvPr>
          <ns0:cNvSpPr>
            <ns1:spLocks noGrp="1"/>
          </ns0:cNvSpPr>
          <ns0:nvPr/>
        </ns0:nvSpPr>
        <ns0:spPr>
          <ns1:xfrm>
            <ns1:off x="10477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6" name="">
            <ns1:extLst>
              <ns1:ext uri="{FF2B5EF4-FFF2-40B4-BE49-F238E27FC236}">
                <ns2:creationId id="{A8CBDCB0-FEF8-4C1C-9519-D825DB9564E7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多传感输入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C848D9A6-93C4-43BD-958F-9B210DE69686}"/>
              </ns1:ext>
            </ns1:extLst>
          </ns0:cNvPr>
          <ns0:cNvSpPr>
            <ns1:spLocks noGrp="1"/>
          </ns0:cNvSpPr>
          <ns0:nvPr/>
        </ns0:nvSpPr>
        <ns0:spPr>
          <ns1:xfrm>
            <ns1:off x="2466975" y="178117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18" name="">
            <ns1:extLst>
              <ns1:ext uri="{FF2B5EF4-FFF2-40B4-BE49-F238E27FC236}">
                <ns2:creationId id="{5F60B350-C137-4B9A-8043-B3A8E91DDACC}"/>
              </ns1:ext>
            </ns1:extLst>
          </ns0:cNvPr>
          <ns0:cNvSpPr>
            <ns1:spLocks noGrp="1"/>
          </ns0:cNvSpPr>
          <ns0:nvPr/>
        </ns0:nvSpPr>
        <ns0:spPr>
          <ns1:xfrm>
            <ns1:off x="26479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9" name="">
            <ns1:extLst>
              <ns1:ext uri="{FF2B5EF4-FFF2-40B4-BE49-F238E27FC236}">
                <ns2:creationId id="{71066721-9229-4A20-BA0A-1CA1013E18E2}"/>
              </ns1:ext>
            </ns1:extLst>
          </ns0:cNvPr>
          <ns0:cNvSpPr>
            <ns1:spLocks noGrp="1"/>
          </ns0:cNvSpPr>
          <ns0:nvPr/>
        </ns0:nvSpPr>
        <ns0:spPr>
          <ns1:xfrm>
            <ns1:off x="26860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感知 / 预测</ns1:t>
            </ns1:r>
          </ns1:p>
        </ns0:txBody>
      </ns0:sp>
      <ns0:sp>
        <ns0:nvSpPr>
          <ns0:cNvPr id="20" name="">
            <ns1:extLst>
              <ns1:ext uri="{FF2B5EF4-FFF2-40B4-BE49-F238E27FC236}">
                <ns2:creationId id="{DD9E67FD-CDF7-424A-89B4-41DF671C8846}"/>
              </ns1:ext>
            </ns1:extLst>
          </ns0:cNvPr>
          <ns0:cNvSpPr>
            <ns1:spLocks noGrp="1"/>
          </ns0:cNvSpPr>
          <ns0:nvPr/>
        </ns0:nvSpPr>
        <ns0:spPr>
          <ns1:xfrm>
            <ns1:off x="4067175" y="178117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21" name="">
            <ns1:extLst>
              <ns1:ext uri="{FF2B5EF4-FFF2-40B4-BE49-F238E27FC236}">
                <ns2:creationId id="{6D2A1250-4A2B-4A98-A077-C96747349CE6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22" name="">
            <ns1:extLst>
              <ns1:ext uri="{FF2B5EF4-FFF2-40B4-BE49-F238E27FC236}">
                <ns2:creationId id="{E5063AFB-569B-46D8-B0E6-AAB8799E59A2}"/>
              </ns1:ext>
            </ns1:extLst>
          </ns0:cNvPr>
          <ns0:cNvSpPr>
            <ns1:spLocks noGrp="1"/>
          </ns0:cNvSpPr>
          <ns0:nvPr/>
        </ns0:nvSpPr>
        <ns0:spPr>
          <ns1:xfrm>
            <ns1:off x="42862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规划 / 控制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992CF687-1C3F-45B3-86FF-320ED6281769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2352675"/>
            <ns1:ext cx="5524500" cy="1047750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24" name="">
            <ns1:extLst>
              <ns1:ext uri="{FF2B5EF4-FFF2-40B4-BE49-F238E27FC236}">
                <ns2:creationId id="{B420BDC8-CFB9-479F-8443-41EA1AFB5E50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390775"/>
            <ns1:ext cx="52959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模型适配与验证</ns1:t>
            </ns1:r>
          </ns1:p>
        </ns0:txBody>
      </ns0:sp>
      <ns0:sp>
        <ns0:nvSpPr>
          <ns0:cNvPr id="25" name="">
            <ns1:extLst>
              <ns1:ext uri="{FF2B5EF4-FFF2-40B4-BE49-F238E27FC236}">
                <ns2:creationId id="{6D5CA051-5D35-42DB-A6C7-465CDE28C993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752725"/>
            <ns1:ext cx="2590800" cy="523875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7" name="半完成状态：对角黄色区域">
            <ns1:extLst>
              <ns1:ext uri="{FF2B5EF4-FFF2-40B4-BE49-F238E27FC236}">
                <ns2:creationId id="{F0E8F2F5-A6B6-4A64-94EB-DFC7BD5F0ADF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752725"/>
            <ns1:ext cx="2590800" cy="523875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26" name="">
            <ns1:extLst>
              <ns1:ext uri="{FF2B5EF4-FFF2-40B4-BE49-F238E27FC236}">
                <ns2:creationId id="{43BFCE5A-A293-4448-93C6-E6C4B661CC68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2752725"/>
            <ns1:ext cx="2590800" cy="523875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8" name="半完成状态：对角黄色区域">
            <ns1:extLst>
              <ns1:ext uri="{FF2B5EF4-FFF2-40B4-BE49-F238E27FC236}">
                <ns2:creationId id="{B65EC466-9827-4586-8EED-16B19A27A94D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2752725"/>
            <ns1:ext cx="2590800" cy="523875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27" name="">
            <ns1:extLst>
              <ns1:ext uri="{FF2B5EF4-FFF2-40B4-BE49-F238E27FC236}">
                <ns2:creationId id="{E160F245-CC58-4F4A-9307-94D06123E89A}"/>
              </ns1:ext>
            </ns1:extLst>
          </ns0:cNvPr>
          <ns0:cNvSpPr>
            <ns1:spLocks noGrp="1"/>
          </ns0:cNvSpPr>
          <ns0:nvPr/>
        </ns0:nvSpPr>
        <ns0:spPr>
          <ns1:xfrm>
            <ns1:off x="438150" y="278130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具身：VLM / VLA / 策略模型</ns1:t>
            </ns1:r>
          </ns1:p>
        </ns0:txBody>
      </ns0:sp>
      <ns0:sp>
        <ns0:nvSpPr>
          <ns0:cNvPr id="28" name="">
            <ns1:extLst>
              <ns1:ext uri="{FF2B5EF4-FFF2-40B4-BE49-F238E27FC236}">
                <ns2:creationId id="{94E3D4FB-5ABC-45B1-90B1-E1A805463B33}"/>
              </ns1:ext>
            </ns1:extLst>
          </ns0:cNvPr>
          <ns0:cNvSpPr>
            <ns1:spLocks noGrp="1"/>
          </ns0:cNvSpPr>
          <ns0:nvPr/>
        </ns0:nvSpPr>
        <ns0:spPr>
          <ns1:xfrm>
            <ns1:off x="438150" y="302895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多模态理解、动作生成</ns1:t>
            </ns1:r>
          </ns1:p>
        </ns0:txBody>
      </ns0:sp>
      <ns0:sp>
        <ns0:nvSpPr>
          <ns0:cNvPr id="29" name="">
            <ns1:extLst>
              <ns1:ext uri="{FF2B5EF4-FFF2-40B4-BE49-F238E27FC236}">
                <ns2:creationId id="{805E28B3-9116-4112-8A2D-2B8C19D1A297}"/>
              </ns1:ext>
            </ns1:extLst>
          </ns0:cNvPr>
          <ns0:cNvSpPr>
            <ns1:spLocks noGrp="1"/>
          </ns0:cNvSpPr>
          <ns0:nvPr/>
        </ns0:nvSpPr>
        <ns0:spPr>
          <ns1:xfrm>
            <ns1:off x="3143250" y="278130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无人车：感知 / 占据 / 规控</ns1:t>
            </ns1:r>
          </ns1:p>
        </ns0:txBody>
      </ns0:sp>
      <ns0:sp>
        <ns0:nvSpPr>
          <ns0:cNvPr id="30" name="">
            <ns1:extLst>
              <ns1:ext uri="{FF2B5EF4-FFF2-40B4-BE49-F238E27FC236}">
                <ns2:creationId id="{052B535B-E8B4-4B62-A3A9-5A11668A3BFB}"/>
              </ns1:ext>
            </ns1:extLst>
          </ns0:cNvPr>
          <ns0:cNvSpPr>
            <ns1:spLocks noGrp="1"/>
          </ns0:cNvSpPr>
          <ns0:nvPr/>
        </ns0:nvSpPr>
        <ns0:spPr>
          <ns1:xfrm>
            <ns1:off x="3143250" y="302895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检测、BEV、点云与规划</ns1:t>
            </ns1:r>
          </ns1:p>
        </ns0:txBody>
      </ns0:sp>
      <ns0:sp>
        <ns0:nvSpPr>
          <ns0:cNvPr id="31" name="">
            <ns1:extLst>
              <ns1:ext uri="{FF2B5EF4-FFF2-40B4-BE49-F238E27FC236}">
                <ns2:creationId id="{3F901204-712E-447A-B907-83D1F2690103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3543300"/>
            <ns1:ext cx="5524500" cy="1200150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32" name="">
            <ns1:extLst>
              <ns1:ext uri="{FF2B5EF4-FFF2-40B4-BE49-F238E27FC236}">
                <ns2:creationId id="{42AFE61D-358E-438A-9B61-3C9713917A7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3657600"/>
            <ns1:ext cx="2590800" cy="97155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33" name="">
            <ns1:extLst>
              <ns1:ext uri="{FF2B5EF4-FFF2-40B4-BE49-F238E27FC236}">
                <ns2:creationId id="{BBE8FAAF-28E9-4889-BC11-F1DCC4C97CCD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657600"/>
            <ns1:ext cx="2590800" cy="97155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9" name="半完成状态：对角黄色区域">
            <ns1:extLst>
              <ns1:ext uri="{FF2B5EF4-FFF2-40B4-BE49-F238E27FC236}">
                <ns2:creationId id="{8973C8CB-3362-4616-9C34-A4280C2B9735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657600"/>
            <ns1:ext cx="2590800" cy="97155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34" name="">
            <ns1:extLst>
              <ns1:ext uri="{FF2B5EF4-FFF2-40B4-BE49-F238E27FC236}">
                <ns2:creationId id="{40642992-C145-437A-A343-F7FD3A31B382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3705225"/>
            <ns1:ext cx="24574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具身智能推理框架</ns1:t>
            </ns1:r>
          </ns1:p>
        </ns0:txBody>
      </ns0:sp>
      <ns0:sp>
        <ns0:nvSpPr>
          <ns0:cNvPr id="35" name="">
            <ns1:extLst>
              <ns1:ext uri="{FF2B5EF4-FFF2-40B4-BE49-F238E27FC236}">
                <ns2:creationId id="{EC2DE2BD-C01C-4D74-97CF-4DE07D5E1975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4048125"/>
            <ns1:ext cx="245745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多模态接入 · 动作分块</ns1:t>
            </ns1:r>
          </ns1:p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异构调度 · 低时延执行</ns1:t>
            </ns1:r>
          </ns1:p>
        </ns0:txBody>
      </ns0:sp>
      <ns0:sp>
        <ns0:nvSpPr>
          <ns0:cNvPr id="36" name="">
            <ns1:extLst>
              <ns1:ext uri="{FF2B5EF4-FFF2-40B4-BE49-F238E27FC236}">
                <ns2:creationId id="{5742A96B-0893-4175-A37E-01A2363C8E11}"/>
              </ns1:ext>
            </ns1:extLst>
          </ns0:cNvPr>
          <ns0:cNvSpPr>
            <ns1:spLocks noGrp="1"/>
          </ns0:cNvSpPr>
          <ns0:nvPr/>
        </ns0:nvSpPr>
        <ns0:spPr>
          <ns1:xfrm>
            <ns1:off x="3152775" y="3705225"/>
            <ns1:ext cx="24574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无人车推理执行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6C681E34-F0EF-45D6-A30E-9662ACFF6B94}"/>
              </ns1:ext>
            </ns1:extLst>
          </ns0:cNvPr>
          <ns0:cNvSpPr>
            <ns1:spLocks noGrp="1"/>
          </ns0:cNvSpPr>
          <ns0:nvPr/>
        </ns0:nvSpPr>
        <ns0:spPr>
          <ns1:xfrm>
            <ns1:off x="3152775" y="4048125"/>
            <ns1:ext cx="245745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前后处理 · 多模型流水线</ns1:t>
            </ns1:r>
          </ns1:p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端到端执行与调优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C5FA305E-C738-46FC-AF72-BFD3A087CFC6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886325"/>
            <ns1:ext cx="5524500" cy="76200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70" name="半完成状态：对角黄色区域">
            <ns1:extLst>
              <ns1:ext uri="{FF2B5EF4-FFF2-40B4-BE49-F238E27FC236}">
                <ns2:creationId id="{7705653B-4B32-4E41-BA2F-0DEB8B3E42F8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886325"/>
            <ns1:ext cx="5524500" cy="7620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39" name="">
            <ns1:extLst>
              <ns1:ext uri="{FF2B5EF4-FFF2-40B4-BE49-F238E27FC236}">
                <ns2:creationId id="{66A6591B-9DAF-4C3D-ABB0-627A75772CF2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4914900"/>
            <ns1:ext cx="52959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统一算子与加速接口</ns1:t>
            </ns1:r>
          </ns1:p>
        </ns0:txBody>
      </ns0:sp>
      <ns0:sp>
        <ns0:nvSpPr>
          <ns0:cNvPr id="40" name="">
            <ns1:extLst>
              <ns1:ext uri="{FF2B5EF4-FFF2-40B4-BE49-F238E27FC236}">
                <ns2:creationId id="{92FA8C8F-BCDA-41C1-A927-7647DB9736F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5238750"/>
            <ns1:ext cx="5295900" cy="3524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注意力 / 扩散计算 · 目标检测 / 点云 / 稀疏计算</ns1:t>
            </ns1:r>
          </ns1:p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Ascend C 算子库 · torch 自定义算子 / aclnn 接口</ns1:t>
            </ns1:r>
          </ns1:p>
        </ns0:txBody>
      </ns0:sp>
      <ns0:sp>
        <ns0:nvSpPr>
          <ns0:cNvPr id="41" name="">
            <ns1:extLst>
              <ns1:ext uri="{FF2B5EF4-FFF2-40B4-BE49-F238E27FC236}">
                <ns2:creationId id="{D6B1F73A-DA96-401F-9532-876215202F00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791200"/>
            <ns1:ext cx="5524500" cy="68580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71" name="半完成状态：对角黄色区域">
            <ns1:extLst>
              <ns1:ext uri="{FF2B5EF4-FFF2-40B4-BE49-F238E27FC236}">
                <ns2:creationId id="{E259FB00-A3E6-4F9B-8388-434DD3582C86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791200"/>
            <ns1:ext cx="5524500" cy="6858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42" name="">
            <ns1:extLst>
              <ns1:ext uri="{FF2B5EF4-FFF2-40B4-BE49-F238E27FC236}">
                <ns2:creationId id="{2C3F7CFD-3CB9-45C7-8958-1A68F55528C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5819775"/>
            <ns1:ext cx="5295900" cy="2571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算子开发与工程使能</ns1:t>
            </ns1:r>
          </ns1:p>
        </ns0:txBody>
      </ns0:sp>
      <ns0:sp>
        <ns0:nvSpPr>
          <ns0:cNvPr id="43" name="">
            <ns1:extLst>
              <ns1:ext uri="{FF2B5EF4-FFF2-40B4-BE49-F238E27FC236}">
                <ns2:creationId id="{9F56A4E7-F473-4C83-88CC-23DC73D062B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6124575"/>
            <ns1:ext cx="5295900" cy="2571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参考实现 · 性能剖析 · 精度定位 · 调优 Skills</ns1:t>
            </ns1:r>
          </ns1:p>
        </ns0:txBody>
      </ns0:sp>
      <ns0:sp>
        <ns0:nvSpPr>
          <ns0:cNvPr id="44" name="">
            <ns1:extLst>
              <ns1:ext uri="{FF2B5EF4-FFF2-40B4-BE49-F238E27FC236}">
                <ns2:creationId id="{0BE14E79-B7EE-4168-B68C-F4CD68F81C71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981075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关键竞争力</ns1:t>
            </ns1:r>
          </ns1:p>
        </ns0:txBody>
      </ns0:sp>
      <ns0:sp>
        <ns0:nvSpPr>
          <ns0:cNvPr id="45" name="">
            <ns1:extLst>
              <ns1:ext uri="{FF2B5EF4-FFF2-40B4-BE49-F238E27FC236}">
                <ns2:creationId id="{DFFB74D3-CF56-45AC-BB07-C55F4397CD5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43827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模型适配与性能优化</ns1:t>
            </ns1:r>
          </ns1:p>
        </ns0:txBody>
      </ns0:sp>
      <ns0:sp>
        <ns0:nvSpPr>
          <ns0:cNvPr id="46" name="">
            <ns1:extLst>
              <ns1:ext uri="{FF2B5EF4-FFF2-40B4-BE49-F238E27FC236}">
                <ns2:creationId id="{BCD4CC9D-7847-4F79-B676-B5F40E2252B5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72402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覆盖主流具身与无人车模型，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适配与调优 Agent 化，面向开箱即最优。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37B0A34D-D2D5-438A-8B6E-D64FF908603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2288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低时延感知决策闭环</ns1:t>
            </ns1:r>
          </ns1:p>
        </ns0:txBody>
      </ns0:sp>
      <ns0:sp>
        <ns0:nvSpPr>
          <ns0:cNvPr id="48" name="">
            <ns1:extLst>
              <ns1:ext uri="{FF2B5EF4-FFF2-40B4-BE49-F238E27FC236}">
                <ns2:creationId id="{74A723F8-B510-4BBF-9C2A-9E60694D8AAF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514600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统一具身与自动驾驶推理算子库，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加速端侧感知、决策与动作生成。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93B4D1AD-51EC-448C-8D18-F93D3A6A48C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0194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易用性与伙伴自主迁移</ns1:t>
            </ns1:r>
          </ns1:p>
        </ns0:txBody>
      </ns0:sp>
      <ns0:sp>
        <ns0:nvSpPr>
          <ns0:cNvPr id="50" name="">
            <ns1:extLst>
              <ns1:ext uri="{FF2B5EF4-FFF2-40B4-BE49-F238E27FC236}">
                <ns2:creationId id="{8198AC9C-0540-4EDF-A353-D0301D25D2E4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30517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提供标准流程、Skills 与最佳实践，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支持伙伴自主高效迁移新模型。</ns1:t>
            </ns1:r>
          </ns1:p>
        </ns0:txBody>
      </ns0:sp>
      <ns0:sp>
        <ns0:nvSpPr>
          <ns0:cNvPr id="51" name="">
            <ns1:extLst>
              <ns1:ext uri="{FF2B5EF4-FFF2-40B4-BE49-F238E27FC236}">
                <ns2:creationId id="{7073F4B2-5885-453D-8BD8-CA09D5D8070C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981450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实现策略</ns1:t>
            </ns1:r>
          </ns1:p>
        </ns0:txBody>
      </ns0:sp>
      <ns0:sp>
        <ns0:nvSpPr>
          <ns0:cNvPr id="52" name="">
            <ns1:extLst>
              <ns1:ext uri="{FF2B5EF4-FFF2-40B4-BE49-F238E27FC236}">
                <ns2:creationId id="{13CD2614-F58F-4DF5-9DF0-08F43B40F1D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41960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构建统一推理加速库</ns1:t>
            </ns1:r>
          </ns1:p>
        </ns0:txBody>
      </ns0:sp>
      <ns0:sp>
        <ns0:nvSpPr>
          <ns0:cNvPr id="53" name="">
            <ns1:extLst>
              <ns1:ext uri="{FF2B5EF4-FFF2-40B4-BE49-F238E27FC236}">
                <ns2:creationId id="{00D86CD9-750C-4239-9E17-A6AF96648BBA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69582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归集 ModelZoo 中分散的模型与推理算子，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建立统一代码仓、接口及版本管理。</ns1:t>
            </ns1:r>
          </ns1:p>
        </ns0:txBody>
      </ns0:sp>
      <ns0:sp>
        <ns0:nvSpPr>
          <ns0:cNvPr id="54" name="">
            <ns1:extLst>
              <ns1:ext uri="{FF2B5EF4-FFF2-40B4-BE49-F238E27FC236}">
                <ns2:creationId id="{8A97254F-3113-49FF-8363-DEDBB866EDD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1530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构建可复用加速技术</ns1:t>
            </ns1:r>
          </ns1:p>
        </ns0:txBody>
      </ns0:sp>
      <ns0:sp>
        <ns0:nvSpPr>
          <ns0:cNvPr id="55" name="">
            <ns1:extLst>
              <ns1:ext uri="{FF2B5EF4-FFF2-40B4-BE49-F238E27FC236}">
                <ns2:creationId id="{0BF94A94-928C-448F-8BEE-B654798C088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429250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调研具身推理框架，实测筛选加速技术，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沉淀可复用的调度、缓存与融合组件。</ns1:t>
            </ns1:r>
          </ns1:p>
        </ns0:txBody>
      </ns0:sp>
      <ns0:sp>
        <ns0:nvSpPr>
          <ns0:cNvPr id="56" name="">
            <ns1:extLst>
              <ns1:ext uri="{FF2B5EF4-FFF2-40B4-BE49-F238E27FC236}">
                <ns2:creationId id="{5D7FBE55-411C-4598-85BA-AC4724E0171D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8864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Coding 工程化与自动验证</ns1:t>
            </ns1:r>
          </ns1:p>
        </ns0:txBody>
      </ns0:sp>
      <ns0:sp>
        <ns0:nvSpPr>
          <ns0:cNvPr id="57" name="">
            <ns1:extLst>
              <ns1:ext uri="{FF2B5EF4-FFF2-40B4-BE49-F238E27FC236}">
                <ns2:creationId id="{AFCDAFD4-646C-40FB-BB94-D219E89E724D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616267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将代码模板、测试与性能评测接入 Agent，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贯通代码修改、验证及经验回写。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507BEA1E-BA6B-45C5-8CCB-AE9012273FFC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81775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06</ns1:t>
            </ns1:r>
          </ns1:p>
        </ns0:txBody>
      </ns0:sp>
      <ns0:sp>
        <ns0:nvSpPr>
          <ns0:cNvPr id="61" name="状态色块">
            <ns1:extLst>
              <ns1:ext uri="{FF2B5EF4-FFF2-40B4-BE49-F238E27FC236}">
                <ns2:creationId id="{764AFF75-E61F-4C6F-8F3C-4418731D7C1C}"/>
              </ns1:ext>
            </ns1:extLst>
          </ns0:cNvPr>
          <ns0:cNvSpPr>
            <ns1:spLocks noGrp="1"/>
          </ns0:cNvSpPr>
          <ns0:nvPr/>
        </ns0:nvSpPr>
        <ns0:spPr>
          <ns1:xfrm>
            <ns1:off x="2381250" y="6581775"/>
            <ns1:ext cx="238125" cy="152400"/>
          </ns1:xfrm>
          <ns1:prstGeom prst="rect">
            <ns1:avLst/>
          </ns1:prstGeom>
          <ns1:solidFill>
            <ns1:srgbClr val="FFF1CD"/>
          </ns1:solidFill>
          <ns1:ln w="6350">
            <ns1:solidFill>
              <ns1:srgbClr val="999999"/>
            </ns1:solidFill>
          </ns1:ln>
        </ns0:spPr>
      </ns0:sp>
      <ns0:sp>
        <ns0:nvSpPr>
          <ns0:cNvPr id="62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2657475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已完成</ns1:t>
            </ns1:r>
          </ns1:p>
        </ns0:txBody>
      </ns0:sp>
      <ns0:sp>
        <ns0:nvSpPr>
          <ns0:cNvPr id="63" name="状态色块">
            <ns1:extLst>
              <ns1:ext uri="{FF2B5EF4-FFF2-40B4-BE49-F238E27FC236}">
                <ns2:creationId id="{0FB8D652-4667-4710-8587-92C618FCA885}"/>
              </ns1:ext>
            </ns1:extLst>
          </ns0:cNvPr>
          <ns0:cNvSpPr>
            <ns1:spLocks noGrp="1"/>
          </ns0:cNvSpPr>
          <ns0:nvPr/>
        </ns0:nvSpPr>
        <ns0:spPr>
          <ns1:xfrm>
            <ns1:off x="3400425" y="6581775"/>
            <ns1:ext cx="238125" cy="152400"/>
          </ns1:xfrm>
          <ns1:prstGeom prst="rect">
            <ns1:avLst/>
          </ns1:prstGeom>
          <ns1:solidFill>
            <ns1:srgbClr val="E0EFD4"/>
          </ns1:solidFill>
          <ns1:ln w="6350">
            <ns1:solidFill>
              <ns1:srgbClr val="999999"/>
            </ns1:solidFill>
          </ns1:ln>
        </ns0:spPr>
      </ns0:sp>
      <ns0:sp>
        <ns0:nvSpPr>
          <ns0:cNvPr id="64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3676650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未完成</ns1:t>
            </ns1:r>
          </ns1:p>
        </ns0:txBody>
      </ns0:sp>
      <ns0:sp>
        <ns0:nvSpPr>
          <ns0:cNvPr id="65" name="状态色块">
            <ns1:extLst>
              <ns1:ext uri="{FF2B5EF4-FFF2-40B4-BE49-F238E27FC236}">
                <ns2:creationId id="{E0B7CF13-FD42-4496-B21C-CC1FCFA4010E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6581775"/>
            <ns1:ext cx="238125" cy="152400"/>
          </ns1:xfrm>
          <ns1:prstGeom prst="rect">
            <ns1:avLst/>
          </ns1:prstGeom>
          <ns1:solidFill>
            <ns1:srgbClr val="E0EFD4"/>
          </ns1:solidFill>
          <ns1:ln w="6350">
            <ns1:solidFill>
              <ns1:srgbClr val="999999"/>
            </ns1:solidFill>
          </ns1:ln>
        </ns0:spPr>
      </ns0:sp>
      <ns0:sp>
        <ns0:nvSpPr>
          <ns0:cNvPr id="72" name="半完成状态：对角黄色区域">
            <ns1:extLst>
              <ns1:ext uri="{FF2B5EF4-FFF2-40B4-BE49-F238E27FC236}">
                <ns2:creationId id="{104F507E-F118-4F13-BD4D-534AEDBEA0EA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6581775"/>
            <ns1:ext cx="238125" cy="1524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66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4695825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完成一半</ns1:t>
            </ns1:r>
          </ns1:p>
        </ns0:txBody>
      </ns0:sp>
    </ns0:spTree>
    <ns0:extLst>
      <ns0:ext uri="{BB962C8B-B14F-4D97-AF65-F5344CB8AC3E}">
        <ns3:creationId val="392523969"/>
      </ns0:ext>
    </ns0:extLst>
  </ns0:cSld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6" name="">
            <ns1:extLst>
              <ns1:ext uri="{FF2B5EF4-FFF2-40B4-BE49-F238E27FC236}">
                <ns2:creationId id="{B5524E25-CD1B-409F-9804-9FDD56544676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11430">
            <ns1:solidFill>
              <ns1:srgbClr val="555555"/>
            </ns1:solidFill>
          </ns1:ln>
        </ns0:spPr>
      </ns0:sp>
      <ns0:sp>
        <ns0:nvSpPr>
          <ns0:cNvPr id="2" name="">
            <ns1:extLst>
              <ns1:ext uri="{FF2B5EF4-FFF2-40B4-BE49-F238E27FC236}">
                <ns2:creationId id="{1E418448-9122-48EC-ABBE-FACD5E29D806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高性能推理：vLLM-Ascend 端侧加速与内存优化</ns1:t>
            </ns1:r>
          </ns1:p>
        </ns0:txBody>
      </ns0:sp>
      <ns0:sp>
        <ns0:nvSpPr>
          <ns0:cNvPr id="31" name="">
            <ns1:extLst>
              <ns1:ext uri="{FF2B5EF4-FFF2-40B4-BE49-F238E27FC236}">
                <ns2:creationId id="{454DBEEE-0639-46BD-8F78-DC6A7008B5C2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981075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关键竞争力</ns1:t>
            </ns1:r>
          </ns1:p>
        </ns0:txBody>
      </ns0:sp>
      <ns0:sp>
        <ns0:nvSpPr>
          <ns0:cNvPr id="32" name="">
            <ns1:extLst>
              <ns1:ext uri="{FF2B5EF4-FFF2-40B4-BE49-F238E27FC236}">
                <ns2:creationId id="{491963DE-8339-4CDA-BE98-8B58F693E7FF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43827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高并发推理服务</ns1:t>
            </ns1:r>
          </ns1:p>
        </ns0:txBody>
      </ns0:sp>
      <ns0:sp>
        <ns0:nvSpPr>
          <ns0:cNvPr id="33" name="">
            <ns1:extLst>
              <ns1:ext uri="{FF2B5EF4-FFF2-40B4-BE49-F238E27FC236}">
                <ns2:creationId id="{CB337422-3CC3-4F1F-B12E-81EFE506339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72402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面向多用户与端侧 Agent 负载，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兼顾响应时延与持续并发吞吐。</ns1:t>
            </ns1:r>
          </ns1:p>
        </ns0:txBody>
      </ns0:sp>
      <ns0:sp>
        <ns0:nvSpPr>
          <ns0:cNvPr id="34" name="">
            <ns1:extLst>
              <ns1:ext uri="{FF2B5EF4-FFF2-40B4-BE49-F238E27FC236}">
                <ns2:creationId id="{E89E3938-F5E0-47A5-A799-3F14C33D9E9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2288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大模型高性价比部署</ns1:t>
            </ns1:r>
          </ns1:p>
        </ns0:txBody>
      </ns0:sp>
      <ns0:sp>
        <ns0:nvSpPr>
          <ns0:cNvPr id="35" name="">
            <ns1:extLst>
              <ns1:ext uri="{FF2B5EF4-FFF2-40B4-BE49-F238E27FC236}">
                <ns2:creationId id="{2AF951B8-6300-4F58-9791-2094B57EECDC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514600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发挥 A+K 软硬协同优势，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以量化与分层卸载降低大模型推理成本。</ns1:t>
            </ns1:r>
          </ns1:p>
        </ns0:txBody>
      </ns0:sp>
      <ns0:sp>
        <ns0:nvSpPr>
          <ns0:cNvPr id="36" name="">
            <ns1:extLst>
              <ns1:ext uri="{FF2B5EF4-FFF2-40B4-BE49-F238E27FC236}">
                <ns2:creationId id="{0B38F9EF-0B00-4827-AD21-01A189F4060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0194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长上下文推理能力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FA1440E0-A49A-48ED-AEB5-ACD44702463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30517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支撑 Agent 多轮交互与长文档任务，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在有限内存下提升上下文承载与复用能力。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85568DCE-7067-4879-B82D-C69855C9A672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981450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实现策略</ns1:t>
            </ns1:r>
          </ns1:p>
        </ns0:txBody>
      </ns0:sp>
      <ns0:sp>
        <ns0:nvSpPr>
          <ns0:cNvPr id="39" name="">
            <ns1:extLst>
              <ns1:ext uri="{FF2B5EF4-FFF2-40B4-BE49-F238E27FC236}">
                <ns2:creationId id="{D09C41A1-23B7-4B8A-A34B-0EB8E6EF73E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41960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面向负载的调度优化</ns1:t>
            </ns1:r>
          </ns1:p>
        </ns0:txBody>
      </ns0:sp>
      <ns0:sp>
        <ns0:nvSpPr>
          <ns0:cNvPr id="40" name="">
            <ns1:extLst>
              <ns1:ext uri="{FF2B5EF4-FFF2-40B4-BE49-F238E27FC236}">
                <ns2:creationId id="{E067C3AB-02A8-4105-9AA2-A28C933F54D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69582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基于真实请求优化批处理与执行调度，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结合图模式、投机解码和并行策略提升吞吐。</ns1:t>
            </ns1:r>
          </ns1:p>
        </ns0:txBody>
      </ns0:sp>
      <ns0:sp>
        <ns0:nvSpPr>
          <ns0:cNvPr id="41" name="">
            <ns1:extLst>
              <ns1:ext uri="{FF2B5EF4-FFF2-40B4-BE49-F238E27FC236}">
                <ns2:creationId id="{404894A5-4514-4EDD-BE09-80DDF62DF96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1530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A+K 协同与分层存储</ns1:t>
            </ns1:r>
          </ns1:p>
        </ns0:txBody>
      </ns0:sp>
      <ns0:sp>
        <ns0:nvSpPr>
          <ns0:cNvPr id="42" name="">
            <ns1:extLst>
              <ns1:ext uri="{FF2B5EF4-FFF2-40B4-BE49-F238E27FC236}">
                <ns2:creationId id="{ED9AEB7D-264B-49B9-B711-8DB7E0F9516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429250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协同优化低比特量化、层与专家卸载，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按带宽与容量配置驻留和预取，平衡成本与时延。</ns1:t>
            </ns1:r>
          </ns1:p>
        </ns0:txBody>
      </ns0:sp>
      <ns0:sp>
        <ns0:nvSpPr>
          <ns0:cNvPr id="43" name="">
            <ns1:extLst>
              <ns1:ext uri="{FF2B5EF4-FFF2-40B4-BE49-F238E27FC236}">
                <ns2:creationId id="{4D487538-4701-45A2-99E4-A192122601F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8864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KV Cache 分级管理</ns1:t>
            </ns1:r>
          </ns1:p>
        </ns0:txBody>
      </ns0:sp>
      <ns0:sp>
        <ns0:nvSpPr>
          <ns0:cNvPr id="44" name="">
            <ns1:extLst>
              <ns1:ext uri="{FF2B5EF4-FFF2-40B4-BE49-F238E27FC236}">
                <ns2:creationId id="{7A99F3FF-C23B-4EF2-92CF-9FC5DC96F0F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616267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结合量化压缩、前缀复用与 Host 卸载，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按精度、时延与峰值内存验证长序列收益。</ns1:t>
            </ns1:r>
          </ns1:p>
        </ns0:txBody>
      </ns0:sp>
      <ns0:sp>
        <ns0:nvSpPr>
          <ns0:cNvPr id="45" name="">
            <ns1:extLst>
              <ns1:ext uri="{FF2B5EF4-FFF2-40B4-BE49-F238E27FC236}">
                <ns2:creationId id="{B3CD8C23-9B9A-4141-B6B5-08ACBB4D13B8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81775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07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7E94A9B1-085D-4A44-974E-9CB2AF32593F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990600"/>
            <ns1:ext cx="5524500" cy="590550"/>
          </ns1:xfrm>
          <ns1:prstGeom prst="roundRect">
            <ns1:avLst>
              <ns1:gd name="adj" fmla="val 16129"/>
            </ns1:avLst>
          </ns1:prstGeom>
          <ns1:solidFill>
            <ns1:srgbClr val="F6CED6"/>
          </ns1:solidFill>
          <ns1:ln w="9525">
            <ns1:solidFill>
              <ns1:srgbClr val="777777"/>
            </ns1:solidFill>
          </ns1:ln>
        </ns0:spPr>
      </ns0:sp>
      <ns0:sp>
        <ns0:nvSpPr>
          <ns0:cNvPr id="48" name="">
            <ns1:extLst>
              <ns1:ext uri="{FF2B5EF4-FFF2-40B4-BE49-F238E27FC236}">
                <ns2:creationId id="{89B69E42-0346-42F2-853F-86C6337B6421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1047750"/>
            <ns1:ext cx="5314950" cy="4762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AI 桌面盒子 / AI PC / 边缘推理节点</ns1:t>
            </ns1:r>
          </ns1:p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多用户服务 · Agent / RAG · 本地多模态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F3BC5CE9-FAFD-4960-8301-DFA4C1312858}"/>
              </ns1:ext>
            </ns1:extLst>
          </ns0:cNvPr>
          <ns0:cNvSpPr>
            <ns1:spLocks noGrp="1"/>
          </ns0:cNvSpPr>
          <ns0:nvPr/>
        </ns0:nvSpPr>
        <ns0:spPr>
          <ns1:xfrm>
            <ns1:off x="2809875" y="1600200"/>
            <ns1:ext cx="428625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↑</ns1:t>
            </ns1:r>
          </ns1:p>
        </ns0:txBody>
      </ns0:sp>
      <ns0:sp>
        <ns0:nvSpPr>
          <ns0:cNvPr id="50" name="">
            <ns1:extLst>
              <ns1:ext uri="{FF2B5EF4-FFF2-40B4-BE49-F238E27FC236}">
                <ns2:creationId id="{A8B8A6A3-B220-4A25-AD6F-FCC4041D0F92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838325"/>
            <ns1:ext cx="5524500" cy="3143250"/>
          </ns1:xfrm>
          <ns1:prstGeom prst="roundRect">
            <ns1:avLst>
              <ns1:gd name="adj" fmla="val 3030"/>
            </ns1:avLst>
          </ns1:prstGeom>
          <ns1:solidFill>
            <ns1:srgbClr val="FFFFFF"/>
          </ns1:solidFill>
          <ns1:ln w="9525">
            <ns1:solidFill>
              <ns1:srgbClr val="777777"/>
            </ns1:solidFill>
          </ns1:ln>
        </ns0:spPr>
      </ns0:sp>
      <ns0:sp>
        <ns0:nvSpPr>
          <ns0:cNvPr id="51" name="">
            <ns1:extLst>
              <ns1:ext uri="{FF2B5EF4-FFF2-40B4-BE49-F238E27FC236}">
                <ns2:creationId id="{B8CC1723-09E8-4C8C-BC82-2C6428285E8E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1895475"/>
            <ns1:ext cx="52959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vLLM / vLLM-Ascend</ns1:t>
            </ns1:r>
          </ns1:p>
        </ns0:txBody>
      </ns0:sp>
      <ns0:sp>
        <ns0:nvSpPr>
          <ns0:cNvPr id="52" name="">
            <ns1:extLst>
              <ns1:ext uri="{FF2B5EF4-FFF2-40B4-BE49-F238E27FC236}">
                <ns2:creationId id="{722589D6-9044-4E21-8ADB-B332807F34C4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276475"/>
            <ns1:ext cx="5295900" cy="314325"/>
          </ns1:xfrm>
          <ns1:prstGeom prst="roundRect">
            <ns1:avLst>
              <ns1:gd name="adj" fmla="val 30303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3" name="">
            <ns1:extLst>
              <ns1:ext uri="{FF2B5EF4-FFF2-40B4-BE49-F238E27FC236}">
                <ns2:creationId id="{65A2467A-51CF-47FD-A594-B8B85890272F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2276475"/>
            <ns1:ext cx="5162550" cy="3143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应用接口：API Server / Python API</ns1:t>
            </ns1:r>
          </ns1:p>
        </ns0:txBody>
      </ns0:sp>
      <ns0:sp>
        <ns0:nvSpPr>
          <ns0:cNvPr id="54" name="">
            <ns1:extLst>
              <ns1:ext uri="{FF2B5EF4-FFF2-40B4-BE49-F238E27FC236}">
                <ns2:creationId id="{B0FE73BA-6A84-46C8-957D-A79265E189E2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686050"/>
            <ns1:ext cx="5295900" cy="333375"/>
          </ns1:xfrm>
          <ns1:prstGeom prst="roundRect">
            <ns1:avLst>
              <ns1:gd name="adj" fmla="val 28571"/>
            </ns1:avLst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55" name="">
            <ns1:extLst>
              <ns1:ext uri="{FF2B5EF4-FFF2-40B4-BE49-F238E27FC236}">
                <ns2:creationId id="{56629DD1-D0F8-46A3-BDB2-A928AE6B1C92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2686050"/>
            <ns1:ext cx="51625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调度策略：持续批处理 / 分块 Prefill</ns1:t>
            </ns1:r>
          </ns1:p>
        </ns0:txBody>
      </ns0:sp>
      <ns0:sp>
        <ns0:nvSpPr>
          <ns0:cNvPr id="56" name="">
            <ns1:extLst>
              <ns1:ext uri="{FF2B5EF4-FFF2-40B4-BE49-F238E27FC236}">
                <ns2:creationId id="{155253C7-C01F-4DF0-90FA-10694DCE8824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3124200"/>
            <ns1:ext cx="2590800" cy="1752600"/>
          </ns1:xfrm>
          <ns1:prstGeom prst="roundRect">
            <ns1:avLst>
              <ns1:gd name="adj" fmla="val 5435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7" name="">
            <ns1:extLst>
              <ns1:ext uri="{FF2B5EF4-FFF2-40B4-BE49-F238E27FC236}">
                <ns2:creationId id="{7679DF1D-482F-4374-B29A-FE6B523069F6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124200"/>
            <ns1:ext cx="2590800" cy="1752600"/>
          </ns1:xfrm>
          <ns1:prstGeom prst="roundRect">
            <ns1:avLst>
              <ns1:gd name="adj" fmla="val 5435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8" name="">
            <ns1:extLst>
              <ns1:ext uri="{FF2B5EF4-FFF2-40B4-BE49-F238E27FC236}">
                <ns2:creationId id="{2E2C5836-E208-44C8-9EC0-3ABEF190BE96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171825"/>
            <ns1:ext cx="24384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推理加速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D3D2724E-B136-4F71-9031-6F3C5BDE3EC2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171825"/>
            <ns1:ext cx="24384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内存 / 显存优化</ns1:t>
            </ns1:r>
          </ns1:p>
        </ns0:txBody>
      </ns0:sp>
      <ns0:sp>
        <ns0:nvSpPr>
          <ns0:cNvPr id="60" name="">
            <ns1:extLst>
              <ns1:ext uri="{FF2B5EF4-FFF2-40B4-BE49-F238E27FC236}">
                <ns2:creationId id="{D77D02F2-E193-4668-AAD0-4D57EB8CE4DE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61" name="">
            <ns1:extLst>
              <ns1:ext uri="{FF2B5EF4-FFF2-40B4-BE49-F238E27FC236}">
                <ns2:creationId id="{52695565-BBB0-4508-81BA-A152731FC40A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ACL Graph</ns1:t>
            </ns1:r>
          </ns1:p>
        </ns0:txBody>
      </ns0:sp>
      <ns0:sp>
        <ns0:nvSpPr>
          <ns0:cNvPr id="62" name="">
            <ns1:extLst>
              <ns1:ext uri="{FF2B5EF4-FFF2-40B4-BE49-F238E27FC236}">
                <ns2:creationId id="{CC08E3A4-79CF-46AD-A79E-20058A425077}"/>
              </ns1:ext>
            </ns1:extLst>
          </ns0:cNvPr>
          <ns0:cNvSpPr>
            <ns1:spLocks noGrp="1"/>
          </ns0:cNvSpPr>
          <ns0:nvPr/>
        </ns0:nvSpPr>
        <ns0:spPr>
          <ns1:xfrm>
            <ns1:off x="17145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63" name="">
            <ns1:extLst>
              <ns1:ext uri="{FF2B5EF4-FFF2-40B4-BE49-F238E27FC236}">
                <ns2:creationId id="{EBA8E7CE-A7D9-4B6D-BFF3-096A27D5DF35}"/>
              </ns1:ext>
            </ns1:extLst>
          </ns0:cNvPr>
          <ns0:cNvSpPr>
            <ns1:spLocks noGrp="1"/>
          </ns0:cNvSpPr>
          <ns0:nvPr/>
        </ns0:nvSpPr>
        <ns0:spPr>
          <ns1:xfrm>
            <ns1:off x="17430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Prefix Cache</ns1:t>
            </ns1:r>
          </ns1:p>
        </ns0:txBody>
      </ns0:sp>
      <ns0:sp>
        <ns0:nvSpPr>
          <ns0:cNvPr id="64" name="">
            <ns1:extLst>
              <ns1:ext uri="{FF2B5EF4-FFF2-40B4-BE49-F238E27FC236}">
                <ns2:creationId id="{526BC283-29E2-425C-9992-F0B80382CB5E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790950"/>
            <ns1:ext cx="2438400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投机解码</ns1:t>
            </ns1:r>
          </ns1:p>
        </ns0:txBody>
      </ns0:sp>
      <ns0:sp>
        <ns0:nvSpPr>
          <ns0:cNvPr id="65" name="">
            <ns1:extLst>
              <ns1:ext uri="{FF2B5EF4-FFF2-40B4-BE49-F238E27FC236}">
                <ns2:creationId id="{A2EDF555-E37A-4F62-8E77-A96117F6BC65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66" name="">
            <ns1:extLst>
              <ns1:ext uri="{FF2B5EF4-FFF2-40B4-BE49-F238E27FC236}">
                <ns2:creationId id="{6B08A785-1908-462D-9018-AF459F045A20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DSpark</ns1:t>
            </ns1:r>
          </ns1:p>
        </ns0:txBody>
      </ns0:sp>
      <ns0:sp>
        <ns0:nvSpPr>
          <ns0:cNvPr id="67" name="">
            <ns1:extLst>
              <ns1:ext uri="{FF2B5EF4-FFF2-40B4-BE49-F238E27FC236}">
                <ns2:creationId id="{CE14B6A2-329A-4FE7-80DB-26513D652E66}"/>
              </ns1:ext>
            </ns1:extLst>
          </ns0:cNvPr>
          <ns0:cNvSpPr>
            <ns1:spLocks noGrp="1"/>
          </ns0:cNvSpPr>
          <ns0:nvPr/>
        </ns0:nvSpPr>
        <ns0:spPr>
          <ns1:xfrm>
            <ns1:off x="1076325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68" name="">
            <ns1:extLst>
              <ns1:ext uri="{FF2B5EF4-FFF2-40B4-BE49-F238E27FC236}">
                <ns2:creationId id="{470329C6-CDC8-4AE0-B5FB-2E51CDAAB979}"/>
              </ns1:ext>
            </ns1:extLst>
          </ns0:cNvPr>
          <ns0:cNvSpPr>
            <ns1:spLocks noGrp="1"/>
          </ns0:cNvSpPr>
          <ns0:nvPr/>
        </ns0:nvSpPr>
        <ns0:spPr>
          <ns1:xfrm>
            <ns1:off x="1104900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DFlash</ns1:t>
            </ns1:r>
          </ns1:p>
        </ns0:txBody>
      </ns0:sp>
      <ns0:sp>
        <ns0:nvSpPr>
          <ns0:cNvPr id="69" name="">
            <ns1:extLst>
              <ns1:ext uri="{FF2B5EF4-FFF2-40B4-BE49-F238E27FC236}">
                <ns2:creationId id="{61E433D0-6DA0-4DAA-A449-860D4D15D4A5}"/>
              </ns1:ext>
            </ns1:extLst>
          </ns0:cNvPr>
          <ns0:cNvSpPr>
            <ns1:spLocks noGrp="1"/>
          </ns0:cNvSpPr>
          <ns0:nvPr/>
        </ns0:nvSpPr>
        <ns0:spPr>
          <ns1:xfrm>
            <ns1:off x="1695450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70" name="">
            <ns1:extLst>
              <ns1:ext uri="{FF2B5EF4-FFF2-40B4-BE49-F238E27FC236}">
                <ns2:creationId id="{B8538869-6FF3-4B85-9B77-A24D0744AC91}"/>
              </ns1:ext>
            </ns1:extLst>
          </ns0:cNvPr>
          <ns0:cNvSpPr>
            <ns1:spLocks noGrp="1"/>
          </ns0:cNvSpPr>
          <ns0:nvPr/>
        </ns0:nvSpPr>
        <ns0:spPr>
          <ns1:xfrm>
            <ns1:off x="1724025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EAGLE3</ns1:t>
            </ns1:r>
          </ns1:p>
        </ns0:txBody>
      </ns0:sp>
      <ns0:sp>
        <ns0:nvSpPr>
          <ns0:cNvPr id="71" name="">
            <ns1:extLst>
              <ns1:ext uri="{FF2B5EF4-FFF2-40B4-BE49-F238E27FC236}">
                <ns2:creationId id="{6CFB8563-D2FB-4427-A32F-333C0CB306BF}"/>
              </ns1:ext>
            </ns1:extLst>
          </ns0:cNvPr>
          <ns0:cNvSpPr>
            <ns1:spLocks noGrp="1"/>
          </ns0:cNvSpPr>
          <ns0:nvPr/>
        </ns0:nvSpPr>
        <ns0:spPr>
          <ns1:xfrm>
            <ns1:off x="2314575" y="4019550"/>
            <ns1:ext cx="581025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2" name="">
            <ns1:extLst>
              <ns1:ext uri="{FF2B5EF4-FFF2-40B4-BE49-F238E27FC236}">
                <ns2:creationId id="{1886070C-CB2D-4CF4-A26F-8D828D37AAED}"/>
              </ns1:ext>
            </ns1:extLst>
          </ns0:cNvPr>
          <ns0:cNvSpPr>
            <ns1:spLocks noGrp="1"/>
          </ns0:cNvSpPr>
          <ns0:nvPr/>
        </ns0:nvSpPr>
        <ns0:spPr>
          <ns1:xfrm>
            <ns1:off x="2343150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MTP</ns1:t>
            </ns1:r>
          </ns1:p>
        </ns0:txBody>
      </ns0:sp>
      <ns0:sp>
        <ns0:nvSpPr>
          <ns0:cNvPr id="73" name="">
            <ns1:extLst>
              <ns1:ext uri="{FF2B5EF4-FFF2-40B4-BE49-F238E27FC236}">
                <ns2:creationId id="{79094363-23D5-4CB9-808D-9C4783BD3103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305300"/>
            <ns1:ext cx="2438400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并行策略</ns1:t>
            </ns1:r>
          </ns1:p>
        </ns0:txBody>
      </ns0:sp>
      <ns0:sp>
        <ns0:nvSpPr>
          <ns0:cNvPr id="74" name="">
            <ns1:extLst>
              <ns1:ext uri="{FF2B5EF4-FFF2-40B4-BE49-F238E27FC236}">
                <ns2:creationId id="{7F8D755A-04B2-49E7-B8B0-1785C33A713D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552950"/>
            <ns1:ext cx="7620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5" name="">
            <ns1:extLst>
              <ns1:ext uri="{FF2B5EF4-FFF2-40B4-BE49-F238E27FC236}">
                <ns2:creationId id="{E2383EDA-4810-44A1-82B0-6CBA6AEFCADF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TP</ns1:t>
            </ns1:r>
          </ns1:p>
        </ns0:txBody>
      </ns0:sp>
      <ns0:sp>
        <ns0:nvSpPr>
          <ns0:cNvPr id="76" name="">
            <ns1:extLst>
              <ns1:ext uri="{FF2B5EF4-FFF2-40B4-BE49-F238E27FC236}">
                <ns2:creationId id="{400CF098-E408-4A22-866A-043F668F9877}"/>
              </ns1:ext>
            </ns1:extLst>
          </ns0:cNvPr>
          <ns0:cNvSpPr>
            <ns1:spLocks noGrp="1"/>
          </ns0:cNvSpPr>
          <ns0:nvPr/>
        </ns0:nvSpPr>
        <ns0:spPr>
          <ns1:xfrm>
            <ns1:off x="1295400" y="4552950"/>
            <ns1:ext cx="762000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77" name="">
            <ns1:extLst>
              <ns1:ext uri="{FF2B5EF4-FFF2-40B4-BE49-F238E27FC236}">
                <ns2:creationId id="{564A8724-2398-4003-AD47-B525E04DAE91}"/>
              </ns1:ext>
            </ns1:extLst>
          </ns0:cNvPr>
          <ns0:cNvSpPr>
            <ns1:spLocks noGrp="1"/>
          </ns0:cNvSpPr>
          <ns0:nvPr/>
        </ns0:nvSpPr>
        <ns0:spPr>
          <ns1:xfrm>
            <ns1:off x="13239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EP</ns1:t>
            </ns1:r>
          </ns1:p>
        </ns0:txBody>
      </ns0:sp>
      <ns0:sp>
        <ns0:nvSpPr>
          <ns0:cNvPr id="78" name="">
            <ns1:extLst>
              <ns1:ext uri="{FF2B5EF4-FFF2-40B4-BE49-F238E27FC236}">
                <ns2:creationId id="{48AE7AA2-2CC5-40EA-8E0E-C9C6BDAD0366}"/>
              </ns1:ext>
            </ns1:extLst>
          </ns0:cNvPr>
          <ns0:cNvSpPr>
            <ns1:spLocks noGrp="1"/>
          </ns0:cNvSpPr>
          <ns0:nvPr/>
        </ns0:nvSpPr>
        <ns0:spPr>
          <ns1:xfrm>
            <ns1:off x="2133600" y="4552950"/>
            <ns1:ext cx="7620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9" name="">
            <ns1:extLst>
              <ns1:ext uri="{FF2B5EF4-FFF2-40B4-BE49-F238E27FC236}">
                <ns2:creationId id="{3A3207FB-6FFB-4B12-9E1A-EB0F601F960B}"/>
              </ns1:ext>
            </ns1:extLst>
          </ns0:cNvPr>
          <ns0:cNvSpPr>
            <ns1:spLocks noGrp="1"/>
          </ns0:cNvSpPr>
          <ns0:nvPr/>
        </ns0:nvSpPr>
        <ns0:spPr>
          <ns1:xfrm>
            <ns1:off x="21621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PP</ns1:t>
            </ns1:r>
          </ns1:p>
        </ns0:txBody>
      </ns0:sp>
      <ns0:sp>
        <ns0:nvSpPr>
          <ns0:cNvPr id="80" name="">
            <ns1:extLst>
              <ns1:ext uri="{FF2B5EF4-FFF2-40B4-BE49-F238E27FC236}">
                <ns2:creationId id="{46FA47F8-4337-44B5-8D5D-F19215C92932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81" name="">
            <ns1:extLst>
              <ns1:ext uri="{FF2B5EF4-FFF2-40B4-BE49-F238E27FC236}">
                <ns2:creationId id="{D5F62778-F5C6-44AD-9B0F-7883EC9603A1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W4A8</ns1:t>
            </ns1:r>
          </ns1:p>
        </ns0:txBody>
      </ns0:sp>
      <ns0:sp>
        <ns0:nvSpPr>
          <ns0:cNvPr id="82" name="">
            <ns1:extLst>
              <ns1:ext uri="{FF2B5EF4-FFF2-40B4-BE49-F238E27FC236}">
                <ns2:creationId id="{E4C79EA6-4144-45F5-BE7E-77D53EB3C57B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3495675"/>
            <ns1:ext cx="1181100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3" name="">
            <ns1:extLst>
              <ns1:ext uri="{FF2B5EF4-FFF2-40B4-BE49-F238E27FC236}">
                <ns2:creationId id="{06A2B3DC-40D5-4459-9222-F1C3F6768AC9}"/>
              </ns1:ext>
            </ns1:extLst>
          </ns0:cNvPr>
          <ns0:cNvSpPr>
            <ns1:spLocks noGrp="1"/>
          </ns0:cNvSpPr>
          <ns0:nvPr/>
        </ns0:nvSpPr>
        <ns0:spPr>
          <ns1:xfrm>
            <ns1:off x="44481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W4A4</ns1:t>
            </ns1:r>
          </ns1:p>
        </ns0:txBody>
      </ns0:sp>
      <ns0:sp>
        <ns0:nvSpPr>
          <ns0:cNvPr id="84" name="">
            <ns1:extLst>
              <ns1:ext uri="{FF2B5EF4-FFF2-40B4-BE49-F238E27FC236}">
                <ns2:creationId id="{2AFDD7CD-4F82-4E16-8018-38EE3476F093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781425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5" name="">
            <ns1:extLst>
              <ns1:ext uri="{FF2B5EF4-FFF2-40B4-BE49-F238E27FC236}">
                <ns2:creationId id="{8959EE2B-AEF9-4AFF-91BD-28657EF4E37A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3781425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FP4 / FP8</ns1:t>
            </ns1:r>
          </ns1:p>
        </ns0:txBody>
      </ns0:sp>
      <ns0:sp>
        <ns0:nvSpPr>
          <ns0:cNvPr id="86" name="">
            <ns1:extLst>
              <ns1:ext uri="{FF2B5EF4-FFF2-40B4-BE49-F238E27FC236}">
                <ns2:creationId id="{B1E713F8-1B42-4A73-A793-8243BDAE3475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057650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7" name="">
            <ns1:extLst>
              <ns1:ext uri="{FF2B5EF4-FFF2-40B4-BE49-F238E27FC236}">
                <ns2:creationId id="{5AD55729-C825-4B32-9DA8-FBC59FBAFAEB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057650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KV Cache 量化</ns1:t>
            </ns1:r>
          </ns1:p>
        </ns0:txBody>
      </ns0:sp>
      <ns0:sp>
        <ns0:nvSpPr>
          <ns0:cNvPr id="88" name="">
            <ns1:extLst>
              <ns1:ext uri="{FF2B5EF4-FFF2-40B4-BE49-F238E27FC236}">
                <ns2:creationId id="{AB8972F9-2EA6-45F4-8FE9-AACF43F0BFB1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333875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9" name="">
            <ns1:extLst>
              <ns1:ext uri="{FF2B5EF4-FFF2-40B4-BE49-F238E27FC236}">
                <ns2:creationId id="{520D2B95-FD8F-4D37-94F3-1416410000DB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333875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Layer Offload</ns1:t>
            </ns1:r>
          </ns1:p>
        </ns0:txBody>
      </ns0:sp>
      <ns0:sp>
        <ns0:nvSpPr>
          <ns0:cNvPr id="90" name="">
            <ns1:extLst>
              <ns1:ext uri="{FF2B5EF4-FFF2-40B4-BE49-F238E27FC236}">
                <ns2:creationId id="{1885D6B5-D53D-4E5D-BAD0-C3A99DBCA009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610100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91" name="">
            <ns1:extLst>
              <ns1:ext uri="{FF2B5EF4-FFF2-40B4-BE49-F238E27FC236}">
                <ns2:creationId id="{5B2397FC-A934-4D67-8213-1AA7ADD55B01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610100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MoE Offload</ns1:t>
            </ns1:r>
          </ns1:p>
        </ns0:txBody>
      </ns0:sp>
      <ns0:sp>
        <ns0:nvSpPr>
          <ns0:cNvPr id="92" name="">
            <ns1:extLst>
              <ns1:ext uri="{FF2B5EF4-FFF2-40B4-BE49-F238E27FC236}">
                <ns2:creationId id="{F255BED6-EC61-4F4A-A228-22ED1387AA4E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095875"/>
            <ns1:ext cx="5524500" cy="295275"/>
          </ns1:xfrm>
          <ns1:prstGeom prst="roundRect">
            <ns1:avLst>
              <ns1:gd name="adj" fmla="val 32258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3" name="">
            <ns1:extLst>
              <ns1:ext uri="{FF2B5EF4-FFF2-40B4-BE49-F238E27FC236}">
                <ns2:creationId id="{EDA92E1A-DBF6-4604-8B3D-27DFA34AEC5A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095875"/>
            <ns1:ext cx="53149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运行时：PyTorch / torch_npu</ns1:t>
            </ns1:r>
          </ns1:p>
        </ns0:txBody>
      </ns0:sp>
      <ns0:sp>
        <ns0:nvSpPr>
          <ns0:cNvPr id="94" name="">
            <ns1:extLst>
              <ns1:ext uri="{FF2B5EF4-FFF2-40B4-BE49-F238E27FC236}">
                <ns2:creationId id="{DA3EDFE2-3B08-4EBE-890A-6A9705C9BD95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495925"/>
            <ns1:ext cx="5524500" cy="323850"/>
          </ns1:xfrm>
          <ns1:prstGeom prst="roundRect">
            <ns1:avLst>
              <ns1:gd name="adj" fmla="val 29412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5" name="">
            <ns1:extLst>
              <ns1:ext uri="{FF2B5EF4-FFF2-40B4-BE49-F238E27FC236}">
                <ns2:creationId id="{F49EE736-EF45-4B2A-A9EC-F31310DE147E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495925"/>
            <ns1:ext cx="1047750" cy="3238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CANN</ns1:t>
            </ns1:r>
          </ns1:p>
        </ns0:txBody>
      </ns0:sp>
      <ns0:sp>
        <ns0:nvSpPr>
          <ns0:cNvPr id="96" name="">
            <ns1:extLst>
              <ns1:ext uri="{FF2B5EF4-FFF2-40B4-BE49-F238E27FC236}">
                <ns2:creationId id="{DF8E2BE6-7E2C-4EF7-A0E0-F1E9DC98A35C}"/>
              </ns1:ext>
            </ns1:extLst>
          </ns0:cNvPr>
          <ns0:cNvSpPr>
            <ns1:spLocks noGrp="1"/>
          </ns0:cNvSpPr>
          <ns0:nvPr/>
        </ns0:nvSpPr>
        <ns0:spPr>
          <ns1:xfrm>
            <ns1:off x="1552575" y="5543550"/>
            <ns1:ext cx="409575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97" name="">
            <ns1:extLst>
              <ns1:ext uri="{FF2B5EF4-FFF2-40B4-BE49-F238E27FC236}">
                <ns2:creationId id="{4A4F066E-8643-4CF9-8BAC-28EFDF9D3761}"/>
              </ns1:ext>
            </ns1:extLst>
          </ns0:cNvPr>
          <ns0:cNvSpPr>
            <ns1:spLocks noGrp="1"/>
          </ns0:cNvSpPr>
          <ns0:nvPr/>
        </ns0:nvSpPr>
        <ns0:spPr>
          <ns1:xfrm>
            <ns1:off x="1581150" y="5543550"/>
            <ns1:ext cx="40386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融合算子</ns1:t>
            </ns1:r>
          </ns1:p>
        </ns0:txBody>
      </ns0:sp>
      <ns0:sp>
        <ns0:nvSpPr>
          <ns0:cNvPr id="98" name="">
            <ns1:extLst>
              <ns1:ext uri="{FF2B5EF4-FFF2-40B4-BE49-F238E27FC236}">
                <ns2:creationId id="{C01E57FD-ECED-4309-9866-9D0D4A03F4E7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924550"/>
            <ns1:ext cx="5524500" cy="276225"/>
          </ns1:xfrm>
          <ns1:prstGeom prst="roundRect">
            <ns1:avLst>
              <ns1:gd name="adj" fmla="val 34483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9" name="">
            <ns1:extLst>
              <ns1:ext uri="{FF2B5EF4-FFF2-40B4-BE49-F238E27FC236}">
                <ns2:creationId id="{E6D364E6-F15C-44E0-81C1-EED09BACFB77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924550"/>
            <ns1:ext cx="53149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Linux：Ubuntu / openEuler</ns1:t>
            </ns1:r>
          </ns1:p>
        </ns0:txBody>
      </ns0:sp>
      <ns0:sp>
        <ns0:nvSpPr>
          <ns0:cNvPr id="100" name="">
            <ns1:extLst>
              <ns1:ext uri="{FF2B5EF4-FFF2-40B4-BE49-F238E27FC236}">
                <ns2:creationId id="{A62A2497-D006-4CBF-8638-D63F5B3C115D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6305550"/>
            <ns1:ext cx="5524500" cy="276225"/>
          </ns1:xfrm>
          <ns1:prstGeom prst="roundRect">
            <ns1:avLst>
              <ns1:gd name="adj" fmla="val 34483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101" name="">
            <ns1:extLst>
              <ns1:ext uri="{FF2B5EF4-FFF2-40B4-BE49-F238E27FC236}">
                <ns2:creationId id="{C28601A4-33BC-4626-BACF-EDD0E5DEA02D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6305550"/>
            <ns1:ext cx="53149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固件 / 驱动 · 昇腾 NPU（按芯片适配）</ns1:t>
            </ns1:r>
          </ns1:p>
        </ns0:txBody>
      </ns0:sp>
      <ns0:sp>
        <ns0:nvSpPr>
          <ns0:cNvPr id="102" name="">
            <ns1:extLst>
              <ns1:ext uri="{FF2B5EF4-FFF2-40B4-BE49-F238E27FC236}">
                <ns2:creationId id="{DE1B2B44-44AD-4766-AEBB-841F853CA62B}"/>
              </ns1:ext>
            </ns1:extLst>
          </ns0:cNvPr>
          <ns0:cNvSpPr>
            <ns1:spLocks noGrp="1"/>
          </ns0:cNvSpPr>
          <ns0:nvPr/>
        </ns0:nvSpPr>
        <ns0:spPr>
          <ns1:xfrm>
            <ns1:off x="3209925" y="6677025"/>
            <ns1:ext cx="209550" cy="11430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103" name="">
            <ns1:extLst>
              <ns1:ext uri="{FF2B5EF4-FFF2-40B4-BE49-F238E27FC236}">
                <ns2:creationId id="{4DAE2752-539C-4790-AD52-4F01348F7EB4}"/>
              </ns1:ext>
            </ns1:extLst>
          </ns0:cNvPr>
          <ns0:cNvSpPr>
            <ns1:spLocks noGrp="1"/>
          </ns0:cNvSpPr>
          <ns0:nvPr/>
        </ns0:nvSpPr>
        <ns0:spPr>
          <ns1:xfrm>
            <ns1:off x="3467100" y="6629400"/>
            <ns1:ext cx="78105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rPr>
              <ns1:t>已有基础</ns1:t>
            </ns1:r>
          </ns1:p>
        </ns0:txBody>
      </ns0:sp>
      <ns0:sp>
        <ns0:nvSpPr>
          <ns0:cNvPr id="104" name="">
            <ns1:extLst>
              <ns1:ext uri="{FF2B5EF4-FFF2-40B4-BE49-F238E27FC236}">
                <ns2:creationId id="{88D4858F-3CDC-4493-A3A2-C8D8CB85CF50}"/>
              </ns1:ext>
            </ns1:extLst>
          </ns0:cNvPr>
          <ns0:cNvSpPr>
            <ns1:spLocks noGrp="1"/>
          </ns0:cNvSpPr>
          <ns0:nvPr/>
        </ns0:nvSpPr>
        <ns0:spPr>
          <ns1:xfrm>
            <ns1:off x="4410075" y="6677025"/>
            <ns1:ext cx="209550" cy="1143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105" name="">
            <ns1:extLst>
              <ns1:ext uri="{FF2B5EF4-FFF2-40B4-BE49-F238E27FC236}">
                <ns2:creationId id="{1B16329C-08DC-48FE-8E46-1033504268A5}"/>
              </ns1:ext>
            </ns1:extLst>
          </ns0:cNvPr>
          <ns0:cNvSpPr>
            <ns1:spLocks noGrp="1"/>
          </ns0:cNvSpPr>
          <ns0:nvPr/>
        </ns0:nvSpPr>
        <ns0:spPr>
          <ns1:xfrm>
            <ns1:off x="4667250" y="6629400"/>
            <ns1:ext cx="78105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rPr>
              <ns1:t>待完善</ns1:t>
            </ns1:r>
          </ns1:p>
        </ns0:txBody>
      </ns0:sp>
    </ns0:spTree>
    <ns0:extLst>
      <ns0:ext uri="{BB962C8B-B14F-4D97-AF65-F5344CB8AC3E}">
        <ns3:creationId val="1885384665"/>
      </ns0:ext>
    </ns0:extLst>
  </ns0:cSld>
</ns0:sld>
</file>

<file path=ppt/slides/slide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">
            <ns1:extLst>
              <ns1:ext uri="{FF2B5EF4-FFF2-40B4-BE49-F238E27FC236}">
                <ns2:creationId id="{B94DD75F-7D04-4E92-8528-F74B3A8F086A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366DC9A8-C4F5-4040-89F1-6E4250C26B1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待讨论的问题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BA1A315F-B920-4F6E-B004-B19DBD9E0607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147637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01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A9997C1C-538B-451A-BA63-8DCF24960C8A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145732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Windows 生态是否作为重点发力方向？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BECC6AE6-AEEA-4474-88F2-C622689DB857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204787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从底层 HDK 到上层推理应用，需要全流程适配，工作量较大。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9AB27499-62F3-4689-AA86-5B2363B1326C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13372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02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EED081B5-35F4-4440-8209-CBC46DCBA416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311467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端侧推理框架该如何选择？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377AB3C6-73E3-4FA4-A32E-2C827F2C74EE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370522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如何结合场景需求、资源约束与生态成熟度确定选型？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93F16901-E462-4873-ADCC-9B6B4B0FBCF3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79107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03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10DBA52-82BA-4169-8F33-AF6FBA8A3249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477202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具身智能推理框架是否会成为未来发展重点？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DA537EA7-E75F-4DE7-B281-94C4EC23565B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536257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团队应在什么阶段投入，优先建设哪些能力？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0DF40CB5-F001-4D30-8628-15F0698701DE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08</ns1:t>
            </ns1:r>
          </ns1:p>
        </ns0:txBody>
      </ns0:sp>
    </ns0:spTree>
    <ns0:extLst>
      <ns0:ext uri="{BB962C8B-B14F-4D97-AF65-F5344CB8AC3E}">
        <ns3:creationId val="214461096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2026-10-22T11:38:09.0810000Z</dcterms:created>
  <dcterms:modified xsi:type="dcterms:W3CDTF">2026-10-22T11:38:09.0810000Z</dcterms:modified>
</coreProperties>
</file>